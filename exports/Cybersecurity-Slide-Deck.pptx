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statistics ground the course in reality. Students need to understand they're entering a profession with genuine demand and genuine stakes.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the full roadmap. The lab platforms are a differentiator — name them all. Students should feel they're getting access to the same tools as professionals.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map shows students the full arc of the course. By the end of the Beginner level, they can think like a defender. By Intermediate, they can think like an attacker. Advanced adds real-world attack and malware analysis. Professional prepares them for enterprise roles with governance and forensics responsibilities.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ATM story before this slide. The story sets the tone: social engineering is the most common attack vector. Technology is not always the attacker's tool.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tension is the teaching moment. Ask students to identify where they'd place a hospital's patient records system on the triad. Then a military communications system. Then a public news website. Same principles, different balance points.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reference map. Every tool you teach in this course lives in one of these three columns. When students ask 'why are we learning X?' — point them here. SHA-256? Integrity. TLS? Confidentiality. Cloudflare? Availability. Return to this slide at the end of Module 1 and again at the end of the course.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SilverTerrier reference is important. Nigeria is mentioned in international threat intelligence as the origin of sophisticated BEC operations. Acknowledging this honestly is part of building a counterforce.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cannot be rushed. State clearly: every technique taught in this course requires authorisation before use. The legal consequences are real and have been applied in Nigeria.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market rates. The OSCP certification (Offensive Security Certified Professional) is the most respected penetration testing certification globally. It's difficult — a 24-hour practical exam. Worth pursuing after this programme.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Networking is not optional background. It is the foundation of understanding every attack. If a student says "I don't need to know networking," the response is: "Tell me how to defend a network you don't understand."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three lines are the key insight. Traditional corporate security focuses on network-layer firewalls. Modern attackers live at the application layer. This mismatch is why breaches happen through "secured" networks.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those concepts where the diagram immediately makes sense. Draw the SYN flood on the board — show the server drowning in half-open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students pull out their phones and check if they're using any HTTP websites for sensitive activities (banking, email). Look at the lock icon. No lock = no protection.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who have never used a command line often feel anxious. Reassure them: Linux commands are logical and consistent. Within 2 sessions they'll feel fluent in the basics.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 this as a reference card. Students should have it in front of them during every Linux lab. After 10 hours of practice, they won't need it — it will be instinct.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777 rule is non-negotiable. Any file or directory with 777 permissions should be investigated — it means anyone on the system can modify it. This is a common misconfiguration left by developers.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Cryptography intimidates students. Start by telling them: you don't need to understand the math. You need to understand what it does, when to use it, and what breaks it. The math is the computer's job.</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hybrid approach is the key insight. No real-world system uses only asymmetric encryption for data — it's too slow. They use it to establish a shared key, then switch to AES.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"slow by design" point for bcrypt is crucial. bcrypt is intentionally slow to compute — 100ms instead of microseconds. For a legitimate user, unnoticeable. For an attacker trying millions of passwords — makes brute force take millennia.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magic is step 4. Both sides derive the same key without ever sending it over the network. This is Diffie-Hellman key exchange. Anyone watching sees the exchange but cannot determine the shared secret from what they observed.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 just a firewall" message is important for students who come in thinking firewalls = security. The lesson: firewalls are layer 3/4 controls. Most attacks now happen at layer 7 (application). You need multiple layers.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DMZ concept is what most students haven't seen before. Draw this three-zone model on the board. "If the web server gets hacked — and it probably will eventually — the attacker is still in the DMZ, not in your database."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creates the most silence in the room. Students realise that "securing" their systems while leaving them exposed on Shodan is not security at all. Run a Shodan search live if possible — show real (not staged) results.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tone immediately: this is professional work, not "hacking for fun." Penetration testing is billable, structured, documented, and legally protected — but ONLY with written authorisation.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time on Phase 1. Students want to jump to Phase 5 (exploitation). Force them to understand: a penetration test without proper documentation and authorisation is simply a cyberattack. The paper is what makes it legal.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80% statistic gets attention. Most students think attacks happen at the network level. Most attacks happen at the application level — in code that developers wrote.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 being #1 (Broken Access Control) is the key insight — it moved up from #5. Access control failures are everywhere, in every application. Students will test for this first in every web application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here. Open WebGoat or DVWA and actually exploit it. Let students see the admin dashboard appear after typing `admin'--`. The visual impact of breaking a real (lab) application is unforgettable.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installed Log4j? The answer is: developers, by adding one line to a build file. You are responsible for the security of every line of code your application runs — including the code you didn't write. SCA tools are now a mandatory part of any professional development pipeline."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slide, tell students: "I'm going to teach you how attackers manipulate people. This is so you can recognise it, defend against it, and train others to defend against it. NOT so you can use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identify which principles are used in the ATM scam from Module 1. (Authority: bank uniform. Urgency: machine is "having an issue." Liking: friendly demeanour.) All three in one 2-minute interaction.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student should do this after class: call their telecom and ask for a SIM lock. This is a 5-minute action that significantly raises the bar for SIM swap attacks.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briefing before ANY lab: "We NEVER execute malware samples on our primary machines. Isolated VM, snapshot before, revert after. This is non-negotiable."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WhatsApp delivery vector for RATs is specifically Nigerian context. Many students have received "bank update APK" files or similar on WhatsApp. These are RATs. Never install APKs from WhatsApp.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ANY.RUN shows malware behaviour, have students map each observed behaviour to an ATT&amp;CK technique. This bridges dynamic analysis to threat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is where the emotional tone of the course shifts. Students have been learning offensive techniques. Now they learn what it feels like to be the defender when something is actively happening. The tabletop exercise is the centrepiece.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197-day statistic should be met with disbelief. Explain: organisations aren't blind — they're overwhelmed. Alert fatigue. Too many events, too few analysts to investigate. SIEM tuning and proper triage is what closes this gap.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"don't turn off" rule for incident response surprises students. Explain: RAM contains running processes, network connections, encryption keys, and evidence that vanishes the moment power is cut. Memory forensics may be the only way to recover ransomware decryption keys.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is where most new Nigerian tech infrastructure lives. AWS Lagos region (af-south-1) opened in 2021 — Nigerian organisations have a nearby option. Understanding cloud security is increasingly a mandatory skill for any security professional.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actual AWS shared responsibility model diagram (available on aws.amazon.com). The concept of responsibility "shifting" based on service type (IaaS vs PaaS vs SaaS) is important for advanced students.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Nigerian case study brings this home. Ask: "How many of you have heard of a company's data being 'hacked' in Nigeria?" Most hands go up. "Almost none of those were infrastructure hacks. Almost all were misconfigurations." Cloud security is largely about doing the basics right.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module reframes everything. Technical skills enable security. Business skills make security effective. Students who can translate security into business language — risk, cost, regulation — will rise to leadership.</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CBN 24-hour incident reporting requirement catches students off guard. "For banks, you have 24 hours to report to CBN — which is faster than the NDPA 72-hour requirement to the NDPC. If you work in banking, CBN reporting takes priority."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this translation skill. Take a technical finding and restate it in business terms. Students should do this for every major finding in their capstone reports.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 Trust is not a vendor product you can buy. Every major security vendor has a "Zero Trust platform" they want to sell you. The reality: it's an architectural philosophy that requires changes across identity, network, application, and data layers.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Nigeria is particularly vulnerable to AI-generated deepfake attacks because of the prevalence of voice-call-based fraud (vishing). AI can clone a CEO's voice from 5 seconds of audio. This is not hypothetical — it has happened to companies globally.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students to their path based on career goal. Want SOC analyst? Option B is perfect practice. Want to be a penetration tester? Option A. Career changer from training/HR? Option 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case studies are the most practical section. They test whether students can apply knowledge, not just recall it. The Nigerian bank breach case will require students to reference NDPA 2023 requirements — reinforcing the legal context throughout.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for prospective student info sessions. The blockchain verification angle is genuinely unique — position it as the key differentiator.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soft skills round is where many technical students fail. Practice explaining security concepts in plain language. The Feynman technique: if you can't explain it simply, you don't understand it well enough.</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Kali Linux is the key. Download it. Install it in VirtualBox. This is your professional environment. Every security professional has Kali available somewhere. Getting comfortable with it takes practice — start day 1.</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Portfolio over CV. Employers want proof, not promises. A GitHub with 5 well-documented security lab write-ups demonstrates more than a CV listing "knowledge of cybersecurity."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this slide breathe. Pause after it. This is the motivational close. Students should feel the weight and privilege of what they're entering. The emotional close matters as much as the technical content.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mentoring point is important. The Nigerian security community is small. Everyone knows everyone. Being known as someone who helps others grow accelerates your own career more than almost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every session with this. The WhatsApp link is the call to action. For existing students: ask them to share this with anyone who asks about getting into cybersecurity.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"Stay dangerous" — dangerous to attackers, through skill and knowledge. Leave students with this three-part code: curious (never stop learning), ethical (authorisation first), dangerous (competent enough to make a difference).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
            <a:ext cx="4297680" cy="6793992"/>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97680" y="64008"/>
            <a:ext cx="54864" cy="679399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365760"/>
            <a:ext cx="3840480" cy="502920"/>
          </a:xfrm>
          <a:prstGeom prst="rect">
            <a:avLst/>
          </a:prstGeom>
          <a:noFill/>
        </p:spPr>
        <p:txBody>
          <a:bodyPr wrap="square">
            <a:spAutoFit/>
          </a:bodyPr>
          <a:lstStyle/>
          <a:p>
            <a:pPr algn="l"/>
            <a:r>
              <a:rPr sz="2800" b="1" i="0">
                <a:solidFill>
                  <a:srgbClr val="E74C3C"/>
                </a:solidFill>
                <a:latin typeface="Calibri"/>
              </a:rPr>
              <a:t>MetaBridge</a:t>
            </a:r>
          </a:p>
        </p:txBody>
      </p:sp>
      <p:sp>
        <p:nvSpPr>
          <p:cNvPr id="6" name="TextBox 5"/>
          <p:cNvSpPr txBox="1"/>
          <p:nvPr/>
        </p:nvSpPr>
        <p:spPr>
          <a:xfrm>
            <a:off x="274320" y="822960"/>
            <a:ext cx="3840480" cy="457200"/>
          </a:xfrm>
          <a:prstGeom prst="rect">
            <a:avLst/>
          </a:prstGeom>
          <a:noFill/>
        </p:spPr>
        <p:txBody>
          <a:bodyPr wrap="square">
            <a:spAutoFit/>
          </a:bodyPr>
          <a:lstStyle/>
          <a:p>
            <a:pPr algn="l"/>
            <a:r>
              <a:rPr sz="2800" b="0" i="0">
                <a:solidFill>
                  <a:srgbClr val="FFFFFF"/>
                </a:solidFill>
                <a:latin typeface="Calibri"/>
              </a:rPr>
              <a:t>Academy</a:t>
            </a:r>
          </a:p>
        </p:txBody>
      </p:sp>
      <p:sp>
        <p:nvSpPr>
          <p:cNvPr id="7" name="TextBox 6"/>
          <p:cNvSpPr txBox="1"/>
          <p:nvPr/>
        </p:nvSpPr>
        <p:spPr>
          <a:xfrm>
            <a:off x="274320" y="1828800"/>
            <a:ext cx="3840480" cy="1645920"/>
          </a:xfrm>
          <a:prstGeom prst="rect">
            <a:avLst/>
          </a:prstGeom>
          <a:noFill/>
        </p:spPr>
        <p:txBody>
          <a:bodyPr wrap="square">
            <a:spAutoFit/>
          </a:bodyPr>
          <a:lstStyle/>
          <a:p>
            <a:pPr algn="l"/>
            <a:r>
              <a:rPr sz="2600" b="1" i="0">
                <a:solidFill>
                  <a:srgbClr val="FFFFFF"/>
                </a:solidFill>
                <a:latin typeface="Calibri"/>
              </a:rPr>
              <a:t>Cybersecurity</a:t>
            </a:r>
          </a:p>
        </p:txBody>
      </p:sp>
      <p:sp>
        <p:nvSpPr>
          <p:cNvPr id="8" name="TextBox 7"/>
          <p:cNvSpPr txBox="1"/>
          <p:nvPr/>
        </p:nvSpPr>
        <p:spPr>
          <a:xfrm>
            <a:off x="274320" y="3566160"/>
            <a:ext cx="3840480" cy="822960"/>
          </a:xfrm>
          <a:prstGeom prst="rect">
            <a:avLst/>
          </a:prstGeom>
          <a:noFill/>
        </p:spPr>
        <p:txBody>
          <a:bodyPr wrap="square">
            <a:spAutoFit/>
          </a:bodyPr>
          <a:lstStyle/>
          <a:p>
            <a:pPr algn="l"/>
            <a:r>
              <a:rPr sz="1400" b="0" i="0">
                <a:solidFill>
                  <a:srgbClr val="8BA5BE"/>
                </a:solidFill>
                <a:latin typeface="Calibri"/>
              </a:rPr>
              <a:t>Comprehensive Course
Slide Deck</a:t>
            </a:r>
          </a:p>
        </p:txBody>
      </p:sp>
      <p:sp>
        <p:nvSpPr>
          <p:cNvPr id="9" name="Rectangle 8"/>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6565392"/>
            <a:ext cx="7562088" cy="292608"/>
          </a:xfrm>
          <a:prstGeom prst="rect">
            <a:avLst/>
          </a:prstGeom>
          <a:noFill/>
        </p:spPr>
        <p:txBody>
          <a:bodyPr wrap="square">
            <a:spAutoFit/>
          </a:bodyPr>
          <a:lstStyle/>
          <a:p>
            <a:pPr algn="ctr"/>
            <a:r>
              <a:rPr sz="800" b="0" i="0">
                <a:solidFill>
                  <a:srgbClr val="8BA5BE"/>
                </a:solidFill>
                <a:latin typeface="Calibri"/>
              </a:rPr>
              <a:t>Cybersecurity  |  Data Analytics  |  AI &amp; Prompt Engineering  |  Blockchain &amp; Cryptocurrency</a:t>
            </a:r>
          </a:p>
        </p:txBody>
      </p:sp>
      <p:sp>
        <p:nvSpPr>
          <p:cNvPr id="11" name="Rectangle 10"/>
          <p:cNvSpPr/>
          <p:nvPr/>
        </p:nvSpPr>
        <p:spPr>
          <a:xfrm>
            <a:off x="4718304" y="1097280"/>
            <a:ext cx="3415284" cy="141732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18304" y="1097280"/>
            <a:ext cx="50292" cy="14173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55464" y="1234440"/>
            <a:ext cx="3232404" cy="640080"/>
          </a:xfrm>
          <a:prstGeom prst="rect">
            <a:avLst/>
          </a:prstGeom>
          <a:noFill/>
        </p:spPr>
        <p:txBody>
          <a:bodyPr wrap="square">
            <a:spAutoFit/>
          </a:bodyPr>
          <a:lstStyle/>
          <a:p>
            <a:pPr algn="l"/>
            <a:r>
              <a:rPr sz="2000" b="1" i="0">
                <a:solidFill>
                  <a:srgbClr val="E74C3C"/>
                </a:solidFill>
                <a:latin typeface="Calibri"/>
              </a:rPr>
              <a:t>Cybersecurity</a:t>
            </a:r>
          </a:p>
        </p:txBody>
      </p:sp>
      <p:sp>
        <p:nvSpPr>
          <p:cNvPr id="14" name="TextBox 13"/>
          <p:cNvSpPr txBox="1"/>
          <p:nvPr/>
        </p:nvSpPr>
        <p:spPr>
          <a:xfrm>
            <a:off x="4855464" y="1874520"/>
            <a:ext cx="3232404" cy="457200"/>
          </a:xfrm>
          <a:prstGeom prst="rect">
            <a:avLst/>
          </a:prstGeom>
          <a:noFill/>
        </p:spPr>
        <p:txBody>
          <a:bodyPr wrap="square">
            <a:spAutoFit/>
          </a:bodyPr>
          <a:lstStyle/>
          <a:p>
            <a:pPr algn="l"/>
            <a:r>
              <a:rPr sz="1100" b="0" i="0">
                <a:solidFill>
                  <a:srgbClr val="F0F4F8"/>
                </a:solidFill>
                <a:latin typeface="Calibri"/>
              </a:rPr>
              <a:t>Course</a:t>
            </a:r>
          </a:p>
        </p:txBody>
      </p:sp>
      <p:sp>
        <p:nvSpPr>
          <p:cNvPr id="15" name="Rectangle 14"/>
          <p:cNvSpPr/>
          <p:nvPr/>
        </p:nvSpPr>
        <p:spPr>
          <a:xfrm>
            <a:off x="8407908" y="1097280"/>
            <a:ext cx="3415284" cy="141732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07908" y="1097280"/>
            <a:ext cx="50292" cy="14173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45068" y="1234440"/>
            <a:ext cx="3232404" cy="640080"/>
          </a:xfrm>
          <a:prstGeom prst="rect">
            <a:avLst/>
          </a:prstGeom>
          <a:noFill/>
        </p:spPr>
        <p:txBody>
          <a:bodyPr wrap="square">
            <a:spAutoFit/>
          </a:bodyPr>
          <a:lstStyle/>
          <a:p>
            <a:pPr algn="l"/>
            <a:r>
              <a:rPr sz="2000" b="1" i="0">
                <a:solidFill>
                  <a:srgbClr val="F5A623"/>
                </a:solidFill>
                <a:latin typeface="Calibri"/>
              </a:rPr>
              <a:t>12 Modules</a:t>
            </a:r>
          </a:p>
        </p:txBody>
      </p:sp>
      <p:sp>
        <p:nvSpPr>
          <p:cNvPr id="18" name="TextBox 17"/>
          <p:cNvSpPr txBox="1"/>
          <p:nvPr/>
        </p:nvSpPr>
        <p:spPr>
          <a:xfrm>
            <a:off x="8545068" y="1874520"/>
            <a:ext cx="3232404" cy="457200"/>
          </a:xfrm>
          <a:prstGeom prst="rect">
            <a:avLst/>
          </a:prstGeom>
          <a:noFill/>
        </p:spPr>
        <p:txBody>
          <a:bodyPr wrap="square">
            <a:spAutoFit/>
          </a:bodyPr>
          <a:lstStyle/>
          <a:p>
            <a:pPr algn="l"/>
            <a:r>
              <a:rPr sz="1100" b="0" i="0">
                <a:solidFill>
                  <a:srgbClr val="F0F4F8"/>
                </a:solidFill>
                <a:latin typeface="Calibri"/>
              </a:rPr>
              <a:t>of content</a:t>
            </a:r>
          </a:p>
        </p:txBody>
      </p:sp>
      <p:sp>
        <p:nvSpPr>
          <p:cNvPr id="19" name="Rectangle 18"/>
          <p:cNvSpPr/>
          <p:nvPr/>
        </p:nvSpPr>
        <p:spPr>
          <a:xfrm>
            <a:off x="4718304" y="2743200"/>
            <a:ext cx="3415284" cy="141732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18304" y="2743200"/>
            <a:ext cx="50292" cy="141732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55464" y="2880360"/>
            <a:ext cx="3232404" cy="640080"/>
          </a:xfrm>
          <a:prstGeom prst="rect">
            <a:avLst/>
          </a:prstGeom>
          <a:noFill/>
        </p:spPr>
        <p:txBody>
          <a:bodyPr wrap="square">
            <a:spAutoFit/>
          </a:bodyPr>
          <a:lstStyle/>
          <a:p>
            <a:pPr algn="l"/>
            <a:r>
              <a:rPr sz="2000" b="1" i="0">
                <a:solidFill>
                  <a:srgbClr val="00B894"/>
                </a:solidFill>
                <a:latin typeface="Calibri"/>
              </a:rPr>
              <a:t>72+ Hours</a:t>
            </a:r>
          </a:p>
        </p:txBody>
      </p:sp>
      <p:sp>
        <p:nvSpPr>
          <p:cNvPr id="22" name="TextBox 21"/>
          <p:cNvSpPr txBox="1"/>
          <p:nvPr/>
        </p:nvSpPr>
        <p:spPr>
          <a:xfrm>
            <a:off x="4855464" y="3520440"/>
            <a:ext cx="3232404" cy="457200"/>
          </a:xfrm>
          <a:prstGeom prst="rect">
            <a:avLst/>
          </a:prstGeom>
          <a:noFill/>
        </p:spPr>
        <p:txBody>
          <a:bodyPr wrap="square">
            <a:spAutoFit/>
          </a:bodyPr>
          <a:lstStyle/>
          <a:p>
            <a:pPr algn="l"/>
            <a:r>
              <a:rPr sz="1100" b="0" i="0">
                <a:solidFill>
                  <a:srgbClr val="F0F4F8"/>
                </a:solidFill>
                <a:latin typeface="Calibri"/>
              </a:rPr>
              <a:t>of training</a:t>
            </a:r>
          </a:p>
        </p:txBody>
      </p:sp>
      <p:sp>
        <p:nvSpPr>
          <p:cNvPr id="23" name="Rectangle 22"/>
          <p:cNvSpPr/>
          <p:nvPr/>
        </p:nvSpPr>
        <p:spPr>
          <a:xfrm>
            <a:off x="8407908" y="2743200"/>
            <a:ext cx="3415284" cy="141732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07908" y="2743200"/>
            <a:ext cx="50292" cy="1417320"/>
          </a:xfrm>
          <a:prstGeom prst="rect">
            <a:avLst/>
          </a:prstGeom>
          <a:solidFill>
            <a:srgbClr val="8BA5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45068" y="2880360"/>
            <a:ext cx="3232404" cy="640080"/>
          </a:xfrm>
          <a:prstGeom prst="rect">
            <a:avLst/>
          </a:prstGeom>
          <a:noFill/>
        </p:spPr>
        <p:txBody>
          <a:bodyPr wrap="square">
            <a:spAutoFit/>
          </a:bodyPr>
          <a:lstStyle/>
          <a:p>
            <a:pPr algn="l"/>
            <a:r>
              <a:rPr sz="2000" b="1" i="0">
                <a:solidFill>
                  <a:srgbClr val="8BA5BE"/>
                </a:solidFill>
                <a:latin typeface="Calibri"/>
              </a:rPr>
              <a:t>Blockchain</a:t>
            </a:r>
          </a:p>
        </p:txBody>
      </p:sp>
      <p:sp>
        <p:nvSpPr>
          <p:cNvPr id="26" name="TextBox 25"/>
          <p:cNvSpPr txBox="1"/>
          <p:nvPr/>
        </p:nvSpPr>
        <p:spPr>
          <a:xfrm>
            <a:off x="8545068" y="3520440"/>
            <a:ext cx="3232404" cy="457200"/>
          </a:xfrm>
          <a:prstGeom prst="rect">
            <a:avLst/>
          </a:prstGeom>
          <a:noFill/>
        </p:spPr>
        <p:txBody>
          <a:bodyPr wrap="square">
            <a:spAutoFit/>
          </a:bodyPr>
          <a:lstStyle/>
          <a:p>
            <a:pPr algn="l"/>
            <a:r>
              <a:rPr sz="1100" b="0" i="0">
                <a:solidFill>
                  <a:srgbClr val="F0F4F8"/>
                </a:solidFill>
                <a:latin typeface="Calibri"/>
              </a:rPr>
              <a:t>Certificate</a:t>
            </a:r>
          </a:p>
        </p:txBody>
      </p:sp>
      <p:sp>
        <p:nvSpPr>
          <p:cNvPr id="27" name="Rectangle 26"/>
          <p:cNvSpPr/>
          <p:nvPr/>
        </p:nvSpPr>
        <p:spPr>
          <a:xfrm>
            <a:off x="4352544" y="6062472"/>
            <a:ext cx="7836408" cy="45720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35424" y="6062472"/>
            <a:ext cx="7470648" cy="457200"/>
          </a:xfrm>
          <a:prstGeom prst="rect">
            <a:avLst/>
          </a:prstGeom>
          <a:noFill/>
        </p:spPr>
        <p:txBody>
          <a:bodyPr wrap="square">
            <a:spAutoFit/>
          </a:bodyPr>
          <a:lstStyle/>
          <a:p>
            <a:pPr algn="ctr"/>
            <a:r>
              <a:rPr sz="950" b="0" i="0">
                <a:solidFill>
                  <a:srgbClr val="8BA5BE"/>
                </a:solidFill>
                <a:latin typeface="Calibri"/>
              </a:rPr>
              <a:t>12 Modules  ·  72+ Hours  ·  Hands-On Labs  ·  CompTIA S+ Aligned  ·  Blockchain Certificate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a:t>
            </a:r>
          </a:p>
        </p:txBody>
      </p:sp>
      <p:sp>
        <p:nvSpPr>
          <p:cNvPr id="8" name="TextBox 7"/>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9" name="TextBox 8"/>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Map of Nigeria with red threat vectors radiating outward and inward</a:t>
            </a:r>
          </a:p>
        </p:txBody>
      </p:sp>
      <p:sp>
        <p:nvSpPr>
          <p:cNvPr id="10" name="TextBox 9"/>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NIGERIAN CYBER THREAT REALITY</a:t>
            </a:r>
          </a:p>
        </p:txBody>
      </p:sp>
      <p:sp>
        <p:nvSpPr>
          <p:cNvPr id="11" name="Rectangle 10"/>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1207008"/>
            <a:ext cx="7424928" cy="5266944"/>
          </a:xfrm>
          <a:prstGeom prst="rect">
            <a:avLst/>
          </a:prstGeom>
          <a:noFill/>
        </p:spPr>
        <p:txBody>
          <a:bodyPr wrap="square">
            <a:spAutoFit/>
          </a:bodyPr>
          <a:lstStyle/>
          <a:p>
            <a:r>
              <a:rPr sz="1050">
                <a:solidFill>
                  <a:srgbClr val="F0F4F8"/>
                </a:solidFill>
                <a:latin typeface="Calibri"/>
              </a:rPr>
              <a:t>NIGERIA'S CYBERSECURITY REALITY</a:t>
            </a:r>
          </a:p>
          <a:p>
            <a:r>
              <a:rPr sz="600">
                <a:latin typeface="Calibri"/>
              </a:rPr>
              <a:t/>
            </a:r>
          </a:p>
          <a:p>
            <a:r>
              <a:rPr sz="950">
                <a:solidFill>
                  <a:srgbClr val="4ADE80"/>
                </a:solidFill>
                <a:latin typeface="Courier New"/>
              </a:rPr>
              <a:t>$500M+       Annual losses to cybercrime (EFCC)</a:t>
            </a:r>
          </a:p>
          <a:p>
            <a:r>
              <a:rPr sz="1050">
                <a:solidFill>
                  <a:srgbClr val="F0F4F8"/>
                </a:solidFill>
                <a:latin typeface="Calibri"/>
              </a:rPr>
              <a:t>37,000+      Banking fraud cases per year (NIBSS)</a:t>
            </a:r>
          </a:p>
          <a:p>
            <a:r>
              <a:rPr sz="1050">
                <a:solidFill>
                  <a:srgbClr val="F0F4F8"/>
                </a:solidFill>
                <a:latin typeface="Calibri"/>
              </a:rPr>
              <a:t>44%          Increase in BEC fraud targeting Nigerian businesses (2023)</a:t>
            </a:r>
          </a:p>
          <a:p>
            <a:r>
              <a:rPr sz="1050">
                <a:solidFill>
                  <a:srgbClr val="F0F4F8"/>
                </a:solidFill>
                <a:latin typeface="Calibri"/>
              </a:rPr>
              <a:t>197 days     Average time to detect a breach globally (IBM)</a:t>
            </a:r>
          </a:p>
          <a:p>
            <a:r>
              <a:rPr sz="600">
                <a:latin typeface="Calibri"/>
              </a:rPr>
              <a:t/>
            </a:r>
          </a:p>
          <a:p>
            <a:r>
              <a:rPr sz="1200" b="1">
                <a:solidFill>
                  <a:srgbClr val="E74C3C"/>
                </a:solidFill>
                <a:latin typeface="Calibri"/>
              </a:rPr>
              <a:t>WHAT NIGERIANS FACE:</a:t>
            </a:r>
          </a:p>
          <a:p>
            <a:r>
              <a:rPr sz="1050">
                <a:solidFill>
                  <a:srgbClr val="F0F4F8"/>
                </a:solidFill>
                <a:latin typeface="Calibri"/>
              </a:rPr>
              <a:t>  •  SIM swap fraud — a growing epidemic</a:t>
            </a:r>
          </a:p>
          <a:p>
            <a:r>
              <a:rPr sz="1050">
                <a:solidFill>
                  <a:srgbClr val="F0F4F8"/>
                </a:solidFill>
                <a:latin typeface="Calibri"/>
              </a:rPr>
              <a:t>  •  Smishing (fake bank SMS) — millions sent daily</a:t>
            </a:r>
          </a:p>
          <a:p>
            <a:r>
              <a:rPr sz="1050">
                <a:solidFill>
                  <a:srgbClr val="F0F4F8"/>
                </a:solidFill>
                <a:latin typeface="Calibri"/>
              </a:rPr>
              <a:t>  •  BEC fraud — Nigerian groups operate globally</a:t>
            </a:r>
          </a:p>
          <a:p>
            <a:r>
              <a:rPr sz="1050">
                <a:solidFill>
                  <a:srgbClr val="F0F4F8"/>
                </a:solidFill>
                <a:latin typeface="Calibri"/>
              </a:rPr>
              <a:t>  •  Ransomware — targeting hospitals, schools, businesses</a:t>
            </a:r>
          </a:p>
          <a:p>
            <a:r>
              <a:rPr sz="600">
                <a:latin typeface="Calibri"/>
              </a:rPr>
              <a:t/>
            </a:r>
          </a:p>
          <a:p>
            <a:r>
              <a:rPr sz="1050">
                <a:solidFill>
                  <a:srgbClr val="F0F4F8"/>
                </a:solidFill>
                <a:latin typeface="Calibri"/>
              </a:rPr>
              <a:t>YOU ARE THE SOLUTION.</a:t>
            </a:r>
          </a:p>
          <a:p>
            <a:r>
              <a:rPr sz="1050">
                <a:solidFill>
                  <a:srgbClr val="F0F4F8"/>
                </a:solidFill>
                <a:latin typeface="Calibri"/>
              </a:rPr>
              <a:t>MetaBridge-trained cybersecurity professionals.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a:t>
            </a:r>
          </a:p>
        </p:txBody>
      </p:sp>
      <p:sp>
        <p:nvSpPr>
          <p:cNvPr id="8" name="TextBox 7"/>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9" name="TextBox 8"/>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12-module grid, colour-coded by phase</a:t>
            </a:r>
          </a:p>
        </p:txBody>
      </p:sp>
      <p:sp>
        <p:nvSpPr>
          <p:cNvPr id="10" name="TextBox 9"/>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COURSE OVERVIEW</a:t>
            </a:r>
          </a:p>
        </p:txBody>
      </p:sp>
      <p:sp>
        <p:nvSpPr>
          <p:cNvPr id="11" name="Rectangle 10"/>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YOUR 12-MODULE SECURITY JOURNEY</a:t>
            </a:r>
          </a:p>
          <a:p>
            <a:r>
              <a:rPr sz="600">
                <a:latin typeface="Calibri"/>
              </a:rPr>
              <a:t/>
            </a:r>
          </a:p>
          <a:p>
            <a:r>
              <a:rPr sz="1050">
                <a:solidFill>
                  <a:srgbClr val="F0F4F8"/>
                </a:solidFill>
                <a:latin typeface="Calibri"/>
              </a:rPr>
              <a:t>FOUNDATION (Modules 1–4)          TECHNICAL SKILLS (Modules 5–7)</a:t>
            </a:r>
          </a:p>
          <a:p>
            <a:r>
              <a:rPr sz="1050">
                <a:solidFill>
                  <a:srgbClr val="F0F4F8"/>
                </a:solidFill>
                <a:latin typeface="Calibri"/>
              </a:rPr>
              <a:t>  1. Introduction &amp; CIA Triad        5. Network Security</a:t>
            </a:r>
          </a:p>
          <a:p>
            <a:r>
              <a:rPr sz="1050">
                <a:solidFill>
                  <a:srgbClr val="F0F4F8"/>
                </a:solidFill>
                <a:latin typeface="Calibri"/>
              </a:rPr>
              <a:t>  2. Networking for Security         6. Ethical Hacking &amp; Pentest</a:t>
            </a:r>
          </a:p>
          <a:p>
            <a:r>
              <a:rPr sz="1050">
                <a:solidFill>
                  <a:srgbClr val="F0F4F8"/>
                </a:solidFill>
                <a:latin typeface="Calibri"/>
              </a:rPr>
              <a:t>  3. Linux &amp; Command Line            7. Web App Security (OWASP)</a:t>
            </a:r>
          </a:p>
          <a:p>
            <a:r>
              <a:rPr sz="1050">
                <a:solidFill>
                  <a:srgbClr val="F0F4F8"/>
                </a:solidFill>
                <a:latin typeface="Calibri"/>
              </a:rPr>
              <a:t>  4. Cryptography &amp; PKI</a:t>
            </a:r>
          </a:p>
          <a:p>
            <a:r>
              <a:rPr sz="600">
                <a:latin typeface="Calibri"/>
              </a:rPr>
              <a:t/>
            </a:r>
          </a:p>
          <a:p>
            <a:r>
              <a:rPr sz="1050">
                <a:solidFill>
                  <a:srgbClr val="F0F4F8"/>
                </a:solidFill>
                <a:latin typeface="Calibri"/>
              </a:rPr>
              <a:t>HUMAN &amp; MALWARE (Modules 8–9)     ADVANCED (Modules 10–12)</a:t>
            </a:r>
          </a:p>
          <a:p>
            <a:r>
              <a:rPr sz="1050">
                <a:solidFill>
                  <a:srgbClr val="F0F4F8"/>
                </a:solidFill>
                <a:latin typeface="Calibri"/>
              </a:rPr>
              <a:t>  8. Social Engineering              10. Incident Response &amp; Forensics</a:t>
            </a:r>
          </a:p>
          <a:p>
            <a:r>
              <a:rPr sz="1050">
                <a:solidFill>
                  <a:srgbClr val="F0F4F8"/>
                </a:solidFill>
                <a:latin typeface="Calibri"/>
              </a:rPr>
              <a:t>  9. Malware Analysis                11. Cloud Security</a:t>
            </a:r>
          </a:p>
          <a:p>
            <a:r>
              <a:rPr sz="1050">
                <a:solidFill>
                  <a:srgbClr val="F0F4F8"/>
                </a:solidFill>
                <a:latin typeface="Calibri"/>
              </a:rPr>
              <a:t>  12. GRC &amp; Future of Security</a:t>
            </a:r>
          </a:p>
          <a:p>
            <a:r>
              <a:rPr sz="600">
                <a:latin typeface="Calibri"/>
              </a:rPr>
              <a:t/>
            </a:r>
          </a:p>
          <a:p>
            <a:r>
              <a:rPr sz="1000">
                <a:solidFill>
                  <a:srgbClr val="8BA5BE"/>
                </a:solidFill>
                <a:latin typeface="Calibri"/>
              </a:rPr>
              <a:t>      ◦  + CAPSTONE PROJECT</a:t>
            </a:r>
          </a:p>
          <a:p>
            <a:r>
              <a:rPr sz="600">
                <a:latin typeface="Calibri"/>
              </a:rPr>
              <a:t/>
            </a:r>
          </a:p>
          <a:p>
            <a:r>
              <a:rPr sz="1050">
                <a:solidFill>
                  <a:srgbClr val="F0F4F8"/>
                </a:solidFill>
                <a:latin typeface="Calibri"/>
              </a:rPr>
              <a:t>Lab Platforms: ANY.RUN · VirusTotal · Wireshark · Nmap ·</a:t>
            </a:r>
          </a:p>
          <a:p>
            <a:r>
              <a:rPr sz="1000">
                <a:solidFill>
                  <a:srgbClr val="8BA5BE"/>
                </a:solidFill>
                <a:latin typeface="Calibri"/>
              </a:rPr>
              <a:t>      ◦  Burp Suite · Shodan · TryHackMe · Metasploit ·</a:t>
            </a:r>
          </a:p>
          <a:p>
            <a:r>
              <a:rPr sz="1000">
                <a:solidFill>
                  <a:srgbClr val="8BA5BE"/>
                </a:solidFill>
                <a:latin typeface="Calibri"/>
              </a:rPr>
              <a:t>      ◦  OWASP ZAP · Kali Linux · Have I Been Pwned · CyberChef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a:t>
            </a:r>
          </a:p>
        </p:txBody>
      </p:sp>
      <p:sp>
        <p:nvSpPr>
          <p:cNvPr id="8" name="TextBox 7"/>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9" name="TextBox 8"/>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Four horizontal bands stacked vertically, each in a distinct colour: blue (Beginner), cyan (Intermediate), gold (Advance</a:t>
            </a:r>
          </a:p>
        </p:txBody>
      </p:sp>
      <p:sp>
        <p:nvSpPr>
          <p:cNvPr id="10" name="TextBox 9"/>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DIFFICULTY LEVEL OVERVIEW</a:t>
            </a:r>
          </a:p>
        </p:txBody>
      </p:sp>
      <p:sp>
        <p:nvSpPr>
          <p:cNvPr id="11" name="Rectangle 10"/>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YOUR LEARNING JOURNEY — 4 LEVELS OF MASTERY</a:t>
            </a:r>
          </a:p>
          <a:p>
            <a:r>
              <a:rPr sz="600">
                <a:latin typeface="Calibri"/>
              </a:rPr>
              <a:t/>
            </a:r>
          </a:p>
          <a:p>
            <a:r>
              <a:rPr sz="1050">
                <a:solidFill>
                  <a:srgbClr val="F0F4F8"/>
                </a:solidFill>
                <a:latin typeface="Calibri"/>
              </a:rPr>
              <a:t>BEGINNER        M1–M3    Cybersecurity foundations · Networking for security · Linux &amp; command line</a:t>
            </a:r>
          </a:p>
          <a:p>
            <a:r>
              <a:rPr sz="1050">
                <a:solidFill>
                  <a:srgbClr val="F0F4F8"/>
                </a:solidFill>
                <a:latin typeface="Calibri"/>
              </a:rPr>
              <a:t>INTERMEDIATE    M4–M6    Cryptography &amp; PKI · Network security · Ethical hacking methodology</a:t>
            </a:r>
          </a:p>
          <a:p>
            <a:r>
              <a:rPr sz="1050">
                <a:solidFill>
                  <a:srgbClr val="F0F4F8"/>
                </a:solidFill>
                <a:latin typeface="Calibri"/>
              </a:rPr>
              <a:t>ADVANCED        M7–M9    Web app security (OWASP) · Social engineering · Malware analysis</a:t>
            </a:r>
          </a:p>
          <a:p>
            <a:r>
              <a:rPr sz="1050">
                <a:solidFill>
                  <a:srgbClr val="F0F4F8"/>
                </a:solidFill>
                <a:latin typeface="Calibri"/>
              </a:rPr>
              <a:t>PROFESSIONAL   M10–M12   Incident response &amp; forensics · Cloud security · GRC &amp; compliance</a:t>
            </a:r>
          </a:p>
          <a:p>
            <a:r>
              <a:rPr sz="600">
                <a:latin typeface="Calibri"/>
              </a:rPr>
              <a:t/>
            </a:r>
          </a:p>
          <a:p>
            <a:r>
              <a:rPr sz="1050">
                <a:solidFill>
                  <a:srgbClr val="F0F4F8"/>
                </a:solidFill>
                <a:latin typeface="Calibri"/>
              </a:rPr>
              <a:t>Complete each level before advancing to the next.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1</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E74C3C"/>
                </a:solidFill>
                <a:latin typeface="Calibri"/>
              </a:rPr>
              <a:t>MOD 1</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1 OPENER: INTRODUCTION TO CYBERSECURITY</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E74C3C"/>
                </a:solidFill>
                <a:latin typeface="Calibri"/>
              </a:rPr>
              <a:t>LEVEL: BEGINNER</a:t>
            </a:r>
          </a:p>
          <a:p>
            <a:r>
              <a:rPr sz="1300" b="1">
                <a:solidFill>
                  <a:srgbClr val="E74C3C"/>
                </a:solidFill>
                <a:latin typeface="Calibri"/>
              </a:rPr>
              <a:t>MODULE 01</a:t>
            </a:r>
          </a:p>
          <a:p>
            <a:r>
              <a:rPr sz="1300" b="1">
                <a:solidFill>
                  <a:srgbClr val="E74C3C"/>
                </a:solidFill>
                <a:latin typeface="Calibri"/>
              </a:rPr>
              <a:t>INTRODUCTION TO</a:t>
            </a:r>
          </a:p>
          <a:p>
            <a:r>
              <a:rPr sz="1300" b="1">
                <a:solidFill>
                  <a:srgbClr val="E74C3C"/>
                </a:solidFill>
                <a:latin typeface="Calibri"/>
              </a:rPr>
              <a:t>CYBERSECURITY</a:t>
            </a:r>
          </a:p>
          <a:p>
            <a:r>
              <a:rPr sz="1100">
                <a:solidFill>
                  <a:srgbClr val="F0F4F8"/>
                </a:solidFill>
                <a:latin typeface="Calibri"/>
              </a:rPr>
              <a:t>Foundations · CIA Triad · Threat actors</a:t>
            </a:r>
          </a:p>
          <a:p>
            <a:r>
              <a:rPr sz="1100">
                <a:solidFill>
                  <a:srgbClr val="F0F4F8"/>
                </a:solidFill>
                <a:latin typeface="Calibri"/>
              </a:rPr>
              <a:t>Nigerian cyber landscape · Hacker ethics</a:t>
            </a:r>
          </a:p>
          <a:p>
            <a:r>
              <a:rPr sz="1100">
                <a:solidFill>
                  <a:srgbClr val="F0F4F8"/>
                </a:solidFill>
                <a:latin typeface="Calibri"/>
              </a:rPr>
              <a:t>Cybercrimes Act 2015 · Career paths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INTRODUCTION TO CYBERSECURITY</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Equilateral triangle with three glowing vertices: CONFIDENTIALITY (blue), INTEGRITY (cyan), AVAILABILITY (gold)</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CIA TRIAD</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2200656" cy="365760"/>
          </a:xfrm>
          <a:prstGeom prst="rect">
            <a:avLst/>
          </a:prstGeom>
          <a:noFill/>
        </p:spPr>
        <p:txBody>
          <a:bodyPr wrap="square">
            <a:spAutoFit/>
          </a:bodyPr>
          <a:lstStyle/>
          <a:p>
            <a:pPr algn="l"/>
            <a:r>
              <a:rPr sz="1100" b="1" i="0">
                <a:solidFill>
                  <a:srgbClr val="E74C3C"/>
                </a:solidFill>
                <a:latin typeface="Calibri"/>
              </a:rPr>
              <a:t>CONFIDENTIALITY               INTEGRITY</a:t>
            </a:r>
          </a:p>
        </p:txBody>
      </p:sp>
      <p:sp>
        <p:nvSpPr>
          <p:cNvPr id="16" name="TextBox 15"/>
          <p:cNvSpPr txBox="1"/>
          <p:nvPr/>
        </p:nvSpPr>
        <p:spPr>
          <a:xfrm>
            <a:off x="4736592" y="1664208"/>
            <a:ext cx="2200656" cy="1207008"/>
          </a:xfrm>
          <a:prstGeom prst="rect">
            <a:avLst/>
          </a:prstGeom>
          <a:noFill/>
        </p:spPr>
        <p:txBody>
          <a:bodyPr wrap="square">
            <a:spAutoFit/>
          </a:bodyPr>
          <a:lstStyle/>
          <a:p>
            <a:pPr algn="l"/>
            <a:r>
              <a:rPr sz="950" b="0" i="0">
                <a:solidFill>
                  <a:srgbClr val="F0F4F8"/>
                </a:solidFill>
                <a:latin typeface="Calibri"/>
              </a:rPr>
              <a:t>"Only authorised people       "Information is accurate can access this"              and hasn't been tampered with"</a:t>
            </a:r>
          </a:p>
        </p:txBody>
      </p:sp>
      <p:sp>
        <p:nvSpPr>
          <p:cNvPr id="17" name="Rectangle 16"/>
          <p:cNvSpPr/>
          <p:nvPr/>
        </p:nvSpPr>
        <p:spPr>
          <a:xfrm>
            <a:off x="715670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5670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6432" y="1298448"/>
            <a:ext cx="2200656" cy="365760"/>
          </a:xfrm>
          <a:prstGeom prst="rect">
            <a:avLst/>
          </a:prstGeom>
          <a:noFill/>
        </p:spPr>
        <p:txBody>
          <a:bodyPr wrap="square">
            <a:spAutoFit/>
          </a:bodyPr>
          <a:lstStyle/>
          <a:p>
            <a:pPr algn="l"/>
            <a:r>
              <a:rPr sz="1100" b="1" i="0">
                <a:solidFill>
                  <a:srgbClr val="F5A623"/>
                </a:solidFill>
                <a:latin typeface="Calibri"/>
              </a:rPr>
              <a:t>AVAILABILITY</a:t>
            </a:r>
          </a:p>
        </p:txBody>
      </p:sp>
      <p:sp>
        <p:nvSpPr>
          <p:cNvPr id="20" name="TextBox 19"/>
          <p:cNvSpPr txBox="1"/>
          <p:nvPr/>
        </p:nvSpPr>
        <p:spPr>
          <a:xfrm>
            <a:off x="7266432" y="1664208"/>
            <a:ext cx="2200656" cy="1207008"/>
          </a:xfrm>
          <a:prstGeom prst="rect">
            <a:avLst/>
          </a:prstGeom>
          <a:noFill/>
        </p:spPr>
        <p:txBody>
          <a:bodyPr wrap="square">
            <a:spAutoFit/>
          </a:bodyPr>
          <a:lstStyle/>
          <a:p>
            <a:pPr algn="l"/>
            <a:r>
              <a:rPr sz="950" b="0" i="0">
                <a:solidFill>
                  <a:srgbClr val="F0F4F8"/>
                </a:solidFill>
                <a:latin typeface="Calibri"/>
              </a:rPr>
              <a:t>"Systems are accessible when legitimate users need them"</a:t>
            </a:r>
          </a:p>
        </p:txBody>
      </p:sp>
      <p:sp>
        <p:nvSpPr>
          <p:cNvPr id="21" name="Rectangle 20"/>
          <p:cNvSpPr/>
          <p:nvPr/>
        </p:nvSpPr>
        <p:spPr>
          <a:xfrm>
            <a:off x="968654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86544" y="1207008"/>
            <a:ext cx="50292" cy="17373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96272" y="1298448"/>
            <a:ext cx="2200656" cy="365760"/>
          </a:xfrm>
          <a:prstGeom prst="rect">
            <a:avLst/>
          </a:prstGeom>
          <a:noFill/>
        </p:spPr>
        <p:txBody>
          <a:bodyPr wrap="square">
            <a:spAutoFit/>
          </a:bodyPr>
          <a:lstStyle/>
          <a:p>
            <a:pPr algn="l"/>
            <a:r>
              <a:rPr sz="1100" b="1" i="0">
                <a:solidFill>
                  <a:srgbClr val="00B894"/>
                </a:solidFill>
                <a:latin typeface="Calibri"/>
              </a:rPr>
              <a:t>THE CONSTANT TENSION:</a:t>
            </a:r>
          </a:p>
        </p:txBody>
      </p:sp>
      <p:sp>
        <p:nvSpPr>
          <p:cNvPr id="24" name="TextBox 23"/>
          <p:cNvSpPr txBox="1"/>
          <p:nvPr/>
        </p:nvSpPr>
        <p:spPr>
          <a:xfrm>
            <a:off x="9796272" y="1664208"/>
            <a:ext cx="2200656" cy="1207008"/>
          </a:xfrm>
          <a:prstGeom prst="rect">
            <a:avLst/>
          </a:prstGeom>
          <a:noFill/>
        </p:spPr>
        <p:txBody>
          <a:bodyPr wrap="square">
            <a:spAutoFit/>
          </a:bodyPr>
          <a:lstStyle/>
          <a:p>
            <a:pPr algn="l"/>
            <a:r>
              <a:rPr sz="950" b="0" i="0">
                <a:solidFill>
                  <a:srgbClr val="F0F4F8"/>
                </a:solidFill>
                <a:latin typeface="Calibri"/>
              </a:rPr>
              <a:t>Maximum confidentiality ↔ Maximum availability Your job: find the right balance for the risk context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INTRODUCTION TO CYBERSECURITY</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Three-column layout, one column per CIA pillar with matching colour scheme (blue/cyan/gold)</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CIA TRIAD: CONTROLS &amp; TOOLS</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HOW WE PROTECT EACH PILLAR</a:t>
            </a:r>
          </a:p>
          <a:p>
            <a:r>
              <a:rPr sz="600">
                <a:latin typeface="Calibri"/>
              </a:rPr>
              <a:t/>
            </a:r>
          </a:p>
          <a:p>
            <a:r>
              <a:rPr sz="1050">
                <a:solidFill>
                  <a:srgbClr val="F0F4F8"/>
                </a:solidFill>
                <a:latin typeface="Calibri"/>
              </a:rPr>
              <a:t>┌─────────────────────┬──────────────────────┬─────────────────────┐</a:t>
            </a:r>
          </a:p>
          <a:p>
            <a:r>
              <a:rPr sz="1050">
                <a:solidFill>
                  <a:srgbClr val="F0F4F8"/>
                </a:solidFill>
                <a:latin typeface="Calibri"/>
              </a:rPr>
              <a:t>│  CONFIDENTIALITY    │      INTEGRITY       │    AVAILABILITY     │</a:t>
            </a:r>
          </a:p>
          <a:p>
            <a:r>
              <a:rPr sz="1050">
                <a:solidFill>
                  <a:srgbClr val="F0F4F8"/>
                </a:solidFill>
                <a:latin typeface="Calibri"/>
              </a:rPr>
              <a:t>│  ─────────────────  │  ──────────────────  │  ─────────────────  │</a:t>
            </a:r>
          </a:p>
          <a:p>
            <a:r>
              <a:rPr sz="1050">
                <a:solidFill>
                  <a:srgbClr val="F0F4F8"/>
                </a:solidFill>
                <a:latin typeface="Calibri"/>
              </a:rPr>
              <a:t>│                     │                      │                     │</a:t>
            </a:r>
          </a:p>
          <a:p>
            <a:r>
              <a:rPr sz="1050">
                <a:solidFill>
                  <a:srgbClr val="F0F4F8"/>
                </a:solidFill>
                <a:latin typeface="Calibri"/>
              </a:rPr>
              <a:t>│  🔒 ENCRYPTION      │  #  HASHING          │  🔁 REDUNDANCY      │</a:t>
            </a:r>
          </a:p>
          <a:p>
            <a:r>
              <a:rPr sz="1050">
                <a:solidFill>
                  <a:srgbClr val="F0F4F8"/>
                </a:solidFill>
                <a:latin typeface="Calibri"/>
              </a:rPr>
              <a:t>│  AES-256 (at rest)  │  SHA-256 / SHA-3     │  RAID, Clustering   │</a:t>
            </a:r>
          </a:p>
          <a:p>
            <a:r>
              <a:rPr sz="1050">
                <a:solidFill>
                  <a:srgbClr val="F0F4F8"/>
                </a:solidFill>
                <a:latin typeface="Calibri"/>
              </a:rPr>
              <a:t>│  TLS 1.3 (transit)  │                      │  Geographic         │</a:t>
            </a:r>
          </a:p>
          <a:p>
            <a:r>
              <a:rPr sz="1050">
                <a:solidFill>
                  <a:srgbClr val="F0F4F8"/>
                </a:solidFill>
                <a:latin typeface="Calibri"/>
              </a:rPr>
              <a:t>│                     │  ✍  DIGITAL SIGS     │                     │</a:t>
            </a:r>
          </a:p>
          <a:p>
            <a:r>
              <a:rPr sz="1050">
                <a:solidFill>
                  <a:srgbClr val="F0F4F8"/>
                </a:solidFill>
                <a:latin typeface="Calibri"/>
              </a:rPr>
              <a:t>│  👤 ACCESS CONTROL  │  RSA-PSS / ECDSA     │  ⚖  LOAD BALANCING │</a:t>
            </a:r>
          </a:p>
          <a:p>
            <a:r>
              <a:rPr sz="1050">
                <a:solidFill>
                  <a:srgbClr val="F0F4F8"/>
                </a:solidFill>
                <a:latin typeface="Calibri"/>
              </a:rPr>
              <a:t>│  RBAC / DAC / MAC   │                      │  HAProxy, AWS ELB   │</a:t>
            </a:r>
          </a:p>
          <a:p>
            <a:r>
              <a:rPr sz="1050">
                <a:solidFill>
                  <a:srgbClr val="F0F4F8"/>
                </a:solidFill>
                <a:latin typeface="Calibri"/>
              </a:rPr>
              <a:t>│  Least Privilege    │  ✓  CHECKSUMS        │  NGINX              │</a:t>
            </a:r>
          </a:p>
          <a:p>
            <a:r>
              <a:rPr sz="1050">
                <a:solidFill>
                  <a:srgbClr val="F0F4F8"/>
                </a:solidFill>
                <a:latin typeface="Calibri"/>
              </a:rPr>
              <a:t>│                     │  CRC32 / Adler-32    │                     │</a:t>
            </a:r>
          </a:p>
          <a:p>
            <a:r>
              <a:rPr sz="1050">
                <a:solidFill>
                  <a:srgbClr val="F0F4F8"/>
                </a:solidFill>
                <a:latin typeface="Calibri"/>
              </a:rPr>
              <a:t>│  🔑 MFA             │                      │  🚨 DDoS MITIGATION │</a:t>
            </a:r>
          </a:p>
          <a:p>
            <a:r>
              <a:rPr sz="1050">
                <a:solidFill>
                  <a:srgbClr val="F0F4F8"/>
                </a:solidFill>
                <a:latin typeface="Calibri"/>
              </a:rPr>
              <a:t>│  TOTP (Authenticator│  📋 VERSION CONTROL  │  Cloudflare         │</a:t>
            </a:r>
          </a:p>
          <a:p>
            <a:r>
              <a:rPr sz="1050">
                <a:solidFill>
                  <a:srgbClr val="F0F4F8"/>
                </a:solidFill>
                <a:latin typeface="Calibri"/>
              </a:rPr>
              <a:t>│  YubiKey / Hardware │  Git + Signed Commits│  AWS Shield         │</a:t>
            </a:r>
          </a:p>
          <a:p>
            <a:r>
              <a:rPr sz="1050">
                <a:solidFill>
                  <a:srgbClr val="F0F4F8"/>
                </a:solidFill>
                <a:latin typeface="Calibri"/>
              </a:rPr>
              <a:t>│  Biometrics         │                      │  Akamai             │</a:t>
            </a:r>
          </a:p>
          <a:p>
            <a:r>
              <a:rPr sz="1050">
                <a:solidFill>
                  <a:srgbClr val="F0F4F8"/>
                </a:solidFill>
                <a:latin typeface="Calibri"/>
              </a:rPr>
              <a:t>│                     │  🗄  WORM STORAGE    │                     │</a:t>
            </a:r>
          </a:p>
          <a:p>
            <a:r>
              <a:rPr sz="1050">
                <a:solidFill>
                  <a:srgbClr val="F0F4F8"/>
                </a:solidFill>
                <a:latin typeface="Calibri"/>
              </a:rPr>
              <a:t>│  🏷  DATA CLASS.    │  S3 Object Lock      │  💾 BACKUPS         │</a:t>
            </a:r>
          </a:p>
          <a:p>
            <a:r>
              <a:rPr sz="1050">
                <a:solidFill>
                  <a:srgbClr val="F0F4F8"/>
                </a:solidFill>
                <a:latin typeface="Calibri"/>
              </a:rPr>
              <a:t>│  Public→Restricted  │  Immutable Logs      │  3-2-1 Rule         │</a:t>
            </a:r>
          </a:p>
          <a:p>
            <a:r>
              <a:rPr sz="1050">
                <a:solidFill>
                  <a:srgbClr val="F0F4F8"/>
                </a:solidFill>
                <a:latin typeface="Calibri"/>
              </a:rPr>
              <a:t>│                     │                      │  Air-gapped copies  │</a:t>
            </a:r>
          </a:p>
          <a:p>
            <a:r>
              <a:rPr sz="1050">
                <a:solidFill>
                  <a:srgbClr val="F0F4F8"/>
                </a:solidFill>
                <a:latin typeface="Calibri"/>
              </a:rPr>
              <a:t>│                     │                      │                     │</a:t>
            </a:r>
          </a:p>
          <a:p>
            <a:r>
              <a:rPr sz="1050">
                <a:solidFill>
                  <a:srgbClr val="F0F4F8"/>
                </a:solidFill>
                <a:latin typeface="Calibri"/>
              </a:rPr>
              <a:t>│                     │                      │  📋 DISASTER REC.   │</a:t>
            </a:r>
          </a:p>
          <a:p>
            <a:r>
              <a:rPr sz="1050">
                <a:solidFill>
                  <a:srgbClr val="F0F4F8"/>
                </a:solidFill>
                <a:latin typeface="Calibri"/>
              </a:rPr>
              <a:t>│                     │                      │  Hot/Warm/Cold Site │</a:t>
            </a:r>
          </a:p>
          <a:p>
            <a:r>
              <a:rPr sz="1050">
                <a:solidFill>
                  <a:srgbClr val="F0F4F8"/>
                </a:solidFill>
                <a:latin typeface="Calibri"/>
              </a:rPr>
              <a:t>│                     │                      │  RTO · RPO · BCP    │</a:t>
            </a:r>
          </a:p>
          <a:p>
            <a:r>
              <a:rPr sz="1050">
                <a:solidFill>
                  <a:srgbClr val="F0F4F8"/>
                </a:solidFill>
                <a:latin typeface="Calibri"/>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INTRODUCTION TO CYBERSECURITY</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Six cards arranged in a 2×3 grid</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THREAT ACTORS</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050">
                <a:solidFill>
                  <a:srgbClr val="F0F4F8"/>
                </a:solidFill>
                <a:latin typeface="Calibri"/>
              </a:rPr>
              <a:t>WHO IS ATTACKING?</a:t>
            </a:r>
          </a:p>
          <a:p>
            <a:r>
              <a:rPr sz="600">
                <a:latin typeface="Calibri"/>
              </a:rPr>
              <a:t/>
            </a:r>
          </a:p>
          <a:p>
            <a:r>
              <a:rPr sz="1050">
                <a:solidFill>
                  <a:srgbClr val="F0F4F8"/>
                </a:solidFill>
                <a:latin typeface="Calibri"/>
              </a:rPr>
              <a:t>[CYBERCRIMINAL]          [NATION-STATE]           [HACKTIVIST]</a:t>
            </a:r>
          </a:p>
          <a:p>
            <a:r>
              <a:rPr sz="1050">
                <a:solidFill>
                  <a:srgbClr val="F0F4F8"/>
                </a:solidFill>
                <a:latin typeface="Calibri"/>
              </a:rPr>
              <a:t>Financial gain           Espionage, sabotage       Political/ideological</a:t>
            </a:r>
          </a:p>
          <a:p>
            <a:r>
              <a:rPr sz="1050">
                <a:solidFill>
                  <a:srgbClr val="F0F4F8"/>
                </a:solidFill>
                <a:latin typeface="Calibri"/>
              </a:rPr>
              <a:t>BEC, ransomware          APT, infrastructure       DDoS, defacement</a:t>
            </a:r>
          </a:p>
          <a:p>
            <a:r>
              <a:rPr sz="1050">
                <a:solidFill>
                  <a:srgbClr val="F0F4F8"/>
                </a:solidFill>
                <a:latin typeface="Calibri"/>
              </a:rPr>
              <a:t>card fraud               attacks                   data leaks</a:t>
            </a:r>
          </a:p>
          <a:p>
            <a:r>
              <a:rPr sz="600">
                <a:latin typeface="Calibri"/>
              </a:rPr>
              <a:t/>
            </a:r>
          </a:p>
          <a:p>
            <a:r>
              <a:rPr sz="1050">
                <a:solidFill>
                  <a:srgbClr val="F0F4F8"/>
                </a:solidFill>
                <a:latin typeface="Calibri"/>
              </a:rPr>
              <a:t>[INSIDER THREAT]         [SCRIPT KIDDIE]           [COMPETITOR]</a:t>
            </a:r>
          </a:p>
          <a:p>
            <a:r>
              <a:rPr sz="1050">
                <a:solidFill>
                  <a:srgbClr val="F0F4F8"/>
                </a:solidFill>
                <a:latin typeface="Calibri"/>
              </a:rPr>
              <a:t>Grudge, greed            Fame, curiosity            Corporate espionage</a:t>
            </a:r>
          </a:p>
          <a:p>
            <a:r>
              <a:rPr sz="1050">
                <a:solidFill>
                  <a:srgbClr val="F0F4F8"/>
                </a:solidFill>
                <a:latin typeface="Calibri"/>
              </a:rPr>
              <a:t>Data theft               Uses existing tools        IP theft</a:t>
            </a:r>
          </a:p>
          <a:p>
            <a:r>
              <a:rPr sz="1050">
                <a:solidFill>
                  <a:srgbClr val="F0F4F8"/>
                </a:solidFill>
                <a:latin typeface="Calibri"/>
              </a:rPr>
              <a:t>account abuse            Copies attacks             data exfiltration</a:t>
            </a:r>
          </a:p>
          <a:p>
            <a:r>
              <a:rPr sz="600">
                <a:latin typeface="Calibri"/>
              </a:rPr>
              <a:t/>
            </a:r>
          </a:p>
          <a:p>
            <a:r>
              <a:rPr sz="1200" b="1">
                <a:solidFill>
                  <a:srgbClr val="E74C3C"/>
                </a:solidFill>
                <a:latin typeface="Calibri"/>
              </a:rPr>
              <a:t>NIGERIAN CONTEXT:</a:t>
            </a:r>
          </a:p>
          <a:p>
            <a:r>
              <a:rPr sz="1050">
                <a:solidFill>
                  <a:srgbClr val="F0F4F8"/>
                </a:solidFill>
                <a:latin typeface="Calibri"/>
              </a:rPr>
              <a:t>SilverTerrier group — world-class BEC operators</a:t>
            </a:r>
          </a:p>
          <a:p>
            <a:r>
              <a:rPr sz="1050">
                <a:solidFill>
                  <a:srgbClr val="F0F4F8"/>
                </a:solidFill>
                <a:latin typeface="Calibri"/>
              </a:rPr>
              <a:t>SIM swap fraud rings — organised criminal groups</a:t>
            </a:r>
          </a:p>
          <a:p>
            <a:r>
              <a:rPr sz="1050">
                <a:solidFill>
                  <a:srgbClr val="F0F4F8"/>
                </a:solidFill>
                <a:latin typeface="Calibri"/>
              </a:rPr>
              <a:t>Growing nation-state targeting of Nigerian infrastructure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INTRODUCTION TO CYBERSECURITY</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Three hats in a row — white (glowing blue), grey (middle), black (dark/ominous)</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HACKER ETHICS</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THE THREE HATS</a:t>
            </a:r>
          </a:p>
          <a:p>
            <a:r>
              <a:rPr sz="600">
                <a:latin typeface="Calibri"/>
              </a:rPr>
              <a:t/>
            </a:r>
          </a:p>
          <a:p>
            <a:r>
              <a:rPr sz="1200" b="1">
                <a:solidFill>
                  <a:srgbClr val="E74C3C"/>
                </a:solidFill>
                <a:latin typeface="Calibri"/>
              </a:rPr>
              <a:t>WHITE HAT              GREY HAT               BLACK HAT</a:t>
            </a:r>
          </a:p>
          <a:p>
            <a:r>
              <a:rPr sz="1050">
                <a:solidFill>
                  <a:srgbClr val="F0F4F8"/>
                </a:solidFill>
                <a:latin typeface="Calibri"/>
              </a:rPr>
              <a:t>─────────────          ──────────             ──────────</a:t>
            </a:r>
          </a:p>
          <a:p>
            <a:r>
              <a:rPr sz="1050">
                <a:solidFill>
                  <a:srgbClr val="F0F4F8"/>
                </a:solidFill>
                <a:latin typeface="Calibri"/>
              </a:rPr>
              <a:t>Authorised testing     No authorisation       Malicious</a:t>
            </a:r>
          </a:p>
          <a:p>
            <a:r>
              <a:rPr sz="1000">
                <a:solidFill>
                  <a:srgbClr val="8BA5BE"/>
                </a:solidFill>
                <a:latin typeface="Calibri"/>
              </a:rPr>
              <a:t>      ◦  Usually discloses      Criminal</a:t>
            </a:r>
          </a:p>
          <a:p>
            <a:r>
              <a:rPr sz="600">
                <a:latin typeface="Calibri"/>
              </a:rPr>
              <a:t/>
            </a:r>
          </a:p>
          <a:p>
            <a:r>
              <a:rPr sz="1050">
                <a:solidFill>
                  <a:srgbClr val="F0F4F8"/>
                </a:solidFill>
                <a:latin typeface="Calibri"/>
              </a:rPr>
              <a:t>Penetration tester     "I found a bug         Attacker</a:t>
            </a:r>
          </a:p>
          <a:p>
            <a:r>
              <a:rPr sz="1050">
                <a:solidFill>
                  <a:srgbClr val="F0F4F8"/>
                </a:solidFill>
                <a:latin typeface="Calibri"/>
              </a:rPr>
              <a:t>Bug bounty hunter      and told them"         Data thief</a:t>
            </a:r>
          </a:p>
          <a:p>
            <a:r>
              <a:rPr sz="1050">
                <a:solidFill>
                  <a:srgbClr val="F0F4F8"/>
                </a:solidFill>
                <a:latin typeface="Calibri"/>
              </a:rPr>
              <a:t>Security consultant                           Ransomware operator</a:t>
            </a:r>
          </a:p>
          <a:p>
            <a:r>
              <a:rPr sz="600">
                <a:latin typeface="Calibri"/>
              </a:rPr>
              <a:t/>
            </a:r>
          </a:p>
          <a:p>
            <a:r>
              <a:rPr sz="1000">
                <a:solidFill>
                  <a:srgbClr val="FF8080"/>
                </a:solidFill>
                <a:latin typeface="Calibri"/>
              </a:rPr>
              <a:t>Legal ✓                Legal grey area ⚠      Illegal ✗</a:t>
            </a:r>
          </a:p>
          <a:p>
            <a:r>
              <a:rPr sz="600">
                <a:latin typeface="Calibri"/>
              </a:rPr>
              <a:t/>
            </a:r>
          </a:p>
          <a:p>
            <a:r>
              <a:rPr sz="1050">
                <a:solidFill>
                  <a:srgbClr val="F0F4F8"/>
                </a:solidFill>
                <a:latin typeface="Calibri"/>
              </a:rPr>
              <a:t>NIGERIA: Cybercrimes Act 2015</a:t>
            </a:r>
          </a:p>
          <a:p>
            <a:r>
              <a:rPr sz="1050">
                <a:solidFill>
                  <a:srgbClr val="F0F4F8"/>
                </a:solidFill>
                <a:latin typeface="Calibri"/>
              </a:rPr>
              <a:t>Section 6: Unauthorised access → up to 3 years imprisonment</a:t>
            </a:r>
          </a:p>
          <a:p>
            <a:r>
              <a:rPr sz="1050">
                <a:solidFill>
                  <a:srgbClr val="F0F4F8"/>
                </a:solidFill>
                <a:latin typeface="Calibri"/>
              </a:rPr>
              <a:t>Section 14: Identity theft → up to 7 years</a:t>
            </a:r>
          </a:p>
          <a:p>
            <a:r>
              <a:rPr sz="1050">
                <a:solidFill>
                  <a:srgbClr val="F0F4F8"/>
                </a:solidFill>
                <a:latin typeface="Calibri"/>
              </a:rPr>
              <a:t>Section 19: Computer fraud → up to 7 years</a:t>
            </a:r>
          </a:p>
          <a:p>
            <a:r>
              <a:rPr sz="600">
                <a:latin typeface="Calibri"/>
              </a:rPr>
              <a:t/>
            </a:r>
          </a:p>
          <a:p>
            <a:r>
              <a:rPr sz="1050">
                <a:solidFill>
                  <a:srgbClr val="F0F4F8"/>
                </a:solidFill>
                <a:latin typeface="Calibri"/>
              </a:rPr>
              <a:t>WE TRAIN WHITE HATS ONLY.</a:t>
            </a:r>
          </a:p>
          <a:p>
            <a:r>
              <a:rPr sz="1050">
                <a:solidFill>
                  <a:srgbClr val="F0F4F8"/>
                </a:solidFill>
                <a:latin typeface="Calibri"/>
              </a:rPr>
              <a:t>Everything requires written authorisation. No exceptions.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INTRODUCTION TO CYBERSECURITY</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Career ladder with salary bands shown as horizontal bars</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CYBERSECURITY CAREERS</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CYBERSECURITY CAREER MAP — NIGERIA 2024/25</a:t>
            </a:r>
          </a:p>
          <a:p>
            <a:r>
              <a:rPr sz="600">
                <a:latin typeface="Calibri"/>
              </a:rPr>
              <a:t/>
            </a:r>
          </a:p>
          <a:p>
            <a:r>
              <a:rPr sz="1050">
                <a:solidFill>
                  <a:srgbClr val="F0F4F8"/>
                </a:solidFill>
                <a:latin typeface="Calibri"/>
              </a:rPr>
              <a:t>SOC Analyst (Tier 1)      ₦150K–₦300K/month    Entry point</a:t>
            </a:r>
          </a:p>
          <a:p>
            <a:r>
              <a:rPr sz="1050">
                <a:solidFill>
                  <a:srgbClr val="F0F4F8"/>
                </a:solidFill>
                <a:latin typeface="Calibri"/>
              </a:rPr>
              <a:t>Security Analyst           ₦300K–₦600K/month    +2 years</a:t>
            </a:r>
          </a:p>
          <a:p>
            <a:r>
              <a:rPr sz="1050">
                <a:solidFill>
                  <a:srgbClr val="F0F4F8"/>
                </a:solidFill>
                <a:latin typeface="Calibri"/>
              </a:rPr>
              <a:t>Penetration Tester         ₦400K–₦900K/month    +CEH/OSCP</a:t>
            </a:r>
          </a:p>
          <a:p>
            <a:r>
              <a:rPr sz="1050">
                <a:solidFill>
                  <a:srgbClr val="F0F4F8"/>
                </a:solidFill>
                <a:latin typeface="Calibri"/>
              </a:rPr>
              <a:t>Incident Responder         ₦500K–₦1M/month      High demand now</a:t>
            </a:r>
          </a:p>
          <a:p>
            <a:r>
              <a:rPr sz="1050">
                <a:solidFill>
                  <a:srgbClr val="F0F4F8"/>
                </a:solidFill>
                <a:latin typeface="Calibri"/>
              </a:rPr>
              <a:t>Security Engineer          ₦600K–₦1.5M/month    Technical expert</a:t>
            </a:r>
          </a:p>
          <a:p>
            <a:r>
              <a:rPr sz="1050">
                <a:solidFill>
                  <a:srgbClr val="F0F4F8"/>
                </a:solidFill>
                <a:latin typeface="Calibri"/>
              </a:rPr>
              <a:t>CISO                       ₦1.5M–₦5M/month      Executive level</a:t>
            </a:r>
          </a:p>
          <a:p>
            <a:r>
              <a:rPr sz="600">
                <a:latin typeface="Calibri"/>
              </a:rPr>
              <a:t/>
            </a:r>
          </a:p>
          <a:p>
            <a:r>
              <a:rPr sz="1050">
                <a:solidFill>
                  <a:srgbClr val="F0F4F8"/>
                </a:solidFill>
                <a:latin typeface="Calibri"/>
              </a:rPr>
              <a:t>🌍 REMOTE/INTERNATIONAL: $2,000–$8,000/month</a:t>
            </a:r>
          </a:p>
          <a:p>
            <a:r>
              <a:rPr sz="600">
                <a:latin typeface="Calibri"/>
              </a:rPr>
              <a:t/>
            </a:r>
          </a:p>
          <a:p>
            <a:r>
              <a:rPr sz="1200" b="1">
                <a:solidFill>
                  <a:srgbClr val="E74C3C"/>
                </a:solidFill>
                <a:latin typeface="Calibri"/>
              </a:rPr>
              <a:t>CERTIFICATIONS THAT OPEN DOORS:</a:t>
            </a:r>
          </a:p>
          <a:p>
            <a:r>
              <a:rPr sz="1050">
                <a:solidFill>
                  <a:srgbClr val="F0F4F8"/>
                </a:solidFill>
                <a:latin typeface="Calibri"/>
              </a:rPr>
              <a:t>CompTIA Security+ → CySA+ → CEH → OSCP</a:t>
            </a:r>
          </a:p>
          <a:p>
            <a:r>
              <a:rPr sz="600">
                <a:latin typeface="Calibri"/>
              </a:rPr>
              <a:t/>
            </a:r>
          </a:p>
          <a:p>
            <a:r>
              <a:rPr sz="1050">
                <a:solidFill>
                  <a:srgbClr val="F0F4F8"/>
                </a:solidFill>
                <a:latin typeface="Calibri"/>
              </a:rPr>
              <a:t>Your MetaBridge blockchain certificate:</a:t>
            </a:r>
          </a:p>
          <a:p>
            <a:r>
              <a:rPr sz="1050">
                <a:solidFill>
                  <a:srgbClr val="F0F4F8"/>
                </a:solidFill>
                <a:latin typeface="Calibri"/>
              </a:rPr>
              <a:t>Verifiable by any employer, instantly, globally.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2</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E74C3C"/>
                </a:solidFill>
                <a:latin typeface="Calibri"/>
              </a:rPr>
              <a:t>MOD 2</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2 OPENER: NETWORKING</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E74C3C"/>
                </a:solidFill>
                <a:latin typeface="Calibri"/>
              </a:rPr>
              <a:t>LEVEL: BEGINNER</a:t>
            </a:r>
          </a:p>
          <a:p>
            <a:r>
              <a:rPr sz="1300" b="1">
                <a:solidFill>
                  <a:srgbClr val="E74C3C"/>
                </a:solidFill>
                <a:latin typeface="Calibri"/>
              </a:rPr>
              <a:t>MODULE 02</a:t>
            </a:r>
          </a:p>
          <a:p>
            <a:r>
              <a:rPr sz="1300" b="1">
                <a:solidFill>
                  <a:srgbClr val="E74C3C"/>
                </a:solidFill>
                <a:latin typeface="Calibri"/>
              </a:rPr>
              <a:t>NETWORKING</a:t>
            </a:r>
          </a:p>
          <a:p>
            <a:r>
              <a:rPr sz="1300" b="1">
                <a:solidFill>
                  <a:srgbClr val="E74C3C"/>
                </a:solidFill>
                <a:latin typeface="Calibri"/>
              </a:rPr>
              <a:t>FUNDAMENTALS FOR SECURITY</a:t>
            </a:r>
          </a:p>
          <a:p>
            <a:r>
              <a:rPr sz="1100">
                <a:solidFill>
                  <a:srgbClr val="F0F4F8"/>
                </a:solidFill>
                <a:latin typeface="Calibri"/>
              </a:rPr>
              <a:t>"You cannot defend what you don't understand.</a:t>
            </a:r>
          </a:p>
          <a:p>
            <a:r>
              <a:rPr sz="1100">
                <a:solidFill>
                  <a:srgbClr val="F0F4F8"/>
                </a:solidFill>
                <a:latin typeface="Calibri"/>
              </a:rPr>
              <a:t>Networks are the terrain of every cyberattack."</a:t>
            </a:r>
          </a:p>
          <a:p>
            <a:r>
              <a:rPr sz="1100">
                <a:solidFill>
                  <a:srgbClr val="F0F4F8"/>
                </a:solidFill>
                <a:latin typeface="Calibri"/>
              </a:rPr>
              <a:t>OSI 7 layers · TCP/IP · IP addressing</a:t>
            </a:r>
          </a:p>
          <a:p>
            <a:r>
              <a:rPr sz="1100">
                <a:solidFill>
                  <a:srgbClr val="F0F4F8"/>
                </a:solidFill>
                <a:latin typeface="Calibri"/>
              </a:rPr>
              <a:t>DNS · DHCP · HTTP/HTTPS · Common ports</a:t>
            </a:r>
          </a:p>
          <a:p>
            <a:r>
              <a:rPr sz="1100">
                <a:solidFill>
                  <a:srgbClr val="F0F4F8"/>
                </a:solidFill>
                <a:latin typeface="Calibri"/>
              </a:rPr>
              <a:t>Wireshark packet analysis · Nmap scanning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NETWORKING</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Seven-layer stack diagram</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OSI MODEL — SECURITY LENS</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OSI MODEL — 7 ATTACK SURFACES</a:t>
            </a:r>
          </a:p>
          <a:p>
            <a:r>
              <a:rPr sz="600">
                <a:latin typeface="Calibri"/>
              </a:rPr>
              <a:t/>
            </a:r>
          </a:p>
          <a:p>
            <a:r>
              <a:rPr sz="1050">
                <a:solidFill>
                  <a:srgbClr val="F0F4F8"/>
                </a:solidFill>
                <a:latin typeface="Calibri"/>
              </a:rPr>
              <a:t>Layer 7  APPLICATION    HTTP, SMTP, DNS         SQL injection, XSS, phishing</a:t>
            </a:r>
          </a:p>
          <a:p>
            <a:r>
              <a:rPr sz="1050">
                <a:solidFill>
                  <a:srgbClr val="F0F4F8"/>
                </a:solidFill>
                <a:latin typeface="Calibri"/>
              </a:rPr>
              <a:t>Layer 6  PRESENTATION   Encryption, format      SSL stripping, weak ciphers</a:t>
            </a:r>
          </a:p>
          <a:p>
            <a:r>
              <a:rPr sz="1050">
                <a:solidFill>
                  <a:srgbClr val="F0F4F8"/>
                </a:solidFill>
                <a:latin typeface="Calibri"/>
              </a:rPr>
              <a:t>Layer 5  SESSION        Session management      Session hijacking, replay</a:t>
            </a:r>
          </a:p>
          <a:p>
            <a:r>
              <a:rPr sz="1050">
                <a:solidFill>
                  <a:srgbClr val="F0F4F8"/>
                </a:solidFill>
                <a:latin typeface="Calibri"/>
              </a:rPr>
              <a:t>Layer 4  TRANSPORT      TCP/UDP, ports          SYN flood, port scanning</a:t>
            </a:r>
          </a:p>
          <a:p>
            <a:r>
              <a:rPr sz="1050">
                <a:solidFill>
                  <a:srgbClr val="F0F4F8"/>
                </a:solidFill>
                <a:latin typeface="Calibri"/>
              </a:rPr>
              <a:t>Layer 3  NETWORK        IP addressing           IP spoofing, routing attacks</a:t>
            </a:r>
          </a:p>
          <a:p>
            <a:r>
              <a:rPr sz="1050">
                <a:solidFill>
                  <a:srgbClr val="F0F4F8"/>
                </a:solidFill>
                <a:latin typeface="Calibri"/>
              </a:rPr>
              <a:t>Layer 2  DATA LINK      MAC, Ethernet, WiFi     ARP spoofing, MAC flooding</a:t>
            </a:r>
          </a:p>
          <a:p>
            <a:r>
              <a:rPr sz="1050">
                <a:solidFill>
                  <a:srgbClr val="F0F4F8"/>
                </a:solidFill>
                <a:latin typeface="Calibri"/>
              </a:rPr>
              <a:t>Layer 1  PHYSICAL       Cables, wireless        Physical access, evil twin AP</a:t>
            </a:r>
          </a:p>
          <a:p>
            <a:r>
              <a:rPr sz="600">
                <a:latin typeface="Calibri"/>
              </a:rPr>
              <a:t/>
            </a:r>
          </a:p>
          <a:p>
            <a:r>
              <a:rPr sz="1050">
                <a:solidFill>
                  <a:srgbClr val="F0F4F8"/>
                </a:solidFill>
                <a:latin typeface="Calibri"/>
              </a:rPr>
              <a:t>MEMORY AID: "All People Seem To Need Data Processing"</a:t>
            </a:r>
          </a:p>
          <a:p>
            <a:r>
              <a:rPr sz="600">
                <a:latin typeface="Calibri"/>
              </a:rPr>
              <a:t/>
            </a:r>
          </a:p>
          <a:p>
            <a:r>
              <a:rPr sz="1050">
                <a:solidFill>
                  <a:srgbClr val="F0F4F8"/>
                </a:solidFill>
                <a:latin typeface="Calibri"/>
              </a:rPr>
              <a:t>Most attacks happen at Layer 7 (Application)</a:t>
            </a:r>
          </a:p>
          <a:p>
            <a:r>
              <a:rPr sz="1050">
                <a:solidFill>
                  <a:srgbClr val="F0F4F8"/>
                </a:solidFill>
                <a:latin typeface="Calibri"/>
              </a:rPr>
              <a:t>Most defenders focus on Layer 3 (Network) only</a:t>
            </a:r>
          </a:p>
          <a:p>
            <a:r>
              <a:rPr sz="1050">
                <a:solidFill>
                  <a:srgbClr val="F0F4F8"/>
                </a:solidFill>
                <a:latin typeface="Calibri"/>
              </a:rPr>
              <a:t>The gap = where attackers thrive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NETWORKING</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Three-step handshake diagram on left (normal)</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TCP HANDSHAKE &amp; SYN FLOOD</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E74C3C"/>
                </a:solidFill>
                <a:latin typeface="Calibri"/>
              </a:rPr>
              <a:t>NORMAL:                         ATTACK (SYN FLOOD):</a:t>
            </a:r>
          </a:p>
        </p:txBody>
      </p:sp>
      <p:sp>
        <p:nvSpPr>
          <p:cNvPr id="16" name="TextBox 15"/>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Client → Server: SYN            Attacker → Server: SYN × 10,000 Server → Client: SYN-ACK        Server → Attacker: SYN-ACK × 10,000 Client → Server: ACK            Attacker: (never sends ACK)</a:t>
            </a:r>
          </a:p>
        </p:txBody>
      </p:sp>
      <p:sp>
        <p:nvSpPr>
          <p:cNvPr id="17" name="Rectangle 16"/>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MITIGATION:</a:t>
            </a:r>
          </a:p>
        </p:txBody>
      </p:sp>
      <p:sp>
        <p:nvSpPr>
          <p:cNvPr id="20" name="TextBox 19"/>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SYN cookies — server doesn't commit resources until full handshake Rate limiting — block excessive SYN from single IP DDoS protection service (Cloudflare, AWS Shield)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NETWORKING</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Table with ports, protocols, and threat colour coding</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KEY PORTS — SECURITY RELEVANCE</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PORTS EVERY SECURITY PROFESSIONAL MUST KNOW</a:t>
            </a:r>
          </a:p>
          <a:p>
            <a:r>
              <a:rPr sz="600">
                <a:latin typeface="Calibri"/>
              </a:rPr>
              <a:t/>
            </a:r>
          </a:p>
          <a:p>
            <a:r>
              <a:rPr sz="1200" b="1">
                <a:solidFill>
                  <a:srgbClr val="E74C3C"/>
                </a:solidFill>
                <a:latin typeface="Calibri"/>
              </a:rPr>
              <a:t>PORT    PROTOCOL    SECURITY NOTE</a:t>
            </a:r>
          </a:p>
          <a:p>
            <a:r>
              <a:rPr sz="1050">
                <a:solidFill>
                  <a:srgbClr val="F0F4F8"/>
                </a:solidFill>
                <a:latin typeface="Calibri"/>
              </a:rPr>
              <a:t>─────────────────────────────────────────────────────</a:t>
            </a:r>
          </a:p>
          <a:p>
            <a:r>
              <a:rPr sz="1050">
                <a:solidFill>
                  <a:srgbClr val="F0F4F8"/>
                </a:solidFill>
                <a:latin typeface="Calibri"/>
              </a:rPr>
              <a:t>21      FTP         🔴 Plaintext file transfer — avoid entirely</a:t>
            </a:r>
          </a:p>
          <a:p>
            <a:r>
              <a:rPr sz="1050">
                <a:solidFill>
                  <a:srgbClr val="F0F4F8"/>
                </a:solidFill>
                <a:latin typeface="Calibri"/>
              </a:rPr>
              <a:t>22      SSH         🟢 Encrypted remote access — monitor for brute force</a:t>
            </a:r>
          </a:p>
          <a:p>
            <a:r>
              <a:rPr sz="1050">
                <a:solidFill>
                  <a:srgbClr val="F0F4F8"/>
                </a:solidFill>
                <a:latin typeface="Calibri"/>
              </a:rPr>
              <a:t>23      TELNET      🔴 NEVER use — sends everything in plaintext</a:t>
            </a:r>
          </a:p>
          <a:p>
            <a:r>
              <a:rPr sz="1050">
                <a:solidFill>
                  <a:srgbClr val="F0F4F8"/>
                </a:solidFill>
                <a:latin typeface="Calibri"/>
              </a:rPr>
              <a:t>25/587  SMTP        🟡 Email — check for open relays, monitor</a:t>
            </a:r>
          </a:p>
          <a:p>
            <a:r>
              <a:rPr sz="1050">
                <a:solidFill>
                  <a:srgbClr val="F0F4F8"/>
                </a:solidFill>
                <a:latin typeface="Calibri"/>
              </a:rPr>
              <a:t>53      DNS         🟡 Monitor for DNS tunnelling (data exfiltration)</a:t>
            </a:r>
          </a:p>
          <a:p>
            <a:r>
              <a:rPr sz="1050">
                <a:solidFill>
                  <a:srgbClr val="F0F4F8"/>
                </a:solidFill>
                <a:latin typeface="Calibri"/>
              </a:rPr>
              <a:t>80      HTTP        🟡 Redirect to HTTPS — no sensitive data over HTTP</a:t>
            </a:r>
          </a:p>
          <a:p>
            <a:r>
              <a:rPr sz="1050">
                <a:solidFill>
                  <a:srgbClr val="F0F4F8"/>
                </a:solidFill>
                <a:latin typeface="Calibri"/>
              </a:rPr>
              <a:t>443     HTTPS       🟢 Encrypted web — verify valid certificates</a:t>
            </a:r>
          </a:p>
          <a:p>
            <a:r>
              <a:rPr sz="1050">
                <a:solidFill>
                  <a:srgbClr val="F0F4F8"/>
                </a:solidFill>
                <a:latin typeface="Calibri"/>
              </a:rPr>
              <a:t>445     SMB         🔴 HIGH RISK — EternalBlue/WannaCry exploited this</a:t>
            </a:r>
          </a:p>
          <a:p>
            <a:r>
              <a:rPr sz="1050">
                <a:solidFill>
                  <a:srgbClr val="F0F4F8"/>
                </a:solidFill>
                <a:latin typeface="Calibri"/>
              </a:rPr>
              <a:t>3306    MySQL       🔴 Should NEVER be open to internet</a:t>
            </a:r>
          </a:p>
          <a:p>
            <a:r>
              <a:rPr sz="1050">
                <a:solidFill>
                  <a:srgbClr val="F0F4F8"/>
                </a:solidFill>
                <a:latin typeface="Calibri"/>
              </a:rPr>
              <a:t>3389    RDP         🔴 Remote Desktop — heavily brute-forced</a:t>
            </a:r>
          </a:p>
          <a:p>
            <a:r>
              <a:rPr sz="1050">
                <a:solidFill>
                  <a:srgbClr val="F0F4F8"/>
                </a:solidFill>
                <a:latin typeface="Calibri"/>
              </a:rPr>
              <a:t>8080    HTTP Alt    🟡 Often development/proxy — check if intentional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3</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E74C3C"/>
                </a:solidFill>
                <a:latin typeface="Calibri"/>
              </a:rPr>
              <a:t>MOD 3</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3 OPENER: LINUX</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E74C3C"/>
                </a:solidFill>
                <a:latin typeface="Calibri"/>
              </a:rPr>
              <a:t>LEVEL: BEGINNER</a:t>
            </a:r>
          </a:p>
          <a:p>
            <a:r>
              <a:rPr sz="1300" b="1">
                <a:solidFill>
                  <a:srgbClr val="E74C3C"/>
                </a:solidFill>
                <a:latin typeface="Calibri"/>
              </a:rPr>
              <a:t>MODULE 03</a:t>
            </a:r>
          </a:p>
          <a:p>
            <a:r>
              <a:rPr sz="1300" b="1">
                <a:solidFill>
                  <a:srgbClr val="E74C3C"/>
                </a:solidFill>
                <a:latin typeface="Calibri"/>
              </a:rPr>
              <a:t>LINUX &amp; COMMAND LINE</a:t>
            </a:r>
          </a:p>
          <a:p>
            <a:r>
              <a:rPr sz="1300" b="1">
                <a:solidFill>
                  <a:srgbClr val="E74C3C"/>
                </a:solidFill>
                <a:latin typeface="Calibri"/>
              </a:rPr>
              <a:t>FOR SECURITY</a:t>
            </a:r>
          </a:p>
          <a:p>
            <a:r>
              <a:rPr sz="1100">
                <a:solidFill>
                  <a:srgbClr val="F0F4F8"/>
                </a:solidFill>
                <a:latin typeface="Calibri"/>
              </a:rPr>
              <a:t>"96% of the world's servers run Linux.</a:t>
            </a:r>
          </a:p>
          <a:p>
            <a:r>
              <a:rPr sz="1100">
                <a:solidFill>
                  <a:srgbClr val="F0F4F8"/>
                </a:solidFill>
                <a:latin typeface="Calibri"/>
              </a:rPr>
              <a:t>100% of the world's best security tools run on Linux."</a:t>
            </a:r>
          </a:p>
          <a:p>
            <a:r>
              <a:rPr sz="1100">
                <a:solidFill>
                  <a:srgbClr val="F0F4F8"/>
                </a:solidFill>
                <a:latin typeface="Calibri"/>
              </a:rPr>
              <a:t>Navigation · File operations · Permissions</a:t>
            </a:r>
          </a:p>
          <a:p>
            <a:r>
              <a:rPr sz="1100">
                <a:solidFill>
                  <a:srgbClr val="F0F4F8"/>
                </a:solidFill>
                <a:latin typeface="Calibri"/>
              </a:rPr>
              <a:t>User management · Log analysis · Bash scripting</a:t>
            </a:r>
          </a:p>
          <a:p>
            <a:r>
              <a:rPr sz="1100">
                <a:solidFill>
                  <a:srgbClr val="F0F4F8"/>
                </a:solidFill>
                <a:latin typeface="Calibri"/>
              </a:rPr>
              <a:t>Kali Linux — the security professional's 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3</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LINUX</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Terminal-style dark card with three columns of commands in JetBrains Mono</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ESSENTIAL LINUX COMMANDS</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E74C3C"/>
                </a:solidFill>
                <a:latin typeface="Calibri"/>
              </a:rPr>
              <a:t>NAVIGATION &amp; FILES            SEARCHING                NETWORK</a:t>
            </a:r>
          </a:p>
        </p:txBody>
      </p:sp>
      <p:sp>
        <p:nvSpPr>
          <p:cNvPr id="16" name="TextBox 15"/>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              ─────────────            ────────── pwd  # Where am I?            grep "Failed" auth.log   ip addr ls -la  # All files           grep -r "pass" /etc/     ss -tlnp  # Ports</a:t>
            </a:r>
          </a:p>
        </p:txBody>
      </p:sp>
      <p:sp>
        <p:nvSpPr>
          <p:cNvPr id="17" name="Rectangle 16"/>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LOG ANALYSIS SUPERPOWERS:</a:t>
            </a:r>
          </a:p>
        </p:txBody>
      </p:sp>
      <p:sp>
        <p:nvSpPr>
          <p:cNvPr id="20" name="TextBox 19"/>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 Find all failed SSH logins: grep "Failed password" /var/log/auth.log | awk '{print $11}' | sort | uniq -c | sort -rn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3</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LINUX</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Large permission string breakdown: `-rwxr-xr--`</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FILE PERMISSIONS — VISUALISED</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E74C3C"/>
                </a:solidFill>
                <a:latin typeface="Calibri"/>
              </a:rPr>
              <a:t>SECURITY RULES:</a:t>
            </a:r>
          </a:p>
        </p:txBody>
      </p:sp>
      <p:sp>
        <p:nvSpPr>
          <p:cNvPr id="16" name="TextBox 15"/>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chmod 777  NEVER — world-writable is dangerous chmod 755  Web scripts and executables (rwxr-xr-x) chmod 644  Web-accessible files (rw-r--r--)</a:t>
            </a:r>
          </a:p>
        </p:txBody>
      </p:sp>
      <p:sp>
        <p:nvSpPr>
          <p:cNvPr id="17" name="Rectangle 16"/>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AUDIT COMMANDS:</a:t>
            </a:r>
          </a:p>
        </p:txBody>
      </p:sp>
      <p:sp>
        <p:nvSpPr>
          <p:cNvPr id="20" name="TextBox 19"/>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find / -perm -o+w  # World-writable files = risk find / -perm -4000  # SUID files = privilege escalation risk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4</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E74C3C"/>
                </a:solidFill>
                <a:latin typeface="Calibri"/>
              </a:rPr>
              <a:t>MOD 4</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4 OPENER: CRYPTOGRAPHY</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E74C3C"/>
                </a:solidFill>
                <a:latin typeface="Calibri"/>
              </a:rPr>
              <a:t>LEVEL: INTERMEDIATE</a:t>
            </a:r>
          </a:p>
          <a:p>
            <a:r>
              <a:rPr sz="1300" b="1">
                <a:solidFill>
                  <a:srgbClr val="E74C3C"/>
                </a:solidFill>
                <a:latin typeface="Calibri"/>
              </a:rPr>
              <a:t>MODULE 04</a:t>
            </a:r>
          </a:p>
          <a:p>
            <a:r>
              <a:rPr sz="1300" b="1">
                <a:solidFill>
                  <a:srgbClr val="E74C3C"/>
                </a:solidFill>
                <a:latin typeface="Calibri"/>
              </a:rPr>
              <a:t>CRYPTOGRAPHY</a:t>
            </a:r>
          </a:p>
          <a:p>
            <a:r>
              <a:rPr sz="1100">
                <a:solidFill>
                  <a:srgbClr val="F0F4F8"/>
                </a:solidFill>
                <a:latin typeface="Calibri"/>
              </a:rPr>
              <a:t>&amp; PKI</a:t>
            </a:r>
          </a:p>
          <a:p>
            <a:r>
              <a:rPr sz="1100">
                <a:solidFill>
                  <a:srgbClr val="F0F4F8"/>
                </a:solidFill>
                <a:latin typeface="Calibri"/>
              </a:rPr>
              <a:t>"The mathematics that protects</a:t>
            </a:r>
          </a:p>
          <a:p>
            <a:r>
              <a:rPr sz="1100">
                <a:solidFill>
                  <a:srgbClr val="F0F4F8"/>
                </a:solidFill>
                <a:latin typeface="Calibri"/>
              </a:rPr>
              <a:t>every secure transaction you make."</a:t>
            </a:r>
          </a:p>
          <a:p>
            <a:r>
              <a:rPr sz="1100">
                <a:solidFill>
                  <a:srgbClr val="F0F4F8"/>
                </a:solidFill>
                <a:latin typeface="Calibri"/>
              </a:rPr>
              <a:t>Symmetric vs Asymmetric · AES · RSA</a:t>
            </a:r>
          </a:p>
          <a:p>
            <a:r>
              <a:rPr sz="1100">
                <a:solidFill>
                  <a:srgbClr val="F0F4F8"/>
                </a:solidFill>
                <a:latin typeface="Calibri"/>
              </a:rPr>
              <a:t>Hashing (SHA-256 / bcrypt) · Digital signatures</a:t>
            </a:r>
          </a:p>
          <a:p>
            <a:r>
              <a:rPr sz="1100">
                <a:solidFill>
                  <a:srgbClr val="F0F4F8"/>
                </a:solidFill>
                <a:latin typeface="Calibri"/>
              </a:rPr>
              <a:t>TLS handshake · Public Key Infrastructure</a:t>
            </a:r>
          </a:p>
          <a:p>
            <a:r>
              <a:rPr sz="1100">
                <a:solidFill>
                  <a:srgbClr val="F0F4F8"/>
                </a:solidFill>
                <a:latin typeface="Calibri"/>
              </a:rPr>
              <a:t>Certificate Authorities · CyberChef labs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4</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CRYPTOGRAPHY</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Two-panel comparison</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SYMMETRIC VS ASYMMETRIC ENCRYPTION</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E74C3C"/>
                </a:solidFill>
                <a:latin typeface="Calibri"/>
              </a:rPr>
              <a:t>SYMMETRIC                         ASYMMETRIC</a:t>
            </a:r>
          </a:p>
        </p:txBody>
      </p:sp>
      <p:sp>
        <p:nvSpPr>
          <p:cNvPr id="16" name="TextBox 15"/>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             ───────────────────── Same key: encrypt AND decrypt     Public key: encrypt / verify Private key: decrypt / sign</a:t>
            </a:r>
          </a:p>
        </p:txBody>
      </p:sp>
      <p:sp>
        <p:nvSpPr>
          <p:cNvPr id="17" name="Rectangle 16"/>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REAL-WORLD USE:</a:t>
            </a:r>
          </a:p>
        </p:txBody>
      </p:sp>
      <p:sp>
        <p:nvSpPr>
          <p:cNvPr id="20" name="TextBox 19"/>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HTTPS = Asymmetric to exchange a key → Symmetric for all data Best of both worlds: security of asymmetric + speed of symmetric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4</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CRYPTOGRAPHY</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Input funnel → hash box → fixed-length output</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HASHING — THE SECURITY WORKHORSE</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E74C3C"/>
                </a:solidFill>
                <a:latin typeface="Calibri"/>
              </a:rPr>
              <a:t>SECURITY APPLICATIONS:</a:t>
            </a:r>
          </a:p>
        </p:txBody>
      </p:sp>
      <p:sp>
        <p:nvSpPr>
          <p:cNvPr id="16" name="TextBox 15"/>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Passwords     Store the HASH, never the password File integrity Hash before and after — any change is detected Blockchain    Each block's hash includes previous block's hash</a:t>
            </a:r>
          </a:p>
        </p:txBody>
      </p:sp>
      <p:sp>
        <p:nvSpPr>
          <p:cNvPr id="17" name="Rectangle 16"/>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STATUS:</a:t>
            </a:r>
          </a:p>
        </p:txBody>
      </p:sp>
      <p:sp>
        <p:nvSpPr>
          <p:cNvPr id="20" name="TextBox 19"/>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MD5     🔴 BROKEN — collisions found 2004 SHA-1   🔴 BROKEN — deprecated 2017 SHA-256 🟢 SECURE — current standard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4</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CRYPTOGRAPHY</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Step-by-step sequence diagram with browser on left, server on right</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TLS HANDSHAKE</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HOW HTTPS WORKS — THE TLS HANDSHAKE</a:t>
            </a:r>
          </a:p>
          <a:p>
            <a:r>
              <a:rPr sz="600">
                <a:latin typeface="Calibri"/>
              </a:rPr>
              <a:t/>
            </a:r>
          </a:p>
          <a:p>
            <a:r>
              <a:rPr sz="1200" b="1">
                <a:solidFill>
                  <a:srgbClr val="E74C3C"/>
                </a:solidFill>
                <a:latin typeface="Calibri"/>
              </a:rPr>
              <a:t>BROWSER                                    SERVER</a:t>
            </a:r>
          </a:p>
          <a:p>
            <a:r>
              <a:rPr sz="1000">
                <a:solidFill>
                  <a:srgbClr val="8BA5BE"/>
                </a:solidFill>
                <a:latin typeface="Calibri"/>
              </a:rPr>
              <a:t>      ◦  │ ──── 1. Client Hello ────────────────→ │</a:t>
            </a:r>
          </a:p>
          <a:p>
            <a:r>
              <a:rPr sz="1000">
                <a:solidFill>
                  <a:srgbClr val="8BA5BE"/>
                </a:solidFill>
                <a:latin typeface="Calibri"/>
              </a:rPr>
              <a:t>      ◦  │      "I support TLS 1.3, here are      │</a:t>
            </a:r>
          </a:p>
          <a:p>
            <a:r>
              <a:rPr sz="1000">
                <a:solidFill>
                  <a:srgbClr val="8BA5BE"/>
                </a:solidFill>
                <a:latin typeface="Calibri"/>
              </a:rPr>
              <a:t>      ◦  │       my cipher suites"                │</a:t>
            </a:r>
          </a:p>
          <a:p>
            <a:r>
              <a:rPr sz="1000">
                <a:solidFill>
                  <a:srgbClr val="8BA5BE"/>
                </a:solidFill>
                <a:latin typeface="Calibri"/>
              </a:rPr>
              <a:t>      ◦  │                                        │</a:t>
            </a:r>
          </a:p>
          <a:p>
            <a:r>
              <a:rPr sz="1000">
                <a:solidFill>
                  <a:srgbClr val="8BA5BE"/>
                </a:solidFill>
                <a:latin typeface="Calibri"/>
              </a:rPr>
              <a:t>      ◦  │ ←─── 2. Server Hello + Certificate ─── │</a:t>
            </a:r>
          </a:p>
          <a:p>
            <a:r>
              <a:rPr sz="1000">
                <a:solidFill>
                  <a:srgbClr val="8BA5BE"/>
                </a:solidFill>
                <a:latin typeface="Calibri"/>
              </a:rPr>
              <a:t>      ◦  │      "Here's my cert, here's my        │</a:t>
            </a:r>
          </a:p>
          <a:p>
            <a:r>
              <a:rPr sz="1000">
                <a:solidFill>
                  <a:srgbClr val="8BA5BE"/>
                </a:solidFill>
                <a:latin typeface="Calibri"/>
              </a:rPr>
              <a:t>      ◦  │       public key"                      │</a:t>
            </a:r>
          </a:p>
          <a:p>
            <a:r>
              <a:rPr sz="1000">
                <a:solidFill>
                  <a:srgbClr val="8BA5BE"/>
                </a:solidFill>
                <a:latin typeface="Calibri"/>
              </a:rPr>
              <a:t>      ◦  │                                        │</a:t>
            </a:r>
          </a:p>
          <a:p>
            <a:r>
              <a:rPr sz="1000">
                <a:solidFill>
                  <a:srgbClr val="8BA5BE"/>
                </a:solidFill>
                <a:latin typeface="Calibri"/>
              </a:rPr>
              <a:t>      ◦  │  3. Browser verifies certificate:      │</a:t>
            </a:r>
          </a:p>
          <a:p>
            <a:r>
              <a:rPr sz="1000">
                <a:solidFill>
                  <a:srgbClr val="8BA5BE"/>
                </a:solidFill>
                <a:latin typeface="Calibri"/>
              </a:rPr>
              <a:t>      ◦  │     ✓ Signed by trusted CA?            │</a:t>
            </a:r>
          </a:p>
          <a:p>
            <a:r>
              <a:rPr sz="1000">
                <a:solidFill>
                  <a:srgbClr val="8BA5BE"/>
                </a:solidFill>
                <a:latin typeface="Calibri"/>
              </a:rPr>
              <a:t>      ◦  │     ✓ Domain matches?                  │</a:t>
            </a:r>
          </a:p>
          <a:p>
            <a:r>
              <a:rPr sz="1000">
                <a:solidFill>
                  <a:srgbClr val="8BA5BE"/>
                </a:solidFill>
                <a:latin typeface="Calibri"/>
              </a:rPr>
              <a:t>      ◦  │     ✓ Not expired?                     │</a:t>
            </a:r>
          </a:p>
          <a:p>
            <a:r>
              <a:rPr sz="1000">
                <a:solidFill>
                  <a:srgbClr val="8BA5BE"/>
                </a:solidFill>
                <a:latin typeface="Calibri"/>
              </a:rPr>
              <a:t>      ◦  │                                        │</a:t>
            </a:r>
          </a:p>
          <a:p>
            <a:r>
              <a:rPr sz="1000">
                <a:solidFill>
                  <a:srgbClr val="8BA5BE"/>
                </a:solidFill>
                <a:latin typeface="Calibri"/>
              </a:rPr>
              <a:t>      ◦  │ ──── 4. Key Exchange ────────────────→ │</a:t>
            </a:r>
          </a:p>
          <a:p>
            <a:r>
              <a:rPr sz="1000">
                <a:solidFill>
                  <a:srgbClr val="8BA5BE"/>
                </a:solidFill>
                <a:latin typeface="Calibri"/>
              </a:rPr>
              <a:t>      ◦  │ ←─── 4. Key Exchange ─────────────── │</a:t>
            </a:r>
          </a:p>
          <a:p>
            <a:r>
              <a:rPr sz="1000">
                <a:solidFill>
                  <a:srgbClr val="8BA5BE"/>
                </a:solidFill>
                <a:latin typeface="Calibri"/>
              </a:rPr>
              <a:t>      ◦  │      Both derive the SAME session key  │</a:t>
            </a:r>
          </a:p>
          <a:p>
            <a:r>
              <a:rPr sz="1000">
                <a:solidFill>
                  <a:srgbClr val="8BA5BE"/>
                </a:solidFill>
                <a:latin typeface="Calibri"/>
              </a:rPr>
              <a:t>      ◦  │       without sending it over the wire │</a:t>
            </a:r>
          </a:p>
          <a:p>
            <a:r>
              <a:rPr sz="1000">
                <a:solidFill>
                  <a:srgbClr val="8BA5BE"/>
                </a:solidFill>
                <a:latin typeface="Calibri"/>
              </a:rPr>
              <a:t>      ◦  │                                        │</a:t>
            </a:r>
          </a:p>
          <a:p>
            <a:r>
              <a:rPr sz="1000">
                <a:solidFill>
                  <a:srgbClr val="8BA5BE"/>
                </a:solidFill>
                <a:latin typeface="Calibri"/>
              </a:rPr>
              <a:t>      ◦  │ ══════ 5. AES-256 ENCRYPTED DATA ════ │</a:t>
            </a:r>
          </a:p>
          <a:p>
            <a:r>
              <a:rPr sz="600">
                <a:latin typeface="Calibri"/>
              </a:rPr>
              <a:t/>
            </a:r>
          </a:p>
          <a:p>
            <a:r>
              <a:rPr sz="1050">
                <a:solidFill>
                  <a:srgbClr val="F0F4F8"/>
                </a:solidFill>
                <a:latin typeface="Calibri"/>
              </a:rPr>
              <a:t>Certificate is what makes the padlock. Certificate Chain = Root CA → You.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5</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E74C3C"/>
                </a:solidFill>
                <a:latin typeface="Calibri"/>
              </a:rPr>
              <a:t>MOD 5</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5 OPENER: NETWORK SECURITY</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E74C3C"/>
                </a:solidFill>
                <a:latin typeface="Calibri"/>
              </a:rPr>
              <a:t>LEVEL: INTERMEDIATE</a:t>
            </a:r>
          </a:p>
          <a:p>
            <a:r>
              <a:rPr sz="1300" b="1">
                <a:solidFill>
                  <a:srgbClr val="E74C3C"/>
                </a:solidFill>
                <a:latin typeface="Calibri"/>
              </a:rPr>
              <a:t>MODULE 05</a:t>
            </a:r>
          </a:p>
          <a:p>
            <a:r>
              <a:rPr sz="1300" b="1">
                <a:solidFill>
                  <a:srgbClr val="E74C3C"/>
                </a:solidFill>
                <a:latin typeface="Calibri"/>
              </a:rPr>
              <a:t>NETWORK SECURITY</a:t>
            </a:r>
          </a:p>
          <a:p>
            <a:r>
              <a:rPr sz="1100">
                <a:solidFill>
                  <a:srgbClr val="F0F4F8"/>
                </a:solidFill>
                <a:latin typeface="Calibri"/>
              </a:rPr>
              <a:t>"The firewall is not security. It's one layer</a:t>
            </a:r>
          </a:p>
          <a:p>
            <a:r>
              <a:rPr sz="1100">
                <a:solidFill>
                  <a:srgbClr val="F0F4F8"/>
                </a:solidFill>
                <a:latin typeface="Calibri"/>
              </a:rPr>
              <a:t>of a defence-in-depth strategy."</a:t>
            </a:r>
          </a:p>
          <a:p>
            <a:r>
              <a:rPr sz="1100">
                <a:solidFill>
                  <a:srgbClr val="F0F4F8"/>
                </a:solidFill>
                <a:latin typeface="Calibri"/>
              </a:rPr>
              <a:t>Firewall types &amp; iptables · IDS vs IPS</a:t>
            </a:r>
          </a:p>
          <a:p>
            <a:r>
              <a:rPr sz="1100">
                <a:solidFill>
                  <a:srgbClr val="F0F4F8"/>
                </a:solidFill>
                <a:latin typeface="Calibri"/>
              </a:rPr>
              <a:t>VPN implementation · Wireless security (WPA2/WPA3)</a:t>
            </a:r>
          </a:p>
          <a:p>
            <a:r>
              <a:rPr sz="1100">
                <a:solidFill>
                  <a:srgbClr val="F0F4F8"/>
                </a:solidFill>
                <a:latin typeface="Calibri"/>
              </a:rPr>
              <a:t>ARP spoofing · DNS poisoning</a:t>
            </a:r>
          </a:p>
          <a:p>
            <a:r>
              <a:rPr sz="1100">
                <a:solidFill>
                  <a:srgbClr val="F0F4F8"/>
                </a:solidFill>
                <a:latin typeface="Calibri"/>
              </a:rPr>
              <a:t>Shodan reconnaissance · Nmap mastery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5</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NETWORK SECURITY</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Network diagram showing three zones: Internet (red), DMZ (yellow), Internal (green)</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FIREWALL RULES</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FIREWALL ARCHITECTURE — DEFENCE IN DEPTH</a:t>
            </a:r>
          </a:p>
          <a:p>
            <a:r>
              <a:rPr sz="600">
                <a:latin typeface="Calibri"/>
              </a:rPr>
              <a:t/>
            </a:r>
          </a:p>
          <a:p>
            <a:r>
              <a:rPr sz="1050">
                <a:solidFill>
                  <a:srgbClr val="F0F4F8"/>
                </a:solidFill>
                <a:latin typeface="Calibri"/>
              </a:rPr>
              <a:t>INTERNET          │  DMZ (Demilitarised Zone)  │  INTERNAL NETWORK</a:t>
            </a:r>
          </a:p>
          <a:p>
            <a:r>
              <a:rPr sz="1050">
                <a:solidFill>
                  <a:srgbClr val="F0F4F8"/>
                </a:solidFill>
                <a:latin typeface="Calibri"/>
              </a:rPr>
              <a:t>─────────────     │  ─────────────────────────  │  ──────────────────</a:t>
            </a:r>
          </a:p>
          <a:p>
            <a:r>
              <a:rPr sz="1050">
                <a:solidFill>
                  <a:srgbClr val="F0F4F8"/>
                </a:solidFill>
                <a:latin typeface="Calibri"/>
              </a:rPr>
              <a:t>All traffic       │  Web server: 80, 443        │  Database: 3306</a:t>
            </a:r>
          </a:p>
          <a:p>
            <a:r>
              <a:rPr sz="1000">
                <a:solidFill>
                  <a:srgbClr val="8BA5BE"/>
                </a:solidFill>
                <a:latin typeface="Calibri"/>
              </a:rPr>
              <a:t>      ◦  │  Mail server: 25, 587        │  Internal apps</a:t>
            </a:r>
          </a:p>
          <a:p>
            <a:r>
              <a:rPr sz="1000">
                <a:solidFill>
                  <a:srgbClr val="8BA5BE"/>
                </a:solidFill>
                <a:latin typeface="Calibri"/>
              </a:rPr>
              <a:t>      ◦  ↓        │  DNS server: 53              │  Workstations</a:t>
            </a:r>
          </a:p>
          <a:p>
            <a:r>
              <a:rPr sz="1000">
                <a:solidFill>
                  <a:srgbClr val="8BA5BE"/>
                </a:solidFill>
                <a:latin typeface="Calibri"/>
              </a:rPr>
              <a:t>      ◦  FIREWALL 1    │                     ↓        │</a:t>
            </a:r>
          </a:p>
          <a:p>
            <a:r>
              <a:rPr sz="1000">
                <a:solidFill>
                  <a:srgbClr val="8BA5BE"/>
                </a:solidFill>
                <a:latin typeface="Calibri"/>
              </a:rPr>
              <a:t>      ◦  Allow 80,443  │              FIREWALL 2      │</a:t>
            </a:r>
          </a:p>
          <a:p>
            <a:r>
              <a:rPr sz="1000">
                <a:solidFill>
                  <a:srgbClr val="8BA5BE"/>
                </a:solidFill>
                <a:latin typeface="Calibri"/>
              </a:rPr>
              <a:t>      ◦  Allow 25,587  │              Allow only      │</a:t>
            </a:r>
          </a:p>
          <a:p>
            <a:r>
              <a:rPr sz="1000">
                <a:solidFill>
                  <a:srgbClr val="8BA5BE"/>
                </a:solidFill>
                <a:latin typeface="Calibri"/>
              </a:rPr>
              <a:t>      ◦  Block all     │              specific DB      │</a:t>
            </a:r>
          </a:p>
          <a:p>
            <a:r>
              <a:rPr sz="1000">
                <a:solidFill>
                  <a:srgbClr val="8BA5BE"/>
                </a:solidFill>
                <a:latin typeface="Calibri"/>
              </a:rPr>
              <a:t>      ◦  else          │              connections      │</a:t>
            </a:r>
          </a:p>
          <a:p>
            <a:r>
              <a:rPr sz="600">
                <a:latin typeface="Calibri"/>
              </a:rPr>
              <a:t/>
            </a:r>
          </a:p>
          <a:p>
            <a:r>
              <a:rPr sz="1050">
                <a:solidFill>
                  <a:srgbClr val="F0F4F8"/>
                </a:solidFill>
                <a:latin typeface="Calibri"/>
              </a:rPr>
              <a:t># UFW Example:</a:t>
            </a:r>
          </a:p>
          <a:p>
            <a:r>
              <a:rPr sz="1050">
                <a:solidFill>
                  <a:srgbClr val="F0F4F8"/>
                </a:solidFill>
                <a:latin typeface="Calibri"/>
              </a:rPr>
              <a:t>ufw allow 22/tcp              # SSH from admin only</a:t>
            </a:r>
          </a:p>
          <a:p>
            <a:r>
              <a:rPr sz="1050">
                <a:solidFill>
                  <a:srgbClr val="F0F4F8"/>
                </a:solidFill>
                <a:latin typeface="Calibri"/>
              </a:rPr>
              <a:t>ufw allow 443/tcp             # HTTPS from anywhere</a:t>
            </a:r>
          </a:p>
          <a:p>
            <a:r>
              <a:rPr sz="1050">
                <a:solidFill>
                  <a:srgbClr val="F0F4F8"/>
                </a:solidFill>
                <a:latin typeface="Calibri"/>
              </a:rPr>
              <a:t>ufw deny 3306                 # MySQL NEVER public</a:t>
            </a:r>
          </a:p>
          <a:p>
            <a:r>
              <a:rPr sz="1050">
                <a:solidFill>
                  <a:srgbClr val="F0F4F8"/>
                </a:solidFill>
                <a:latin typeface="Calibri"/>
              </a:rPr>
              <a:t>ufw deny 23/tcp               # Telnet blocked</a:t>
            </a:r>
          </a:p>
          <a:p>
            <a:r>
              <a:rPr sz="1050">
                <a:solidFill>
                  <a:srgbClr val="F0F4F8"/>
                </a:solidFill>
                <a:latin typeface="Calibri"/>
              </a:rPr>
              <a:t>ufw default deny incoming     # Default deny all inbound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5</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NETWORK SECURITY</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Shodan interface screenshot (generic representation)</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SHODAN — THE SECURITY PROFESSIONAL'S SEARCH ENGINE</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65811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E74C3C"/>
                </a:solidFill>
                <a:latin typeface="Calibri"/>
              </a:rPr>
              <a:t>ATTACKER SEARCHES:</a:t>
            </a:r>
          </a:p>
        </p:txBody>
      </p:sp>
      <p:sp>
        <p:nvSpPr>
          <p:cNvPr id="16" name="TextBox 15"/>
          <p:cNvSpPr txBox="1"/>
          <p:nvPr/>
        </p:nvSpPr>
        <p:spPr>
          <a:xfrm>
            <a:off x="4736592" y="1664208"/>
            <a:ext cx="3465576" cy="1127760"/>
          </a:xfrm>
          <a:prstGeom prst="rect">
            <a:avLst/>
          </a:prstGeom>
          <a:noFill/>
        </p:spPr>
        <p:txBody>
          <a:bodyPr wrap="square">
            <a:spAutoFit/>
          </a:bodyPr>
          <a:lstStyle/>
          <a:p>
            <a:pPr algn="l"/>
            <a:r>
              <a:rPr sz="950" b="0" i="0">
                <a:solidFill>
                  <a:srgbClr val="F0F4F8"/>
                </a:solidFill>
                <a:latin typeface="Calibri"/>
              </a:rPr>
              <a:t>country:NG port:3306          # Nigerian MySQL databases open to internet country:NG port:3389          # RDP servers in Nigeria country:NG "default password" # Devices still using default credentials</a:t>
            </a:r>
          </a:p>
        </p:txBody>
      </p:sp>
      <p:sp>
        <p:nvSpPr>
          <p:cNvPr id="17" name="Rectangle 16"/>
          <p:cNvSpPr/>
          <p:nvPr/>
        </p:nvSpPr>
        <p:spPr>
          <a:xfrm>
            <a:off x="8421624" y="1207008"/>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65811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80160"/>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20" name="TextBox 19"/>
          <p:cNvSpPr txBox="1"/>
          <p:nvPr/>
        </p:nvSpPr>
        <p:spPr>
          <a:xfrm>
            <a:off x="8915400" y="1298448"/>
            <a:ext cx="3081528" cy="365760"/>
          </a:xfrm>
          <a:prstGeom prst="rect">
            <a:avLst/>
          </a:prstGeom>
          <a:noFill/>
        </p:spPr>
        <p:txBody>
          <a:bodyPr wrap="square">
            <a:spAutoFit/>
          </a:bodyPr>
          <a:lstStyle/>
          <a:p>
            <a:pPr algn="l"/>
            <a:r>
              <a:rPr sz="1100" b="1" i="0">
                <a:solidFill>
                  <a:srgbClr val="F5A623"/>
                </a:solidFill>
                <a:latin typeface="Calibri"/>
              </a:rPr>
              <a:t>MongoDB databases in Nigeria with no authentication</a:t>
            </a:r>
          </a:p>
        </p:txBody>
      </p:sp>
      <p:sp>
        <p:nvSpPr>
          <p:cNvPr id="21" name="TextBox 20"/>
          <p:cNvSpPr txBox="1"/>
          <p:nvPr/>
        </p:nvSpPr>
        <p:spPr>
          <a:xfrm>
            <a:off x="8531352" y="1664208"/>
            <a:ext cx="3465576" cy="1127760"/>
          </a:xfrm>
          <a:prstGeom prst="rect">
            <a:avLst/>
          </a:prstGeom>
          <a:noFill/>
        </p:spPr>
        <p:txBody>
          <a:bodyPr wrap="square">
            <a:spAutoFit/>
          </a:bodyPr>
          <a:lstStyle/>
          <a:p>
            <a:pPr algn="l"/>
            <a:r>
              <a:rPr sz="950" b="0" i="0">
                <a:solidFill>
                  <a:srgbClr val="F0F4F8"/>
                </a:solidFill>
                <a:latin typeface="Calibri"/>
              </a:rPr>
              <a:t>MongoDB databases in Nigeria with no authentication</a:t>
            </a:r>
          </a:p>
        </p:txBody>
      </p:sp>
      <p:sp>
        <p:nvSpPr>
          <p:cNvPr id="22" name="Rectangle 21"/>
          <p:cNvSpPr/>
          <p:nvPr/>
        </p:nvSpPr>
        <p:spPr>
          <a:xfrm>
            <a:off x="4626864" y="3011424"/>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26864" y="3011424"/>
            <a:ext cx="50292" cy="1658112"/>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36592" y="3084576"/>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25" name="TextBox 24"/>
          <p:cNvSpPr txBox="1"/>
          <p:nvPr/>
        </p:nvSpPr>
        <p:spPr>
          <a:xfrm>
            <a:off x="5120640" y="3102864"/>
            <a:ext cx="3081528" cy="365760"/>
          </a:xfrm>
          <a:prstGeom prst="rect">
            <a:avLst/>
          </a:prstGeom>
          <a:noFill/>
        </p:spPr>
        <p:txBody>
          <a:bodyPr wrap="square">
            <a:spAutoFit/>
          </a:bodyPr>
          <a:lstStyle/>
          <a:p>
            <a:pPr algn="l"/>
            <a:r>
              <a:rPr sz="1100" b="1" i="0">
                <a:solidFill>
                  <a:srgbClr val="00B894"/>
                </a:solidFill>
                <a:latin typeface="Calibri"/>
              </a:rPr>
              <a:t>IP cameras with default credentials (admin/admin)</a:t>
            </a:r>
          </a:p>
        </p:txBody>
      </p:sp>
      <p:sp>
        <p:nvSpPr>
          <p:cNvPr id="26" name="TextBox 25"/>
          <p:cNvSpPr txBox="1"/>
          <p:nvPr/>
        </p:nvSpPr>
        <p:spPr>
          <a:xfrm>
            <a:off x="4736592" y="3468624"/>
            <a:ext cx="3465576" cy="1127760"/>
          </a:xfrm>
          <a:prstGeom prst="rect">
            <a:avLst/>
          </a:prstGeom>
          <a:noFill/>
        </p:spPr>
        <p:txBody>
          <a:bodyPr wrap="square">
            <a:spAutoFit/>
          </a:bodyPr>
          <a:lstStyle/>
          <a:p>
            <a:pPr algn="l"/>
            <a:r>
              <a:rPr sz="950" b="0" i="0">
                <a:solidFill>
                  <a:srgbClr val="F0F4F8"/>
                </a:solidFill>
                <a:latin typeface="Calibri"/>
              </a:rPr>
              <a:t>IP cameras with default credentials (admin/admin)</a:t>
            </a:r>
          </a:p>
        </p:txBody>
      </p:sp>
      <p:sp>
        <p:nvSpPr>
          <p:cNvPr id="27" name="Rectangle 26"/>
          <p:cNvSpPr/>
          <p:nvPr/>
        </p:nvSpPr>
        <p:spPr>
          <a:xfrm>
            <a:off x="8421624" y="3011424"/>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421624" y="3011424"/>
            <a:ext cx="50292" cy="1658112"/>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31352" y="3084576"/>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30" name="TextBox 29"/>
          <p:cNvSpPr txBox="1"/>
          <p:nvPr/>
        </p:nvSpPr>
        <p:spPr>
          <a:xfrm>
            <a:off x="8915400" y="3102864"/>
            <a:ext cx="3081528" cy="365760"/>
          </a:xfrm>
          <a:prstGeom prst="rect">
            <a:avLst/>
          </a:prstGeom>
          <a:noFill/>
        </p:spPr>
        <p:txBody>
          <a:bodyPr wrap="square">
            <a:spAutoFit/>
          </a:bodyPr>
          <a:lstStyle/>
          <a:p>
            <a:pPr algn="l"/>
            <a:r>
              <a:rPr sz="1100" b="1" i="0">
                <a:solidFill>
                  <a:srgbClr val="00C2D4"/>
                </a:solidFill>
                <a:latin typeface="Calibri"/>
              </a:rPr>
              <a:t>Old WordPress sites exposing /wp-admin to internet</a:t>
            </a:r>
          </a:p>
        </p:txBody>
      </p:sp>
      <p:sp>
        <p:nvSpPr>
          <p:cNvPr id="31" name="TextBox 30"/>
          <p:cNvSpPr txBox="1"/>
          <p:nvPr/>
        </p:nvSpPr>
        <p:spPr>
          <a:xfrm>
            <a:off x="8531352" y="3468624"/>
            <a:ext cx="3465576" cy="1127760"/>
          </a:xfrm>
          <a:prstGeom prst="rect">
            <a:avLst/>
          </a:prstGeom>
          <a:noFill/>
        </p:spPr>
        <p:txBody>
          <a:bodyPr wrap="square">
            <a:spAutoFit/>
          </a:bodyPr>
          <a:lstStyle/>
          <a:p>
            <a:pPr algn="l"/>
            <a:r>
              <a:rPr sz="950" b="0" i="0">
                <a:solidFill>
                  <a:srgbClr val="F0F4F8"/>
                </a:solidFill>
                <a:latin typeface="Calibri"/>
              </a:rPr>
              <a:t>Old WordPress sites exposing /wp-admin to internet</a:t>
            </a:r>
          </a:p>
        </p:txBody>
      </p:sp>
      <p:sp>
        <p:nvSpPr>
          <p:cNvPr id="32" name="Rectangle 31"/>
          <p:cNvSpPr/>
          <p:nvPr/>
        </p:nvSpPr>
        <p:spPr>
          <a:xfrm>
            <a:off x="4626864" y="4815840"/>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26864" y="4815840"/>
            <a:ext cx="50292" cy="165811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36592" y="4888992"/>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35" name="TextBox 34"/>
          <p:cNvSpPr txBox="1"/>
          <p:nvPr/>
        </p:nvSpPr>
        <p:spPr>
          <a:xfrm>
            <a:off x="5120640" y="4907280"/>
            <a:ext cx="3081528" cy="365760"/>
          </a:xfrm>
          <a:prstGeom prst="rect">
            <a:avLst/>
          </a:prstGeom>
          <a:noFill/>
        </p:spPr>
        <p:txBody>
          <a:bodyPr wrap="square">
            <a:spAutoFit/>
          </a:bodyPr>
          <a:lstStyle/>
          <a:p>
            <a:pPr algn="l"/>
            <a:r>
              <a:rPr sz="1100" b="1" i="0">
                <a:solidFill>
                  <a:srgbClr val="E74C3C"/>
                </a:solidFill>
                <a:latin typeface="Calibri"/>
              </a:rPr>
              <a:t>Database connection strings in indexed error pages</a:t>
            </a:r>
          </a:p>
        </p:txBody>
      </p:sp>
      <p:sp>
        <p:nvSpPr>
          <p:cNvPr id="36" name="TextBox 35"/>
          <p:cNvSpPr txBox="1"/>
          <p:nvPr/>
        </p:nvSpPr>
        <p:spPr>
          <a:xfrm>
            <a:off x="4736592" y="5273040"/>
            <a:ext cx="3465576" cy="1127760"/>
          </a:xfrm>
          <a:prstGeom prst="rect">
            <a:avLst/>
          </a:prstGeom>
          <a:noFill/>
        </p:spPr>
        <p:txBody>
          <a:bodyPr wrap="square">
            <a:spAutoFit/>
          </a:bodyPr>
          <a:lstStyle/>
          <a:p>
            <a:pPr algn="l"/>
            <a:r>
              <a:rPr sz="950" b="0" i="0">
                <a:solidFill>
                  <a:srgbClr val="F0F4F8"/>
                </a:solidFill>
                <a:latin typeface="Calibri"/>
              </a:rPr>
              <a:t>Database connection strings in indexed error pages</a:t>
            </a:r>
          </a:p>
        </p:txBody>
      </p:sp>
      <p:sp>
        <p:nvSpPr>
          <p:cNvPr id="37" name="Rectangle 36"/>
          <p:cNvSpPr/>
          <p:nvPr/>
        </p:nvSpPr>
        <p:spPr>
          <a:xfrm>
            <a:off x="8421624" y="4815840"/>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421624" y="4815840"/>
            <a:ext cx="50292" cy="165811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31352" y="4907280"/>
            <a:ext cx="3465576" cy="365760"/>
          </a:xfrm>
          <a:prstGeom prst="rect">
            <a:avLst/>
          </a:prstGeom>
          <a:noFill/>
        </p:spPr>
        <p:txBody>
          <a:bodyPr wrap="square">
            <a:spAutoFit/>
          </a:bodyPr>
          <a:lstStyle/>
          <a:p>
            <a:pPr algn="l"/>
            <a:r>
              <a:rPr sz="1100" b="1" i="0">
                <a:solidFill>
                  <a:srgbClr val="E74C3C"/>
                </a:solidFill>
                <a:latin typeface="Calibri"/>
              </a:rPr>
              <a:t>DEFENDER USE:</a:t>
            </a:r>
          </a:p>
        </p:txBody>
      </p:sp>
      <p:sp>
        <p:nvSpPr>
          <p:cNvPr id="40" name="TextBox 39"/>
          <p:cNvSpPr txBox="1"/>
          <p:nvPr/>
        </p:nvSpPr>
        <p:spPr>
          <a:xfrm>
            <a:off x="8531352" y="5273040"/>
            <a:ext cx="3465576" cy="1127760"/>
          </a:xfrm>
          <a:prstGeom prst="rect">
            <a:avLst/>
          </a:prstGeom>
          <a:noFill/>
        </p:spPr>
        <p:txBody>
          <a:bodyPr wrap="square">
            <a:spAutoFit/>
          </a:bodyPr>
          <a:lstStyle/>
          <a:p>
            <a:pPr algn="l"/>
            <a:r>
              <a:rPr sz="950" b="0" i="0">
                <a:solidFill>
                  <a:srgbClr val="F0F4F8"/>
                </a:solidFill>
                <a:latin typeface="Calibri"/>
              </a:rPr>
              <a:t>Search YOUR organisation's IP range on Shodan. If Shodan can see it — so can every attacker in the world. Anything visible but unintended = immediate security action required.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6</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E74C3C"/>
                </a:solidFill>
                <a:latin typeface="Calibri"/>
              </a:rPr>
              <a:t>MOD 6</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6 OPENER: ETHICAL HACKING</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E74C3C"/>
                </a:solidFill>
                <a:latin typeface="Calibri"/>
              </a:rPr>
              <a:t>LEVEL: INTERMEDIATE</a:t>
            </a:r>
          </a:p>
          <a:p>
            <a:r>
              <a:rPr sz="1300" b="1">
                <a:solidFill>
                  <a:srgbClr val="E74C3C"/>
                </a:solidFill>
                <a:latin typeface="Calibri"/>
              </a:rPr>
              <a:t>MODULE 06</a:t>
            </a:r>
          </a:p>
          <a:p>
            <a:r>
              <a:rPr sz="1300" b="1">
                <a:solidFill>
                  <a:srgbClr val="E74C3C"/>
                </a:solidFill>
                <a:latin typeface="Calibri"/>
              </a:rPr>
              <a:t>ETHICAL HACKING &amp;</a:t>
            </a:r>
          </a:p>
          <a:p>
            <a:r>
              <a:rPr sz="1300" b="1">
                <a:solidFill>
                  <a:srgbClr val="E74C3C"/>
                </a:solidFill>
                <a:latin typeface="Calibri"/>
              </a:rPr>
              <a:t>PENETRATION TESTING</a:t>
            </a:r>
          </a:p>
          <a:p>
            <a:r>
              <a:rPr sz="1100">
                <a:solidFill>
                  <a:srgbClr val="F0F4F8"/>
                </a:solidFill>
                <a:latin typeface="Calibri"/>
              </a:rPr>
              <a:t>"Authorised. Documented. Professional."</a:t>
            </a:r>
          </a:p>
          <a:p>
            <a:r>
              <a:rPr sz="1100">
                <a:solidFill>
                  <a:srgbClr val="F0F4F8"/>
                </a:solidFill>
                <a:latin typeface="Calibri"/>
              </a:rPr>
              <a:t>PTES methodology · Pre-engagement requirements</a:t>
            </a:r>
          </a:p>
          <a:p>
            <a:r>
              <a:rPr sz="1100">
                <a:solidFill>
                  <a:srgbClr val="F0F4F8"/>
                </a:solidFill>
                <a:latin typeface="Calibri"/>
              </a:rPr>
              <a:t>Intelligence gathering (OSINT) · Vulnerability analysis</a:t>
            </a:r>
          </a:p>
          <a:p>
            <a:r>
              <a:rPr sz="1100">
                <a:solidFill>
                  <a:srgbClr val="F0F4F8"/>
                </a:solidFill>
                <a:latin typeface="Calibri"/>
              </a:rPr>
              <a:t>Exploitation · Post-exploitation · Reporting</a:t>
            </a:r>
          </a:p>
          <a:p>
            <a:r>
              <a:rPr sz="1100">
                <a:solidFill>
                  <a:srgbClr val="F0F4F8"/>
                </a:solidFill>
                <a:latin typeface="Calibri"/>
              </a:rPr>
              <a:t>Legal framework in Nigeria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6</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ETHICAL HACKING</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Seven-phase circular flow diagram</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PENTEST LIFECYCLE (PTES)</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PENETRATION TESTING EXECUTION STANDARD (PTES)</a:t>
            </a:r>
          </a:p>
          <a:p>
            <a:r>
              <a:rPr sz="600">
                <a:latin typeface="Calibri"/>
              </a:rPr>
              <a:t/>
            </a:r>
          </a:p>
          <a:p>
            <a:r>
              <a:rPr sz="1050">
                <a:solidFill>
                  <a:srgbClr val="F0F4F8"/>
                </a:solidFill>
                <a:latin typeface="Calibri"/>
              </a:rPr>
              <a:t>  1. PRE-ENGAGEMENT (LARGEST PHASE — don't skip)</a:t>
            </a:r>
          </a:p>
          <a:p>
            <a:r>
              <a:rPr sz="1000">
                <a:solidFill>
                  <a:srgbClr val="8BA5BE"/>
                </a:solidFill>
                <a:latin typeface="Calibri"/>
              </a:rPr>
              <a:t>      ◦  Signed agreement · Scope definition · Rules of Engagement</a:t>
            </a:r>
          </a:p>
          <a:p>
            <a:r>
              <a:rPr sz="1000">
                <a:solidFill>
                  <a:srgbClr val="8BA5BE"/>
                </a:solidFill>
                <a:latin typeface="Calibri"/>
              </a:rPr>
              <a:t>      ◦  Emergency contacts · Legal authorisation — ALL BEFORE TOUCHING ANYTHING</a:t>
            </a:r>
          </a:p>
          <a:p>
            <a:r>
              <a:rPr sz="600">
                <a:latin typeface="Calibri"/>
              </a:rPr>
              <a:t/>
            </a:r>
          </a:p>
          <a:p>
            <a:r>
              <a:rPr sz="1050">
                <a:solidFill>
                  <a:srgbClr val="F0F4F8"/>
                </a:solidFill>
                <a:latin typeface="Calibri"/>
              </a:rPr>
              <a:t>  2. INTELLIGENCE GATHERING</a:t>
            </a:r>
          </a:p>
          <a:p>
            <a:r>
              <a:rPr sz="1000">
                <a:solidFill>
                  <a:srgbClr val="8BA5BE"/>
                </a:solidFill>
                <a:latin typeface="Calibri"/>
              </a:rPr>
              <a:t>      ◦  OSINT · WHOIS · Google Dorking · Shodan · Subdomains · Social media</a:t>
            </a:r>
          </a:p>
          <a:p>
            <a:r>
              <a:rPr sz="600">
                <a:latin typeface="Calibri"/>
              </a:rPr>
              <a:t/>
            </a:r>
          </a:p>
          <a:p>
            <a:r>
              <a:rPr sz="1050">
                <a:solidFill>
                  <a:srgbClr val="F0F4F8"/>
                </a:solidFill>
                <a:latin typeface="Calibri"/>
              </a:rPr>
              <a:t>  3. THREAT MODELLING</a:t>
            </a:r>
          </a:p>
          <a:p>
            <a:r>
              <a:rPr sz="1000">
                <a:solidFill>
                  <a:srgbClr val="8BA5BE"/>
                </a:solidFill>
                <a:latin typeface="Calibri"/>
              </a:rPr>
              <a:t>      ◦  What's most valuable? What's most likely targeted? Priority targets?</a:t>
            </a:r>
          </a:p>
          <a:p>
            <a:r>
              <a:rPr sz="600">
                <a:latin typeface="Calibri"/>
              </a:rPr>
              <a:t/>
            </a:r>
          </a:p>
          <a:p>
            <a:r>
              <a:rPr sz="1050">
                <a:solidFill>
                  <a:srgbClr val="F0F4F8"/>
                </a:solidFill>
                <a:latin typeface="Calibri"/>
              </a:rPr>
              <a:t>  4. VULNERABILITY ANALYSIS</a:t>
            </a:r>
          </a:p>
          <a:p>
            <a:r>
              <a:rPr sz="1000">
                <a:solidFill>
                  <a:srgbClr val="8BA5BE"/>
                </a:solidFill>
                <a:latin typeface="Calibri"/>
              </a:rPr>
              <a:t>      ◦  Automated scanners + manual testing + CVE research</a:t>
            </a:r>
          </a:p>
          <a:p>
            <a:r>
              <a:rPr sz="600">
                <a:latin typeface="Calibri"/>
              </a:rPr>
              <a:t/>
            </a:r>
          </a:p>
          <a:p>
            <a:r>
              <a:rPr sz="1050">
                <a:solidFill>
                  <a:srgbClr val="F0F4F8"/>
                </a:solidFill>
                <a:latin typeface="Calibri"/>
              </a:rPr>
              <a:t>  5. EXPLOITATION</a:t>
            </a:r>
          </a:p>
          <a:p>
            <a:r>
              <a:rPr sz="1000">
                <a:solidFill>
                  <a:srgbClr val="8BA5BE"/>
                </a:solidFill>
                <a:latin typeface="Calibri"/>
              </a:rPr>
              <a:t>      ◦  Attempt to exploit findings — within scope, document everything</a:t>
            </a:r>
          </a:p>
          <a:p>
            <a:r>
              <a:rPr sz="600">
                <a:latin typeface="Calibri"/>
              </a:rPr>
              <a:t/>
            </a:r>
          </a:p>
          <a:p>
            <a:r>
              <a:rPr sz="1050">
                <a:solidFill>
                  <a:srgbClr val="F0F4F8"/>
                </a:solidFill>
                <a:latin typeface="Calibri"/>
              </a:rPr>
              <a:t>  6. POST-EXPLOITATION</a:t>
            </a:r>
          </a:p>
          <a:p>
            <a:r>
              <a:rPr sz="1000">
                <a:solidFill>
                  <a:srgbClr val="8BA5BE"/>
                </a:solidFill>
                <a:latin typeface="Calibri"/>
              </a:rPr>
              <a:t>      ◦  What data is accessible? Lateral movement? Privilege escalation?</a:t>
            </a:r>
          </a:p>
          <a:p>
            <a:r>
              <a:rPr sz="600">
                <a:latin typeface="Calibri"/>
              </a:rPr>
              <a:t/>
            </a:r>
          </a:p>
          <a:p>
            <a:r>
              <a:rPr sz="1050">
                <a:solidFill>
                  <a:srgbClr val="F0F4F8"/>
                </a:solidFill>
                <a:latin typeface="Calibri"/>
              </a:rPr>
              <a:t>  7. REPORTING</a:t>
            </a:r>
          </a:p>
          <a:p>
            <a:r>
              <a:rPr sz="1000">
                <a:solidFill>
                  <a:srgbClr val="8BA5BE"/>
                </a:solidFill>
                <a:latin typeface="Calibri"/>
              </a:rPr>
              <a:t>      ◦  Executive summary + Technical findings + Remediation roadmap</a:t>
            </a:r>
          </a:p>
          <a:p>
            <a:r>
              <a:rPr sz="600">
                <a:latin typeface="Calibri"/>
              </a:rPr>
              <a:t/>
            </a:r>
          </a:p>
          <a:p>
            <a:r>
              <a:rPr sz="1050">
                <a:solidFill>
                  <a:srgbClr val="F0F4F8"/>
                </a:solidFill>
                <a:latin typeface="Calibri"/>
              </a:rPr>
              <a:t>WITHOUT PHASE 1 PAPERWORK → PHASES 2–7 ARE CRIMINAL.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7</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E74C3C"/>
                </a:solidFill>
                <a:latin typeface="Calibri"/>
              </a:rPr>
              <a:t>MOD 7</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7 OPENER: WEB APP SECURITY</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E74C3C"/>
                </a:solidFill>
                <a:latin typeface="Calibri"/>
              </a:rPr>
              <a:t>LEVEL: ADVANCED</a:t>
            </a:r>
          </a:p>
          <a:p>
            <a:r>
              <a:rPr sz="1300" b="1">
                <a:solidFill>
                  <a:srgbClr val="E74C3C"/>
                </a:solidFill>
                <a:latin typeface="Calibri"/>
              </a:rPr>
              <a:t>MODULE 07</a:t>
            </a:r>
          </a:p>
          <a:p>
            <a:r>
              <a:rPr sz="1300" b="1">
                <a:solidFill>
                  <a:srgbClr val="E74C3C"/>
                </a:solidFill>
                <a:latin typeface="Calibri"/>
              </a:rPr>
              <a:t>WEB APPLICATION</a:t>
            </a:r>
          </a:p>
          <a:p>
            <a:r>
              <a:rPr sz="1300" b="1">
                <a:solidFill>
                  <a:srgbClr val="E74C3C"/>
                </a:solidFill>
                <a:latin typeface="Calibri"/>
              </a:rPr>
              <a:t>SECURITY</a:t>
            </a:r>
          </a:p>
          <a:p>
            <a:r>
              <a:rPr sz="1100">
                <a:solidFill>
                  <a:srgbClr val="F0F4F8"/>
                </a:solidFill>
                <a:latin typeface="Calibri"/>
              </a:rPr>
              <a:t>"80% of cyberattacks target web applications.</a:t>
            </a:r>
          </a:p>
          <a:p>
            <a:r>
              <a:rPr sz="1100">
                <a:solidFill>
                  <a:srgbClr val="F0F4F8"/>
                </a:solidFill>
                <a:latin typeface="Calibri"/>
              </a:rPr>
              <a:t>This is where most of the action is."</a:t>
            </a:r>
          </a:p>
          <a:p>
            <a:r>
              <a:rPr sz="1100">
                <a:solidFill>
                  <a:srgbClr val="F0F4F8"/>
                </a:solidFill>
                <a:latin typeface="Calibri"/>
              </a:rPr>
              <a:t>OWASP Top 10 (2021) · SQL injection (live demo)</a:t>
            </a:r>
          </a:p>
          <a:p>
            <a:r>
              <a:rPr sz="1100">
                <a:solidFill>
                  <a:srgbClr val="F0F4F8"/>
                </a:solidFill>
                <a:latin typeface="Calibri"/>
              </a:rPr>
              <a:t>Cross-Site Scripting (XSS) · Broken access control</a:t>
            </a:r>
          </a:p>
          <a:p>
            <a:r>
              <a:rPr sz="1100">
                <a:solidFill>
                  <a:srgbClr val="F0F4F8"/>
                </a:solidFill>
                <a:latin typeface="Calibri"/>
              </a:rPr>
              <a:t>Burp Suite mastery · Security headers</a:t>
            </a:r>
          </a:p>
          <a:p>
            <a:r>
              <a:rPr sz="1100">
                <a:solidFill>
                  <a:srgbClr val="F0F4F8"/>
                </a:solidFill>
                <a:latin typeface="Calibri"/>
              </a:rPr>
              <a:t>Web application firewalls · OWASP ZAP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7</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WEB APP SECURITY</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10-item ranked list</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OWASP TOP 10 (2021)</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OWASP TOP 10 — MOST CRITICAL WEB VULNERABILITIES</a:t>
            </a:r>
          </a:p>
          <a:p>
            <a:r>
              <a:rPr sz="600">
                <a:latin typeface="Calibri"/>
              </a:rPr>
              <a:t/>
            </a:r>
          </a:p>
          <a:p>
            <a:r>
              <a:rPr sz="1050">
                <a:solidFill>
                  <a:srgbClr val="F0F4F8"/>
                </a:solidFill>
                <a:latin typeface="Calibri"/>
              </a:rPr>
              <a:t>A01 Broken Access Control        User can act beyond intended permissions</a:t>
            </a:r>
          </a:p>
          <a:p>
            <a:r>
              <a:rPr sz="1050">
                <a:solidFill>
                  <a:srgbClr val="F0F4F8"/>
                </a:solidFill>
                <a:latin typeface="Calibri"/>
              </a:rPr>
              <a:t>A02 Cryptographic Failures       Sensitive data exposed due to weak/missing encryption</a:t>
            </a:r>
          </a:p>
          <a:p>
            <a:r>
              <a:rPr sz="1050">
                <a:solidFill>
                  <a:srgbClr val="F0F4F8"/>
                </a:solidFill>
                <a:latin typeface="Calibri"/>
              </a:rPr>
              <a:t>A03 Injection                    SQL/Command/LDAP injection — untrusted data as commands</a:t>
            </a:r>
          </a:p>
          <a:p>
            <a:r>
              <a:rPr sz="1050">
                <a:solidFill>
                  <a:srgbClr val="F0F4F8"/>
                </a:solidFill>
                <a:latin typeface="Calibri"/>
              </a:rPr>
              <a:t>A04 Insecure Design             Security risks from design flaws, not bugs</a:t>
            </a:r>
          </a:p>
          <a:p>
            <a:r>
              <a:rPr sz="1050">
                <a:solidFill>
                  <a:srgbClr val="F0F4F8"/>
                </a:solidFill>
                <a:latin typeface="Calibri"/>
              </a:rPr>
              <a:t>A05 Security Misconfiguration   Default credentials, open storage, debug mode on</a:t>
            </a:r>
          </a:p>
          <a:p>
            <a:r>
              <a:rPr sz="1050">
                <a:solidFill>
                  <a:srgbClr val="F0F4F8"/>
                </a:solidFill>
                <a:latin typeface="Calibri"/>
              </a:rPr>
              <a:t>A06 Vulnerable Components       Outdated libraries with known CVEs</a:t>
            </a:r>
          </a:p>
          <a:p>
            <a:r>
              <a:rPr sz="1050">
                <a:solidFill>
                  <a:srgbClr val="F0F4F8"/>
                </a:solidFill>
                <a:latin typeface="Calibri"/>
              </a:rPr>
              <a:t>A07 Auth Failures               Weak passwords, no MFA, bad session management</a:t>
            </a:r>
          </a:p>
          <a:p>
            <a:r>
              <a:rPr sz="1050">
                <a:solidFill>
                  <a:srgbClr val="F0F4F8"/>
                </a:solidFill>
                <a:latin typeface="Calibri"/>
              </a:rPr>
              <a:t>A08 Software Integrity Failures  Unverified updates, supply chain attacks</a:t>
            </a:r>
          </a:p>
          <a:p>
            <a:r>
              <a:rPr sz="1050">
                <a:solidFill>
                  <a:srgbClr val="F0F4F8"/>
                </a:solidFill>
                <a:latin typeface="Calibri"/>
              </a:rPr>
              <a:t>A09 Logging &amp; Monitoring Gaps   Can't detect breaches you don't log</a:t>
            </a:r>
          </a:p>
          <a:p>
            <a:r>
              <a:rPr sz="1050">
                <a:solidFill>
                  <a:srgbClr val="F0F4F8"/>
                </a:solidFill>
                <a:latin typeface="Calibri"/>
              </a:rPr>
              <a:t>A10 SSRF                        Server tricked into making requests attacker controls</a:t>
            </a:r>
          </a:p>
          <a:p>
            <a:r>
              <a:rPr sz="600">
                <a:latin typeface="Calibri"/>
              </a:rPr>
              <a:t/>
            </a:r>
          </a:p>
          <a:p>
            <a:r>
              <a:rPr sz="1050">
                <a:solidFill>
                  <a:srgbClr val="F0F4F8"/>
                </a:solidFill>
                <a:latin typeface="Calibri"/>
              </a:rPr>
              <a:t>Source: OWASP Foundation (owasp.org)</a:t>
            </a:r>
          </a:p>
          <a:p>
            <a:r>
              <a:rPr sz="1050">
                <a:solidFill>
                  <a:srgbClr val="F0F4F8"/>
                </a:solidFill>
                <a:latin typeface="Calibri"/>
              </a:rPr>
              <a:t>Updated: 2021 | Next update expected: 2025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7</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WEB APP SECURITY</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Code block showing vulnerable PHP/SQL code on left</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SQL INJECTION — LIVE DEMO SLIDE</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2200656" cy="365760"/>
          </a:xfrm>
          <a:prstGeom prst="rect">
            <a:avLst/>
          </a:prstGeom>
          <a:noFill/>
        </p:spPr>
        <p:txBody>
          <a:bodyPr wrap="square">
            <a:spAutoFit/>
          </a:bodyPr>
          <a:lstStyle/>
          <a:p>
            <a:pPr algn="l"/>
            <a:r>
              <a:rPr sz="1100" b="1" i="0">
                <a:solidFill>
                  <a:srgbClr val="E74C3C"/>
                </a:solidFill>
                <a:latin typeface="Calibri"/>
              </a:rPr>
              <a:t>VULNERABLE CODE:</a:t>
            </a:r>
          </a:p>
        </p:txBody>
      </p:sp>
      <p:sp>
        <p:nvSpPr>
          <p:cNvPr id="16" name="TextBox 15"/>
          <p:cNvSpPr txBox="1"/>
          <p:nvPr/>
        </p:nvSpPr>
        <p:spPr>
          <a:xfrm>
            <a:off x="4736592" y="1664208"/>
            <a:ext cx="2200656" cy="1207008"/>
          </a:xfrm>
          <a:prstGeom prst="rect">
            <a:avLst/>
          </a:prstGeom>
          <a:noFill/>
        </p:spPr>
        <p:txBody>
          <a:bodyPr wrap="square">
            <a:spAutoFit/>
          </a:bodyPr>
          <a:lstStyle/>
          <a:p>
            <a:pPr algn="l"/>
            <a:r>
              <a:rPr sz="950" b="0" i="0">
                <a:solidFill>
                  <a:srgbClr val="F0F4F8"/>
                </a:solidFill>
                <a:latin typeface="Calibri"/>
              </a:rPr>
              <a:t>$query = "SELECT * FROM users WHERE username='" . $_POST['username'] . "' AND password='" . $_POST['password'] . "'";</a:t>
            </a:r>
          </a:p>
        </p:txBody>
      </p:sp>
      <p:sp>
        <p:nvSpPr>
          <p:cNvPr id="17" name="Rectangle 16"/>
          <p:cNvSpPr/>
          <p:nvPr/>
        </p:nvSpPr>
        <p:spPr>
          <a:xfrm>
            <a:off x="715670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5670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6432" y="1298448"/>
            <a:ext cx="2200656" cy="365760"/>
          </a:xfrm>
          <a:prstGeom prst="rect">
            <a:avLst/>
          </a:prstGeom>
          <a:noFill/>
        </p:spPr>
        <p:txBody>
          <a:bodyPr wrap="square">
            <a:spAutoFit/>
          </a:bodyPr>
          <a:lstStyle/>
          <a:p>
            <a:pPr algn="l"/>
            <a:r>
              <a:rPr sz="1100" b="1" i="0">
                <a:solidFill>
                  <a:srgbClr val="F5A623"/>
                </a:solidFill>
                <a:latin typeface="Calibri"/>
              </a:rPr>
              <a:t>RESULTING QUERY:</a:t>
            </a:r>
          </a:p>
        </p:txBody>
      </p:sp>
      <p:sp>
        <p:nvSpPr>
          <p:cNvPr id="20" name="TextBox 19"/>
          <p:cNvSpPr txBox="1"/>
          <p:nvPr/>
        </p:nvSpPr>
        <p:spPr>
          <a:xfrm>
            <a:off x="7266432" y="1664208"/>
            <a:ext cx="2200656" cy="1207008"/>
          </a:xfrm>
          <a:prstGeom prst="rect">
            <a:avLst/>
          </a:prstGeom>
          <a:noFill/>
        </p:spPr>
        <p:txBody>
          <a:bodyPr wrap="square">
            <a:spAutoFit/>
          </a:bodyPr>
          <a:lstStyle/>
          <a:p>
            <a:pPr algn="l"/>
            <a:r>
              <a:rPr sz="950" b="0" i="0">
                <a:solidFill>
                  <a:srgbClr val="F0F4F8"/>
                </a:solidFill>
                <a:latin typeface="Calibri"/>
              </a:rPr>
              <a:t>SELECT * FROM users WHERE username='admin'--' AND password='anything' ↑ - comments out everything after</a:t>
            </a:r>
          </a:p>
        </p:txBody>
      </p:sp>
      <p:sp>
        <p:nvSpPr>
          <p:cNvPr id="21" name="Rectangle 20"/>
          <p:cNvSpPr/>
          <p:nvPr/>
        </p:nvSpPr>
        <p:spPr>
          <a:xfrm>
            <a:off x="968654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86544" y="1207008"/>
            <a:ext cx="50292" cy="17373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96272" y="1298448"/>
            <a:ext cx="2200656" cy="365760"/>
          </a:xfrm>
          <a:prstGeom prst="rect">
            <a:avLst/>
          </a:prstGeom>
          <a:noFill/>
        </p:spPr>
        <p:txBody>
          <a:bodyPr wrap="square">
            <a:spAutoFit/>
          </a:bodyPr>
          <a:lstStyle/>
          <a:p>
            <a:pPr algn="l"/>
            <a:r>
              <a:rPr sz="1100" b="1" i="0">
                <a:solidFill>
                  <a:srgbClr val="00B894"/>
                </a:solidFill>
                <a:latin typeface="Calibri"/>
              </a:rPr>
              <a:t>WORSE:</a:t>
            </a:r>
          </a:p>
        </p:txBody>
      </p:sp>
      <p:sp>
        <p:nvSpPr>
          <p:cNvPr id="24" name="TextBox 23"/>
          <p:cNvSpPr txBox="1"/>
          <p:nvPr/>
        </p:nvSpPr>
        <p:spPr>
          <a:xfrm>
            <a:off x="9796272" y="1664208"/>
            <a:ext cx="2200656" cy="1207008"/>
          </a:xfrm>
          <a:prstGeom prst="rect">
            <a:avLst/>
          </a:prstGeom>
          <a:noFill/>
        </p:spPr>
        <p:txBody>
          <a:bodyPr wrap="square">
            <a:spAutoFit/>
          </a:bodyPr>
          <a:lstStyle/>
          <a:p>
            <a:pPr algn="l"/>
            <a:r>
              <a:rPr sz="950" b="0" i="0">
                <a:solidFill>
                  <a:srgbClr val="F0F4F8"/>
                </a:solidFill>
                <a:latin typeface="Calibri"/>
              </a:rPr>
              <a:t>username = '; DROP TABLE users;--    ← Deletes the entire users table username = ' UNION SELECT * FROM admin_accounts--  ← Extracts admin data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7</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WEB APP SECURITY</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World map with glowing red dots spreading rapidly from left to right, representing exploit attempts</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LOG4SHELL: A06 IN PRACTICE</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65811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E74C3C"/>
                </a:solidFill>
                <a:latin typeface="Calibri"/>
              </a:rPr>
              <a:t>LOG4SHELL (CVE-2021-44228)</a:t>
            </a:r>
          </a:p>
        </p:txBody>
      </p:sp>
      <p:sp>
        <p:nvSpPr>
          <p:cNvPr id="16" name="TextBox 15"/>
          <p:cNvSpPr txBox="1"/>
          <p:nvPr/>
        </p:nvSpPr>
        <p:spPr>
          <a:xfrm>
            <a:off x="4736592" y="1664208"/>
            <a:ext cx="3465576" cy="1127760"/>
          </a:xfrm>
          <a:prstGeom prst="rect">
            <a:avLst/>
          </a:prstGeom>
          <a:noFill/>
        </p:spPr>
        <p:txBody>
          <a:bodyPr wrap="square">
            <a:spAutoFit/>
          </a:bodyPr>
          <a:lstStyle/>
          <a:p>
            <a:pPr algn="l"/>
            <a:r>
              <a:rPr sz="950" b="0" i="0">
                <a:solidFill>
                  <a:srgbClr val="F0F4F8"/>
                </a:solidFill>
                <a:latin typeface="Calibri"/>
              </a:rPr>
              <a:t>OWASP A06 — The Most Critical Vulnerability of the Decade</a:t>
            </a:r>
          </a:p>
        </p:txBody>
      </p:sp>
      <p:sp>
        <p:nvSpPr>
          <p:cNvPr id="17" name="Rectangle 16"/>
          <p:cNvSpPr/>
          <p:nvPr/>
        </p:nvSpPr>
        <p:spPr>
          <a:xfrm>
            <a:off x="8421624" y="1207008"/>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65811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THE VULNERABLE CODE:</a:t>
            </a:r>
          </a:p>
        </p:txBody>
      </p:sp>
      <p:sp>
        <p:nvSpPr>
          <p:cNvPr id="20" name="TextBox 19"/>
          <p:cNvSpPr txBox="1"/>
          <p:nvPr/>
        </p:nvSpPr>
        <p:spPr>
          <a:xfrm>
            <a:off x="8531352" y="1664208"/>
            <a:ext cx="3465576" cy="1127760"/>
          </a:xfrm>
          <a:prstGeom prst="rect">
            <a:avLst/>
          </a:prstGeom>
          <a:noFill/>
        </p:spPr>
        <p:txBody>
          <a:bodyPr wrap="square">
            <a:spAutoFit/>
          </a:bodyPr>
          <a:lstStyle/>
          <a:p>
            <a:pPr algn="l"/>
            <a:r>
              <a:rPr sz="950" b="0" i="0">
                <a:solidFill>
                  <a:srgbClr val="F0F4F8"/>
                </a:solidFill>
                <a:latin typeface="Calibri"/>
              </a:rPr>
              <a:t>Apache Log4j — a Java logging library in BILLIONS of applications Amazon · Apple iCloud · Microsoft · Google · Tesla · Cloudflare</a:t>
            </a:r>
          </a:p>
        </p:txBody>
      </p:sp>
      <p:sp>
        <p:nvSpPr>
          <p:cNvPr id="21" name="Rectangle 20"/>
          <p:cNvSpPr/>
          <p:nvPr/>
        </p:nvSpPr>
        <p:spPr>
          <a:xfrm>
            <a:off x="4626864" y="3011424"/>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26864" y="3011424"/>
            <a:ext cx="50292" cy="1658112"/>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36592" y="3084576"/>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24" name="TextBox 23"/>
          <p:cNvSpPr txBox="1"/>
          <p:nvPr/>
        </p:nvSpPr>
        <p:spPr>
          <a:xfrm>
            <a:off x="5120640" y="3102864"/>
            <a:ext cx="3081528" cy="365760"/>
          </a:xfrm>
          <a:prstGeom prst="rect">
            <a:avLst/>
          </a:prstGeom>
          <a:noFill/>
        </p:spPr>
        <p:txBody>
          <a:bodyPr wrap="square">
            <a:spAutoFit/>
          </a:bodyPr>
          <a:lstStyle/>
          <a:p>
            <a:pPr algn="l"/>
            <a:r>
              <a:rPr sz="1100" b="1" i="0">
                <a:solidFill>
                  <a:srgbClr val="00B894"/>
                </a:solidFill>
                <a:latin typeface="Calibri"/>
              </a:rPr>
              <a:t>Full Remote Code Execution. Zero authentication required.</a:t>
            </a:r>
          </a:p>
        </p:txBody>
      </p:sp>
      <p:sp>
        <p:nvSpPr>
          <p:cNvPr id="25" name="TextBox 24"/>
          <p:cNvSpPr txBox="1"/>
          <p:nvPr/>
        </p:nvSpPr>
        <p:spPr>
          <a:xfrm>
            <a:off x="4736592" y="3468624"/>
            <a:ext cx="3465576" cy="1127760"/>
          </a:xfrm>
          <a:prstGeom prst="rect">
            <a:avLst/>
          </a:prstGeom>
          <a:noFill/>
        </p:spPr>
        <p:txBody>
          <a:bodyPr wrap="square">
            <a:spAutoFit/>
          </a:bodyPr>
          <a:lstStyle/>
          <a:p>
            <a:pPr algn="l"/>
            <a:r>
              <a:rPr sz="950" b="0" i="0">
                <a:solidFill>
                  <a:srgbClr val="F0F4F8"/>
                </a:solidFill>
                <a:latin typeface="Calibri"/>
              </a:rPr>
              <a:t>Full Remote Code Execution. Zero authentication required.</a:t>
            </a:r>
          </a:p>
        </p:txBody>
      </p:sp>
      <p:sp>
        <p:nvSpPr>
          <p:cNvPr id="26" name="Rectangle 25"/>
          <p:cNvSpPr/>
          <p:nvPr/>
        </p:nvSpPr>
        <p:spPr>
          <a:xfrm>
            <a:off x="8421624" y="3011424"/>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421624" y="3011424"/>
            <a:ext cx="50292" cy="1658112"/>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31352" y="3102864"/>
            <a:ext cx="3465576" cy="365760"/>
          </a:xfrm>
          <a:prstGeom prst="rect">
            <a:avLst/>
          </a:prstGeom>
          <a:noFill/>
        </p:spPr>
        <p:txBody>
          <a:bodyPr wrap="square">
            <a:spAutoFit/>
          </a:bodyPr>
          <a:lstStyle/>
          <a:p>
            <a:pPr algn="l"/>
            <a:r>
              <a:rPr sz="1100" b="1" i="0">
                <a:solidFill>
                  <a:srgbClr val="00C2D4"/>
                </a:solidFill>
                <a:latin typeface="Calibri"/>
              </a:rPr>
              <a:t>THE IMPACT:</a:t>
            </a:r>
          </a:p>
        </p:txBody>
      </p:sp>
      <p:sp>
        <p:nvSpPr>
          <p:cNvPr id="29" name="TextBox 28"/>
          <p:cNvSpPr txBox="1"/>
          <p:nvPr/>
        </p:nvSpPr>
        <p:spPr>
          <a:xfrm>
            <a:off x="8531352" y="3468624"/>
            <a:ext cx="3465576" cy="1127760"/>
          </a:xfrm>
          <a:prstGeom prst="rect">
            <a:avLst/>
          </a:prstGeom>
          <a:noFill/>
        </p:spPr>
        <p:txBody>
          <a:bodyPr wrap="square">
            <a:spAutoFit/>
          </a:bodyPr>
          <a:lstStyle/>
          <a:p>
            <a:pPr algn="l"/>
            <a:r>
              <a:rPr sz="950" b="0" i="0">
                <a:solidFill>
                  <a:srgbClr val="F0F4F8"/>
                </a:solidFill>
                <a:latin typeface="Calibri"/>
              </a:rPr>
              <a:t>✗ 800,000 exploitation attempts per HOUR within 72 hours ✗ Nation-states, ransomware gangs, script kiddies — all using same exploit ✗ Every unpatched Java application exposed globally</a:t>
            </a:r>
          </a:p>
        </p:txBody>
      </p:sp>
      <p:sp>
        <p:nvSpPr>
          <p:cNvPr id="30" name="Rectangle 29"/>
          <p:cNvSpPr/>
          <p:nvPr/>
        </p:nvSpPr>
        <p:spPr>
          <a:xfrm>
            <a:off x="4626864" y="4815840"/>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26864" y="4815840"/>
            <a:ext cx="50292" cy="165811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36592" y="4907280"/>
            <a:ext cx="3465576" cy="365760"/>
          </a:xfrm>
          <a:prstGeom prst="rect">
            <a:avLst/>
          </a:prstGeom>
          <a:noFill/>
        </p:spPr>
        <p:txBody>
          <a:bodyPr wrap="square">
            <a:spAutoFit/>
          </a:bodyPr>
          <a:lstStyle/>
          <a:p>
            <a:pPr algn="l"/>
            <a:r>
              <a:rPr sz="1100" b="1" i="0">
                <a:solidFill>
                  <a:srgbClr val="E74C3C"/>
                </a:solidFill>
                <a:latin typeface="Calibri"/>
              </a:rPr>
              <a:t>THE LESSON (A06):</a:t>
            </a:r>
          </a:p>
        </p:txBody>
      </p:sp>
      <p:sp>
        <p:nvSpPr>
          <p:cNvPr id="33" name="TextBox 32"/>
          <p:cNvSpPr txBox="1"/>
          <p:nvPr/>
        </p:nvSpPr>
        <p:spPr>
          <a:xfrm>
            <a:off x="4736592" y="5273040"/>
            <a:ext cx="3465576" cy="1127760"/>
          </a:xfrm>
          <a:prstGeom prst="rect">
            <a:avLst/>
          </a:prstGeom>
          <a:noFill/>
        </p:spPr>
        <p:txBody>
          <a:bodyPr wrap="square">
            <a:spAutoFit/>
          </a:bodyPr>
          <a:lstStyle/>
          <a:p>
            <a:pPr algn="l"/>
            <a:r>
              <a:rPr sz="950" b="0" i="0">
                <a:solidFill>
                  <a:srgbClr val="F0F4F8"/>
                </a:solidFill>
                <a:latin typeface="Calibri"/>
              </a:rPr>
              <a:t>Nobody WROTE this code — they INCLUDED it as a dependency. One line: log4j:log4j:2.14.1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8</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E74C3C"/>
                </a:solidFill>
                <a:latin typeface="Calibri"/>
              </a:rPr>
              <a:t>MOD 8</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8 OPENER: SOCIAL ENGINEERING</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E74C3C"/>
                </a:solidFill>
                <a:latin typeface="Calibri"/>
              </a:rPr>
              <a:t>LEVEL: ADVANCED</a:t>
            </a:r>
          </a:p>
          <a:p>
            <a:r>
              <a:rPr sz="1300" b="1">
                <a:solidFill>
                  <a:srgbClr val="E74C3C"/>
                </a:solidFill>
                <a:latin typeface="Calibri"/>
              </a:rPr>
              <a:t>MODULE 08</a:t>
            </a:r>
          </a:p>
          <a:p>
            <a:r>
              <a:rPr sz="1300" b="1">
                <a:solidFill>
                  <a:srgbClr val="E74C3C"/>
                </a:solidFill>
                <a:latin typeface="Calibri"/>
              </a:rPr>
              <a:t>SOCIAL ENGINEERING &amp;</a:t>
            </a:r>
          </a:p>
          <a:p>
            <a:r>
              <a:rPr sz="1300" b="1">
                <a:solidFill>
                  <a:srgbClr val="E74C3C"/>
                </a:solidFill>
                <a:latin typeface="Calibri"/>
              </a:rPr>
              <a:t>PHISHING</a:t>
            </a:r>
          </a:p>
          <a:p>
            <a:r>
              <a:rPr sz="1100">
                <a:solidFill>
                  <a:srgbClr val="F0F4F8"/>
                </a:solidFill>
                <a:latin typeface="Calibri"/>
              </a:rPr>
              <a:t>"The strongest firewall in the world</a:t>
            </a:r>
          </a:p>
          <a:p>
            <a:r>
              <a:rPr sz="1100">
                <a:solidFill>
                  <a:srgbClr val="F0F4F8"/>
                </a:solidFill>
                <a:latin typeface="Calibri"/>
              </a:rPr>
              <a:t>cannot stop a human who is deceived."</a:t>
            </a:r>
          </a:p>
          <a:p>
            <a:r>
              <a:rPr sz="1100">
                <a:solidFill>
                  <a:srgbClr val="F0F4F8"/>
                </a:solidFill>
                <a:latin typeface="Calibri"/>
              </a:rPr>
              <a:t>The psychology of manipulation</a:t>
            </a:r>
          </a:p>
          <a:p>
            <a:r>
              <a:rPr sz="1100">
                <a:solidFill>
                  <a:srgbClr val="F0F4F8"/>
                </a:solidFill>
                <a:latin typeface="Calibri"/>
              </a:rPr>
              <a:t>Phishing · Spear phishing · BEC</a:t>
            </a:r>
          </a:p>
          <a:p>
            <a:r>
              <a:rPr sz="1100">
                <a:solidFill>
                  <a:srgbClr val="F0F4F8"/>
                </a:solidFill>
                <a:latin typeface="Calibri"/>
              </a:rPr>
              <a:t>Vishing · Smishing · Pretexting</a:t>
            </a:r>
          </a:p>
          <a:p>
            <a:r>
              <a:rPr sz="1100">
                <a:solidFill>
                  <a:srgbClr val="F0F4F8"/>
                </a:solidFill>
                <a:latin typeface="Calibri"/>
              </a:rPr>
              <a:t>SIM swap fraud · Security awareness training</a:t>
            </a:r>
          </a:p>
          <a:p>
            <a:r>
              <a:rPr sz="1100">
                <a:solidFill>
                  <a:srgbClr val="F0F4F8"/>
                </a:solidFill>
                <a:latin typeface="Calibri"/>
              </a:rPr>
              <a:t>Email authentication (SPF/DKIM/DMARC)</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8</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SOCIAL ENGINEERING</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Six hexagonal tiles in a honeycomb pattern, each representing one Cialdini principle</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6 PSYCHOLOGICAL LEVERS</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E74C3C"/>
                </a:solidFill>
                <a:latin typeface="Calibri"/>
              </a:rPr>
              <a:t>AUTHORITY            URGENCY              SOCIAL PROOF</a:t>
            </a:r>
          </a:p>
        </p:txBody>
      </p:sp>
      <p:sp>
        <p:nvSpPr>
          <p:cNvPr id="16" name="TextBox 15"/>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"This is your CEO"   "Within 24 hours"    "Your colleague Emeka "EFCC investigation" "Account suspended"   already approved this" "Bank fraud dept"    Disables thinking    We follow the crowd</a:t>
            </a:r>
          </a:p>
        </p:txBody>
      </p:sp>
      <p:sp>
        <p:nvSpPr>
          <p:cNvPr id="17" name="Rectangle 16"/>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RECIPROCITY          LIKING               COMMITMENT</a:t>
            </a:r>
          </a:p>
        </p:txBody>
      </p:sp>
      <p:sp>
        <p:nvSpPr>
          <p:cNvPr id="20" name="TextBox 19"/>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"I helped you        Build rapport        "You said you'd help" last week"          before the ask       We follow through We feel obligated    Creates trust        on commitments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8</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SOCIAL ENGINEERING</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Timeline diagram showing the SIM swap attack from attacker's perspective</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SIM SWAP — THE NIGERIAN EPIDEMIC</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HOW SIM SWAP FRAUD WORKS</a:t>
            </a:r>
          </a:p>
          <a:p>
            <a:r>
              <a:rPr sz="600">
                <a:latin typeface="Calibri"/>
              </a:rPr>
              <a:t/>
            </a:r>
          </a:p>
          <a:p>
            <a:r>
              <a:rPr sz="1050">
                <a:solidFill>
                  <a:srgbClr val="F0F4F8"/>
                </a:solidFill>
                <a:latin typeface="Calibri"/>
              </a:rPr>
              <a:t>① PREPARATION</a:t>
            </a:r>
          </a:p>
          <a:p>
            <a:r>
              <a:rPr sz="1000">
                <a:solidFill>
                  <a:srgbClr val="8BA5BE"/>
                </a:solidFill>
                <a:latin typeface="Calibri"/>
              </a:rPr>
              <a:t>      ◦  Attacker buys victim data: name, address, DOB, phone number</a:t>
            </a:r>
          </a:p>
          <a:p>
            <a:r>
              <a:rPr sz="1000">
                <a:solidFill>
                  <a:srgbClr val="8BA5BE"/>
                </a:solidFill>
                <a:latin typeface="Calibri"/>
              </a:rPr>
              <a:t>      ◦  Sources: data brokers (₦500/record), social media, previous breaches</a:t>
            </a:r>
          </a:p>
          <a:p>
            <a:r>
              <a:rPr sz="600">
                <a:latin typeface="Calibri"/>
              </a:rPr>
              <a:t/>
            </a:r>
          </a:p>
          <a:p>
            <a:r>
              <a:rPr sz="1050">
                <a:solidFill>
                  <a:srgbClr val="F0F4F8"/>
                </a:solidFill>
                <a:latin typeface="Calibri"/>
              </a:rPr>
              <a:t>② VISIT TELCO</a:t>
            </a:r>
          </a:p>
          <a:p>
            <a:r>
              <a:rPr sz="1000">
                <a:solidFill>
                  <a:srgbClr val="8BA5BE"/>
                </a:solidFill>
                <a:latin typeface="Calibri"/>
              </a:rPr>
              <a:t>      ◦  Attacker visits an MTN/Airtel store with fake ID</a:t>
            </a:r>
          </a:p>
          <a:p>
            <a:r>
              <a:rPr sz="1000">
                <a:solidFill>
                  <a:srgbClr val="8BA5BE"/>
                </a:solidFill>
                <a:latin typeface="Calibri"/>
              </a:rPr>
              <a:t>      ◦  Claims lost SIM for victim's number</a:t>
            </a:r>
          </a:p>
          <a:p>
            <a:r>
              <a:rPr sz="1000">
                <a:solidFill>
                  <a:srgbClr val="8BA5BE"/>
                </a:solidFill>
                <a:latin typeface="Calibri"/>
              </a:rPr>
              <a:t>      ◦  Weak verification → new SIM issued to attacker</a:t>
            </a:r>
          </a:p>
          <a:p>
            <a:r>
              <a:rPr sz="600">
                <a:latin typeface="Calibri"/>
              </a:rPr>
              <a:t/>
            </a:r>
          </a:p>
          <a:p>
            <a:r>
              <a:rPr sz="1050">
                <a:solidFill>
                  <a:srgbClr val="F0F4F8"/>
                </a:solidFill>
                <a:latin typeface="Calibri"/>
              </a:rPr>
              <a:t>③ YOUR PHONE DIES</a:t>
            </a:r>
          </a:p>
          <a:p>
            <a:r>
              <a:rPr sz="1000">
                <a:solidFill>
                  <a:srgbClr val="8BA5BE"/>
                </a:solidFill>
                <a:latin typeface="Calibri"/>
              </a:rPr>
              <a:t>      ◦  Your SIM loses signal. You don't know why.</a:t>
            </a:r>
          </a:p>
          <a:p>
            <a:r>
              <a:rPr sz="1000">
                <a:solidFill>
                  <a:srgbClr val="8BA5BE"/>
                </a:solidFill>
                <a:latin typeface="Calibri"/>
              </a:rPr>
              <a:t>      ◦  (Often happens at night when you won't notice immediately)</a:t>
            </a:r>
          </a:p>
          <a:p>
            <a:r>
              <a:rPr sz="600">
                <a:latin typeface="Calibri"/>
              </a:rPr>
              <a:t/>
            </a:r>
          </a:p>
          <a:p>
            <a:r>
              <a:rPr sz="1050">
                <a:solidFill>
                  <a:srgbClr val="F0F4F8"/>
                </a:solidFill>
                <a:latin typeface="Calibri"/>
              </a:rPr>
              <a:t>④ THE DRAIN</a:t>
            </a:r>
          </a:p>
          <a:p>
            <a:r>
              <a:rPr sz="1000">
                <a:solidFill>
                  <a:srgbClr val="8BA5BE"/>
                </a:solidFill>
                <a:latin typeface="Calibri"/>
              </a:rPr>
              <a:t>      ◦  Attacker receives all your SMS OTPs</a:t>
            </a:r>
          </a:p>
          <a:p>
            <a:r>
              <a:rPr sz="1000">
                <a:solidFill>
                  <a:srgbClr val="8BA5BE"/>
                </a:solidFill>
                <a:latin typeface="Calibri"/>
              </a:rPr>
              <a:t>      ◦  Resets your banking app, mobile wallet</a:t>
            </a:r>
          </a:p>
          <a:p>
            <a:r>
              <a:rPr sz="1000">
                <a:solidFill>
                  <a:srgbClr val="8BA5BE"/>
                </a:solidFill>
                <a:latin typeface="Calibri"/>
              </a:rPr>
              <a:t>      ◦  Cleans out accounts by morning</a:t>
            </a:r>
          </a:p>
          <a:p>
            <a:r>
              <a:rPr sz="600">
                <a:latin typeface="Calibri"/>
              </a:rPr>
              <a:t/>
            </a:r>
          </a:p>
          <a:p>
            <a:r>
              <a:rPr sz="1200" b="1">
                <a:solidFill>
                  <a:srgbClr val="E74C3C"/>
                </a:solidFill>
                <a:latin typeface="Calibri"/>
              </a:rPr>
              <a:t>PREVENTION:</a:t>
            </a:r>
          </a:p>
          <a:p>
            <a:r>
              <a:rPr sz="1050">
                <a:solidFill>
                  <a:srgbClr val="F0F4F8"/>
                </a:solidFill>
                <a:latin typeface="Calibri"/>
              </a:rPr>
              <a:t>✓ Add SIM lock PIN with your telecom</a:t>
            </a:r>
          </a:p>
          <a:p>
            <a:r>
              <a:rPr sz="1050">
                <a:solidFill>
                  <a:srgbClr val="F0F4F8"/>
                </a:solidFill>
                <a:latin typeface="Calibri"/>
              </a:rPr>
              <a:t>✓ Use authenticator apps (Google Authenticator/Authy) not SMS OTP</a:t>
            </a:r>
          </a:p>
          <a:p>
            <a:r>
              <a:rPr sz="1050">
                <a:solidFill>
                  <a:srgbClr val="F0F4F8"/>
                </a:solidFill>
                <a:latin typeface="Calibri"/>
              </a:rPr>
              <a:t>✓ Enable transfer alerts — any movement wakes you up</a:t>
            </a:r>
          </a:p>
          <a:p>
            <a:r>
              <a:rPr sz="1050">
                <a:solidFill>
                  <a:srgbClr val="F0F4F8"/>
                </a:solidFill>
                <a:latin typeface="Calibri"/>
              </a:rPr>
              <a:t>✓ If phone signal dies unexpectedly in covered area — call bank IMMEDIATELY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9</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E74C3C"/>
                </a:solidFill>
                <a:latin typeface="Calibri"/>
              </a:rPr>
              <a:t>MOD 9</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9 OPENER: MALWARE ANALYSIS</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E74C3C"/>
                </a:solidFill>
                <a:latin typeface="Calibri"/>
              </a:rPr>
              <a:t>LEVEL: ADVANCED</a:t>
            </a:r>
          </a:p>
          <a:p>
            <a:r>
              <a:rPr sz="1300" b="1">
                <a:solidFill>
                  <a:srgbClr val="E74C3C"/>
                </a:solidFill>
                <a:latin typeface="Calibri"/>
              </a:rPr>
              <a:t>MODULE 09</a:t>
            </a:r>
          </a:p>
          <a:p>
            <a:r>
              <a:rPr sz="1300" b="1">
                <a:solidFill>
                  <a:srgbClr val="E74C3C"/>
                </a:solidFill>
                <a:latin typeface="Calibri"/>
              </a:rPr>
              <a:t>MALWARE ANALYSIS</a:t>
            </a:r>
          </a:p>
          <a:p>
            <a:r>
              <a:rPr sz="1100">
                <a:solidFill>
                  <a:srgbClr val="F0F4F8"/>
                </a:solidFill>
                <a:latin typeface="Calibri"/>
              </a:rPr>
              <a:t>"To defend against malware, you must understand</a:t>
            </a:r>
          </a:p>
          <a:p>
            <a:r>
              <a:rPr sz="1100">
                <a:solidFill>
                  <a:srgbClr val="F0F4F8"/>
                </a:solidFill>
                <a:latin typeface="Calibri"/>
              </a:rPr>
              <a:t>exactly what it does, step by step."</a:t>
            </a:r>
          </a:p>
          <a:p>
            <a:r>
              <a:rPr sz="1100">
                <a:solidFill>
                  <a:srgbClr val="F0F4F8"/>
                </a:solidFill>
                <a:latin typeface="Calibri"/>
              </a:rPr>
              <a:t>Malware classification (virus/worm/trojan/ransomware)</a:t>
            </a:r>
          </a:p>
          <a:p>
            <a:r>
              <a:rPr sz="1100">
                <a:solidFill>
                  <a:srgbClr val="F0F4F8"/>
                </a:solidFill>
                <a:latin typeface="Calibri"/>
              </a:rPr>
              <a:t>Safe analysis environment setup</a:t>
            </a:r>
          </a:p>
          <a:p>
            <a:r>
              <a:rPr sz="1100">
                <a:solidFill>
                  <a:srgbClr val="F0F4F8"/>
                </a:solidFill>
                <a:latin typeface="Calibri"/>
              </a:rPr>
              <a:t>Static analysis (VirusTotal, strings, hashes)</a:t>
            </a:r>
          </a:p>
          <a:p>
            <a:r>
              <a:rPr sz="1100">
                <a:solidFill>
                  <a:srgbClr val="F0F4F8"/>
                </a:solidFill>
                <a:latin typeface="Calibri"/>
              </a:rPr>
              <a:t>Dynamic analysis (ANY.RUN sandbox)</a:t>
            </a:r>
          </a:p>
          <a:p>
            <a:r>
              <a:rPr sz="1100">
                <a:solidFill>
                  <a:srgbClr val="F0F4F8"/>
                </a:solidFill>
                <a:latin typeface="Calibri"/>
              </a:rPr>
              <a:t>MITRE ATT&amp;CK framework mapping</a:t>
            </a:r>
          </a:p>
          <a:p>
            <a:r>
              <a:rPr sz="1100">
                <a:solidFill>
                  <a:srgbClr val="F0F4F8"/>
                </a:solidFill>
                <a:latin typeface="Calibri"/>
              </a:rPr>
              <a:t>IOC extraction and threat reporting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9</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MALWARE ANALYSIS</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Six cards in a 2×3 grid, each with a different malware type icon, name, brief description, and real-world Nigerian/globa</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MALWARE TYPES</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MALWARE CLASSIFICATION</a:t>
            </a:r>
          </a:p>
          <a:p>
            <a:r>
              <a:rPr sz="600">
                <a:latin typeface="Calibri"/>
              </a:rPr>
              <a:t/>
            </a:r>
          </a:p>
          <a:p>
            <a:r>
              <a:rPr sz="1050">
                <a:solidFill>
                  <a:srgbClr val="F0F4F8"/>
                </a:solidFill>
                <a:latin typeface="Calibri"/>
              </a:rPr>
              <a:t>[RANSOMWARE]              [BANKING TROJAN]          [RAT]</a:t>
            </a:r>
          </a:p>
          <a:p>
            <a:r>
              <a:rPr sz="1050">
                <a:solidFill>
                  <a:srgbClr val="F0F4F8"/>
                </a:solidFill>
                <a:latin typeface="Calibri"/>
              </a:rPr>
              <a:t>Encrypts your files       Steals banking creds      Remote Access Trojan</a:t>
            </a:r>
          </a:p>
          <a:p>
            <a:r>
              <a:rPr sz="1050">
                <a:solidFill>
                  <a:srgbClr val="F0F4F8"/>
                </a:solidFill>
                <a:latin typeface="Calibri"/>
              </a:rPr>
              <a:t>Demands payment           Web injection attacks      Full device control</a:t>
            </a:r>
          </a:p>
          <a:p>
            <a:r>
              <a:rPr sz="1050">
                <a:solidFill>
                  <a:srgbClr val="F0F4F8"/>
                </a:solidFill>
                <a:latin typeface="Calibri"/>
              </a:rPr>
              <a:t>WannaCry, LockBit         Emotet, TrickBot           NjRAT (common in NG)</a:t>
            </a:r>
          </a:p>
          <a:p>
            <a:r>
              <a:rPr sz="1050">
                <a:solidFill>
                  <a:srgbClr val="F0F4F8"/>
                </a:solidFill>
                <a:latin typeface="Calibri"/>
              </a:rPr>
              <a:t>Nigeria: NCC warned 2017  Nigerian banks targeted     "Bank update" on WhatsApp</a:t>
            </a:r>
          </a:p>
          <a:p>
            <a:r>
              <a:rPr sz="600">
                <a:latin typeface="Calibri"/>
              </a:rPr>
              <a:t/>
            </a:r>
          </a:p>
          <a:p>
            <a:r>
              <a:rPr sz="1050">
                <a:solidFill>
                  <a:srgbClr val="F0F4F8"/>
                </a:solidFill>
                <a:latin typeface="Calibri"/>
              </a:rPr>
              <a:t>[KEYLOGGER]               [CRYPTOJACKER]             [SPYWARE]</a:t>
            </a:r>
          </a:p>
          <a:p>
            <a:r>
              <a:rPr sz="1050">
                <a:solidFill>
                  <a:srgbClr val="F0F4F8"/>
                </a:solidFill>
                <a:latin typeface="Calibri"/>
              </a:rPr>
              <a:t>Records all keystrokes    Mines crypto using          Silent monitoring</a:t>
            </a:r>
          </a:p>
          <a:p>
            <a:r>
              <a:rPr sz="1050">
                <a:solidFill>
                  <a:srgbClr val="F0F4F8"/>
                </a:solidFill>
                <a:latin typeface="Calibri"/>
              </a:rPr>
              <a:t>Captures passwords        YOUR computer              Corporate espionage</a:t>
            </a:r>
          </a:p>
          <a:p>
            <a:r>
              <a:rPr sz="1050">
                <a:solidFill>
                  <a:srgbClr val="F0F4F8"/>
                </a:solidFill>
                <a:latin typeface="Calibri"/>
              </a:rPr>
              <a:t>Credit card numbers        High electricity bills     Stalkerware</a:t>
            </a:r>
          </a:p>
          <a:p>
            <a:r>
              <a:rPr sz="1050">
                <a:solidFill>
                  <a:srgbClr val="F0F4F8"/>
                </a:solidFill>
                <a:latin typeface="Calibri"/>
              </a:rPr>
              <a:t>SMS OTPs                  Nigerian cafes: notable     Mobile spyware</a:t>
            </a:r>
          </a:p>
          <a:p>
            <a:r>
              <a:rPr sz="600">
                <a:latin typeface="Calibri"/>
              </a:rPr>
              <a:t/>
            </a:r>
          </a:p>
          <a:p>
            <a:r>
              <a:rPr sz="1200" b="1">
                <a:solidFill>
                  <a:srgbClr val="E74C3C"/>
                </a:solidFill>
                <a:latin typeface="Calibri"/>
              </a:rPr>
              <a:t>MODERN REALITY:</a:t>
            </a:r>
          </a:p>
          <a:p>
            <a:r>
              <a:rPr sz="1050">
                <a:solidFill>
                  <a:srgbClr val="F0F4F8"/>
                </a:solidFill>
                <a:latin typeface="Calibri"/>
              </a:rPr>
              <a:t>Most attacks use MULTIPLE types combined</a:t>
            </a:r>
          </a:p>
          <a:p>
            <a:r>
              <a:rPr sz="1050">
                <a:solidFill>
                  <a:srgbClr val="F0F4F8"/>
                </a:solidFill>
                <a:latin typeface="Calibri"/>
              </a:rPr>
              <a:t>(e.g., Emotet = trojan + downloader + lateral movement + spam module)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9</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MALWARE ANALYSIS</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ATT&amp;CK matrix grid showing tactics across the top (Initial Access, Execution, Persistence, etc</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MITRE ATT&amp;CK FRAMEWORK</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MITRE ATT&amp;CK FRAMEWORK</a:t>
            </a:r>
          </a:p>
          <a:p>
            <a:r>
              <a:rPr sz="600">
                <a:latin typeface="Calibri"/>
              </a:rPr>
              <a:t/>
            </a:r>
          </a:p>
          <a:p>
            <a:r>
              <a:rPr sz="1050">
                <a:solidFill>
                  <a:srgbClr val="F0F4F8"/>
                </a:solidFill>
                <a:latin typeface="Calibri"/>
              </a:rPr>
              <a:t>"A knowledge base of adversary tactics and techniques</a:t>
            </a:r>
          </a:p>
          <a:p>
            <a:r>
              <a:rPr sz="1050">
                <a:solidFill>
                  <a:srgbClr val="F0F4F8"/>
                </a:solidFill>
                <a:latin typeface="Calibri"/>
              </a:rPr>
              <a:t>based on real-world observations"</a:t>
            </a:r>
          </a:p>
          <a:p>
            <a:r>
              <a:rPr sz="600">
                <a:latin typeface="Calibri"/>
              </a:rPr>
              <a:t/>
            </a:r>
          </a:p>
          <a:p>
            <a:r>
              <a:rPr sz="1050">
                <a:solidFill>
                  <a:srgbClr val="F0F4F8"/>
                </a:solidFill>
                <a:latin typeface="Calibri"/>
              </a:rPr>
              <a:t>TACTICS (the WHY)            → TECHNIQUES (the HOW)</a:t>
            </a:r>
          </a:p>
          <a:p>
            <a:r>
              <a:rPr sz="600">
                <a:latin typeface="Calibri"/>
              </a:rPr>
              <a:t/>
            </a:r>
          </a:p>
          <a:p>
            <a:r>
              <a:rPr sz="1050">
                <a:solidFill>
                  <a:srgbClr val="F0F4F8"/>
                </a:solidFill>
                <a:latin typeface="Calibri"/>
              </a:rPr>
              <a:t>Initial Access               Phishing, Drive-by, Supply Chain</a:t>
            </a:r>
          </a:p>
          <a:p>
            <a:r>
              <a:rPr sz="1050">
                <a:solidFill>
                  <a:srgbClr val="F0F4F8"/>
                </a:solidFill>
                <a:latin typeface="Calibri"/>
              </a:rPr>
              <a:t>Execution                    Macro, PowerShell, Command Line</a:t>
            </a:r>
          </a:p>
          <a:p>
            <a:r>
              <a:rPr sz="1050">
                <a:solidFill>
                  <a:srgbClr val="F0F4F8"/>
                </a:solidFill>
                <a:latin typeface="Calibri"/>
              </a:rPr>
              <a:t>Persistence                  Registry keys, Scheduled Tasks, Startup</a:t>
            </a:r>
          </a:p>
          <a:p>
            <a:r>
              <a:rPr sz="1050">
                <a:solidFill>
                  <a:srgbClr val="F0F4F8"/>
                </a:solidFill>
                <a:latin typeface="Calibri"/>
              </a:rPr>
              <a:t>Privilege Escalation         Exploit vulnerabilities, Token theft</a:t>
            </a:r>
          </a:p>
          <a:p>
            <a:r>
              <a:rPr sz="1050">
                <a:solidFill>
                  <a:srgbClr val="F0F4F8"/>
                </a:solidFill>
                <a:latin typeface="Calibri"/>
              </a:rPr>
              <a:t>Defence Evasion              Obfuscation, Signed Binary, Rootkit</a:t>
            </a:r>
          </a:p>
          <a:p>
            <a:r>
              <a:rPr sz="1050">
                <a:solidFill>
                  <a:srgbClr val="F0F4F8"/>
                </a:solidFill>
                <a:latin typeface="Calibri"/>
              </a:rPr>
              <a:t>Credential Access            Keylogging, LSASS dump, Brute Force</a:t>
            </a:r>
          </a:p>
          <a:p>
            <a:r>
              <a:rPr sz="1050">
                <a:solidFill>
                  <a:srgbClr val="F0F4F8"/>
                </a:solidFill>
                <a:latin typeface="Calibri"/>
              </a:rPr>
              <a:t>Lateral Movement             Pass-the-Hash, RDP, SMB</a:t>
            </a:r>
          </a:p>
          <a:p>
            <a:r>
              <a:rPr sz="1050">
                <a:solidFill>
                  <a:srgbClr val="F0F4F8"/>
                </a:solidFill>
                <a:latin typeface="Calibri"/>
              </a:rPr>
              <a:t>Exfiltration                 Via encrypted channel, DNS tunnel</a:t>
            </a:r>
          </a:p>
          <a:p>
            <a:r>
              <a:rPr sz="1050">
                <a:solidFill>
                  <a:srgbClr val="F0F4F8"/>
                </a:solidFill>
                <a:latin typeface="Calibri"/>
              </a:rPr>
              <a:t>Impact                       Encrypt for ransomware, Wiper, DDoS</a:t>
            </a:r>
          </a:p>
          <a:p>
            <a:r>
              <a:rPr sz="600">
                <a:latin typeface="Calibri"/>
              </a:rPr>
              <a:t/>
            </a:r>
          </a:p>
          <a:p>
            <a:r>
              <a:rPr sz="1200" b="1">
                <a:solidFill>
                  <a:srgbClr val="E74C3C"/>
                </a:solidFill>
                <a:latin typeface="Calibri"/>
              </a:rPr>
              <a:t>WHY IT MATTERS:</a:t>
            </a:r>
          </a:p>
          <a:p>
            <a:r>
              <a:rPr sz="1050">
                <a:solidFill>
                  <a:srgbClr val="F0F4F8"/>
                </a:solidFill>
                <a:latin typeface="Calibri"/>
              </a:rPr>
              <a:t>  •  Common language for threat intelligence sharing</a:t>
            </a:r>
          </a:p>
          <a:p>
            <a:r>
              <a:rPr sz="1050">
                <a:solidFill>
                  <a:srgbClr val="F0F4F8"/>
                </a:solidFill>
                <a:latin typeface="Calibri"/>
              </a:rPr>
              <a:t>  •  Maps malware behaviour to standardised technique IDs</a:t>
            </a:r>
          </a:p>
          <a:p>
            <a:r>
              <a:rPr sz="1050">
                <a:solidFill>
                  <a:srgbClr val="F0F4F8"/>
                </a:solidFill>
                <a:latin typeface="Calibri"/>
              </a:rPr>
              <a:t>  •  Helps defenders identify gaps in detection coverage</a:t>
            </a:r>
          </a:p>
          <a:p>
            <a:r>
              <a:rPr sz="1050">
                <a:solidFill>
                  <a:srgbClr val="F0F4F8"/>
                </a:solidFill>
                <a:latin typeface="Calibri"/>
              </a:rPr>
              <a:t>  •  Used in every professional malware analysis report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10</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E74C3C"/>
                </a:solidFill>
                <a:latin typeface="Calibri"/>
              </a:rPr>
              <a:t>MOD 10</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10 OPENER: INCIDENT RESPONSE</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E74C3C"/>
                </a:solidFill>
                <a:latin typeface="Calibri"/>
              </a:rPr>
              <a:t>LEVEL: PROFESSIONAL</a:t>
            </a:r>
          </a:p>
          <a:p>
            <a:r>
              <a:rPr sz="1300" b="1">
                <a:solidFill>
                  <a:srgbClr val="E74C3C"/>
                </a:solidFill>
                <a:latin typeface="Calibri"/>
              </a:rPr>
              <a:t>MODULE 10</a:t>
            </a:r>
          </a:p>
          <a:p>
            <a:r>
              <a:rPr sz="1300" b="1">
                <a:solidFill>
                  <a:srgbClr val="E74C3C"/>
                </a:solidFill>
                <a:latin typeface="Calibri"/>
              </a:rPr>
              <a:t>INCIDENT RESPONSE &amp;</a:t>
            </a:r>
          </a:p>
          <a:p>
            <a:r>
              <a:rPr sz="1300" b="1">
                <a:solidFill>
                  <a:srgbClr val="E74C3C"/>
                </a:solidFill>
                <a:latin typeface="Calibri"/>
              </a:rPr>
              <a:t>DIGITAL FORENSICS</a:t>
            </a:r>
          </a:p>
          <a:p>
            <a:r>
              <a:rPr sz="1100">
                <a:solidFill>
                  <a:srgbClr val="F0F4F8"/>
                </a:solidFill>
                <a:latin typeface="Calibri"/>
              </a:rPr>
              <a:t>"It's not if you get breached. It's when.</a:t>
            </a:r>
          </a:p>
          <a:p>
            <a:r>
              <a:rPr sz="1100">
                <a:solidFill>
                  <a:srgbClr val="F0F4F8"/>
                </a:solidFill>
                <a:latin typeface="Calibri"/>
              </a:rPr>
              <a:t>The difference is whether you're ready."</a:t>
            </a:r>
          </a:p>
          <a:p>
            <a:r>
              <a:rPr sz="1100">
                <a:solidFill>
                  <a:srgbClr val="F0F4F8"/>
                </a:solidFill>
                <a:latin typeface="Calibri"/>
              </a:rPr>
              <a:t>NIST IR lifecycle (4 phases)</a:t>
            </a:r>
          </a:p>
          <a:p>
            <a:r>
              <a:rPr sz="1100">
                <a:solidFill>
                  <a:srgbClr val="F0F4F8"/>
                </a:solidFill>
                <a:latin typeface="Calibri"/>
              </a:rPr>
              <a:t>Detection and triage · Containment</a:t>
            </a:r>
          </a:p>
          <a:p>
            <a:r>
              <a:rPr sz="1100">
                <a:solidFill>
                  <a:srgbClr val="F0F4F8"/>
                </a:solidFill>
                <a:latin typeface="Calibri"/>
              </a:rPr>
              <a:t>Digital forensics (evidence preservation)</a:t>
            </a:r>
          </a:p>
          <a:p>
            <a:r>
              <a:rPr sz="1100">
                <a:solidFill>
                  <a:srgbClr val="F0F4F8"/>
                </a:solidFill>
                <a:latin typeface="Calibri"/>
              </a:rPr>
              <a:t>Log analysis and timeline reconstruction</a:t>
            </a:r>
          </a:p>
          <a:p>
            <a:r>
              <a:rPr sz="1100">
                <a:solidFill>
                  <a:srgbClr val="F0F4F8"/>
                </a:solidFill>
                <a:latin typeface="Calibri"/>
              </a:rPr>
              <a:t>NDPA 2023 breach notification (72 hours)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10</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INCIDENT RESPONSE</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Four-phase circular lifecycle diagram</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NIST INCIDENT RESPONSE LIFECYCLE</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NIST INCIDENT RESPONSE LIFECYCLE</a:t>
            </a:r>
          </a:p>
          <a:p>
            <a:r>
              <a:rPr sz="600">
                <a:latin typeface="Calibri"/>
              </a:rPr>
              <a:t/>
            </a:r>
          </a:p>
          <a:p>
            <a:r>
              <a:rPr sz="1000">
                <a:solidFill>
                  <a:srgbClr val="8BA5BE"/>
                </a:solidFill>
                <a:latin typeface="Calibri"/>
              </a:rPr>
              <a:t>      ◦  ① PREPARATION</a:t>
            </a:r>
          </a:p>
          <a:p>
            <a:r>
              <a:rPr sz="1000">
                <a:solidFill>
                  <a:srgbClr val="8BA5BE"/>
                </a:solidFill>
                <a:latin typeface="Calibri"/>
              </a:rPr>
              <a:t>      ◦  ────────────────────────────────</a:t>
            </a:r>
          </a:p>
          <a:p>
            <a:r>
              <a:rPr sz="1000">
                <a:solidFill>
                  <a:srgbClr val="8BA5BE"/>
                </a:solidFill>
                <a:latin typeface="Calibri"/>
              </a:rPr>
              <a:t>      ◦  Incident Response Plan (IRP)</a:t>
            </a:r>
          </a:p>
          <a:p>
            <a:r>
              <a:rPr sz="1000">
                <a:solidFill>
                  <a:srgbClr val="8BA5BE"/>
                </a:solidFill>
                <a:latin typeface="Calibri"/>
              </a:rPr>
              <a:t>      ◦  Incident Response Team (IRT)</a:t>
            </a:r>
          </a:p>
          <a:p>
            <a:r>
              <a:rPr sz="1000">
                <a:solidFill>
                  <a:srgbClr val="8BA5BE"/>
                </a:solidFill>
                <a:latin typeface="Calibri"/>
              </a:rPr>
              <a:t>      ◦  SIEM + IDS/IPS + EDR deployed</a:t>
            </a:r>
          </a:p>
          <a:p>
            <a:r>
              <a:rPr sz="1000">
                <a:solidFill>
                  <a:srgbClr val="8BA5BE"/>
                </a:solidFill>
                <a:latin typeface="Calibri"/>
              </a:rPr>
              <a:t>      ◦  Tabletop exercises run regularly</a:t>
            </a:r>
          </a:p>
          <a:p>
            <a:r>
              <a:rPr sz="1000">
                <a:solidFill>
                  <a:srgbClr val="8BA5BE"/>
                </a:solidFill>
                <a:latin typeface="Calibri"/>
              </a:rPr>
              <a:t>      ◦  │</a:t>
            </a:r>
          </a:p>
          <a:p>
            <a:r>
              <a:rPr sz="1000">
                <a:solidFill>
                  <a:srgbClr val="8BA5BE"/>
                </a:solidFill>
                <a:latin typeface="Calibri"/>
              </a:rPr>
              <a:t>      ◦  ④ POST-INCIDENT     ② DETECTION &amp; ANALYSIS</a:t>
            </a:r>
          </a:p>
          <a:p>
            <a:r>
              <a:rPr sz="1000">
                <a:solidFill>
                  <a:srgbClr val="8BA5BE"/>
                </a:solidFill>
                <a:latin typeface="Calibri"/>
              </a:rPr>
              <a:t>      ◦  ─────────────────   ────────────────────────</a:t>
            </a:r>
          </a:p>
          <a:p>
            <a:r>
              <a:rPr sz="1000">
                <a:solidFill>
                  <a:srgbClr val="8BA5BE"/>
                </a:solidFill>
                <a:latin typeface="Calibri"/>
              </a:rPr>
              <a:t>      ◦  Lessons learned     What systems affected?</a:t>
            </a:r>
          </a:p>
          <a:p>
            <a:r>
              <a:rPr sz="1000">
                <a:solidFill>
                  <a:srgbClr val="8BA5BE"/>
                </a:solidFill>
                <a:latin typeface="Calibri"/>
              </a:rPr>
              <a:t>      ◦  Update IR plan      What data at risk?</a:t>
            </a:r>
          </a:p>
          <a:p>
            <a:r>
              <a:rPr sz="1000">
                <a:solidFill>
                  <a:srgbClr val="8BA5BE"/>
                </a:solidFill>
                <a:latin typeface="Calibri"/>
              </a:rPr>
              <a:t>      ◦  Share intelligence  Is attack ongoing?</a:t>
            </a:r>
          </a:p>
          <a:p>
            <a:r>
              <a:rPr sz="1000">
                <a:solidFill>
                  <a:srgbClr val="8BA5BE"/>
                </a:solidFill>
                <a:latin typeface="Calibri"/>
              </a:rPr>
              <a:t>      ◦  Brief leadership    Classify severity (P1–P4)</a:t>
            </a:r>
          </a:p>
          <a:p>
            <a:r>
              <a:rPr sz="1000">
                <a:solidFill>
                  <a:srgbClr val="8BA5BE"/>
                </a:solidFill>
                <a:latin typeface="Calibri"/>
              </a:rPr>
              <a:t>      ◦  │           │</a:t>
            </a:r>
          </a:p>
          <a:p>
            <a:r>
              <a:rPr sz="1000">
                <a:solidFill>
                  <a:srgbClr val="8BA5BE"/>
                </a:solidFill>
                <a:latin typeface="Calibri"/>
              </a:rPr>
              <a:t>      ◦  └─── ③ CONTAINMENT, ERADICATION &amp; RECOVERY</a:t>
            </a:r>
          </a:p>
          <a:p>
            <a:r>
              <a:rPr sz="1000">
                <a:solidFill>
                  <a:srgbClr val="8BA5BE"/>
                </a:solidFill>
                <a:latin typeface="Calibri"/>
              </a:rPr>
              <a:t>      ◦  ────────────────────────────────────────</a:t>
            </a:r>
          </a:p>
          <a:p>
            <a:r>
              <a:rPr sz="1000">
                <a:solidFill>
                  <a:srgbClr val="8BA5BE"/>
                </a:solidFill>
                <a:latin typeface="Calibri"/>
              </a:rPr>
              <a:t>      ◦  Isolate systems (don't turn off!)</a:t>
            </a:r>
          </a:p>
          <a:p>
            <a:r>
              <a:rPr sz="1000">
                <a:solidFill>
                  <a:srgbClr val="8BA5BE"/>
                </a:solidFill>
                <a:latin typeface="Calibri"/>
              </a:rPr>
              <a:t>      ◦  Forensic images BEFORE wiping</a:t>
            </a:r>
          </a:p>
          <a:p>
            <a:r>
              <a:rPr sz="1000">
                <a:solidFill>
                  <a:srgbClr val="8BA5BE"/>
                </a:solidFill>
                <a:latin typeface="Calibri"/>
              </a:rPr>
              <a:t>      ◦  Remove threat completely</a:t>
            </a:r>
          </a:p>
          <a:p>
            <a:r>
              <a:rPr sz="1000">
                <a:solidFill>
                  <a:srgbClr val="8BA5BE"/>
                </a:solidFill>
                <a:latin typeface="Calibri"/>
              </a:rPr>
              <a:t>      ◦  Restore from clean backups</a:t>
            </a:r>
          </a:p>
          <a:p>
            <a:r>
              <a:rPr sz="600">
                <a:latin typeface="Calibri"/>
              </a:rPr>
              <a:t/>
            </a:r>
          </a:p>
          <a:p>
            <a:r>
              <a:rPr sz="1050">
                <a:solidFill>
                  <a:srgbClr val="F0F4F8"/>
                </a:solidFill>
                <a:latin typeface="Calibri"/>
              </a:rPr>
              <a:t>Average time to detect breach: 197 days</a:t>
            </a:r>
          </a:p>
          <a:p>
            <a:r>
              <a:rPr sz="1050">
                <a:solidFill>
                  <a:srgbClr val="F0F4F8"/>
                </a:solidFill>
                <a:latin typeface="Calibri"/>
              </a:rPr>
              <a:t>With mature IR programme: hours to days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10</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INCIDENT RESPONSE</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Five golden rules displayed as numbered cards</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DIGITAL FORENSICS RULES</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DIGITAL FORENSICS — THE 5 GOLDEN RULES</a:t>
            </a:r>
          </a:p>
          <a:p>
            <a:r>
              <a:rPr sz="600">
                <a:latin typeface="Calibri"/>
              </a:rPr>
              <a:t/>
            </a:r>
          </a:p>
          <a:p>
            <a:r>
              <a:rPr sz="1050">
                <a:solidFill>
                  <a:srgbClr val="F0F4F8"/>
                </a:solidFill>
                <a:latin typeface="Calibri"/>
              </a:rPr>
              <a:t>  1. PRESERVE THE ORIGINAL</a:t>
            </a:r>
          </a:p>
          <a:p>
            <a:r>
              <a:rPr sz="1000">
                <a:solidFill>
                  <a:srgbClr val="8BA5BE"/>
                </a:solidFill>
                <a:latin typeface="Calibri"/>
              </a:rPr>
              <a:t>      ◦  Never work on original evidence — always forensic copies</a:t>
            </a:r>
          </a:p>
          <a:p>
            <a:r>
              <a:rPr sz="1000">
                <a:solidFill>
                  <a:srgbClr val="8BA5BE"/>
                </a:solidFill>
                <a:latin typeface="Calibri"/>
              </a:rPr>
              <a:t>      ◦  Write blockers prevent accidental modification</a:t>
            </a:r>
          </a:p>
          <a:p>
            <a:r>
              <a:rPr sz="600">
                <a:latin typeface="Calibri"/>
              </a:rPr>
              <a:t/>
            </a:r>
          </a:p>
          <a:p>
            <a:r>
              <a:rPr sz="1050">
                <a:solidFill>
                  <a:srgbClr val="F0F4F8"/>
                </a:solidFill>
                <a:latin typeface="Calibri"/>
              </a:rPr>
              <a:t>  2. CHAIN OF CUSTODY</a:t>
            </a:r>
          </a:p>
          <a:p>
            <a:r>
              <a:rPr sz="1000">
                <a:solidFill>
                  <a:srgbClr val="8BA5BE"/>
                </a:solidFill>
                <a:latin typeface="Calibri"/>
              </a:rPr>
              <a:t>      ◦  Document every person who touches evidence + timestamp</a:t>
            </a:r>
          </a:p>
          <a:p>
            <a:r>
              <a:rPr sz="1000">
                <a:solidFill>
                  <a:srgbClr val="8BA5BE"/>
                </a:solidFill>
                <a:latin typeface="Calibri"/>
              </a:rPr>
              <a:t>      ◦  Any gap in chain can invalidate evidence in court</a:t>
            </a:r>
          </a:p>
          <a:p>
            <a:r>
              <a:rPr sz="600">
                <a:latin typeface="Calibri"/>
              </a:rPr>
              <a:t/>
            </a:r>
          </a:p>
          <a:p>
            <a:r>
              <a:rPr sz="1050">
                <a:solidFill>
                  <a:srgbClr val="F0F4F8"/>
                </a:solidFill>
                <a:latin typeface="Calibri"/>
              </a:rPr>
              <a:t>  3. DOCUMENT EVERYTHING</a:t>
            </a:r>
          </a:p>
          <a:p>
            <a:r>
              <a:rPr sz="1000">
                <a:solidFill>
                  <a:srgbClr val="8BA5BE"/>
                </a:solidFill>
                <a:latin typeface="Calibri"/>
              </a:rPr>
              <a:t>      ◦  Time-stamped notes for every single action taken</a:t>
            </a:r>
          </a:p>
          <a:p>
            <a:r>
              <a:rPr sz="1000">
                <a:solidFill>
                  <a:srgbClr val="8BA5BE"/>
                </a:solidFill>
                <a:latin typeface="Calibri"/>
              </a:rPr>
              <a:t>      ◦  Screenshot, write, photograph</a:t>
            </a:r>
          </a:p>
          <a:p>
            <a:r>
              <a:rPr sz="600">
                <a:latin typeface="Calibri"/>
              </a:rPr>
              <a:t/>
            </a:r>
          </a:p>
          <a:p>
            <a:r>
              <a:rPr sz="1050">
                <a:solidFill>
                  <a:srgbClr val="F0F4F8"/>
                </a:solidFill>
                <a:latin typeface="Calibri"/>
              </a:rPr>
              <a:t>  4. DON'T ALTER THE EVIDENCE</a:t>
            </a:r>
          </a:p>
          <a:p>
            <a:r>
              <a:rPr sz="1000">
                <a:solidFill>
                  <a:srgbClr val="8BA5BE"/>
                </a:solidFill>
                <a:latin typeface="Calibri"/>
              </a:rPr>
              <a:t>      ◦  Read-only mounting. Verify hash before and after.</a:t>
            </a:r>
          </a:p>
          <a:p>
            <a:r>
              <a:rPr sz="1000">
                <a:solidFill>
                  <a:srgbClr val="8BA5BE"/>
                </a:solidFill>
                <a:latin typeface="Calibri"/>
              </a:rPr>
              <a:t>      ◦  Never open malware samples on the evidence drive</a:t>
            </a:r>
          </a:p>
          <a:p>
            <a:r>
              <a:rPr sz="600">
                <a:latin typeface="Calibri"/>
              </a:rPr>
              <a:t/>
            </a:r>
          </a:p>
          <a:p>
            <a:r>
              <a:rPr sz="1050">
                <a:solidFill>
                  <a:srgbClr val="F0F4F8"/>
                </a:solidFill>
                <a:latin typeface="Calibri"/>
              </a:rPr>
              <a:t>  5. HASH VERIFICATION</a:t>
            </a:r>
          </a:p>
          <a:p>
            <a:r>
              <a:rPr sz="1000">
                <a:solidFill>
                  <a:srgbClr val="8BA5BE"/>
                </a:solidFill>
                <a:latin typeface="Calibri"/>
              </a:rPr>
              <a:t>      ◦  SHA-256 hash the original before copying</a:t>
            </a:r>
          </a:p>
          <a:p>
            <a:r>
              <a:rPr sz="1000">
                <a:solidFill>
                  <a:srgbClr val="8BA5BE"/>
                </a:solidFill>
                <a:latin typeface="Calibri"/>
              </a:rPr>
              <a:t>      ◦  SHA-256 hash the copy after</a:t>
            </a:r>
          </a:p>
          <a:p>
            <a:r>
              <a:rPr sz="1000">
                <a:solidFill>
                  <a:srgbClr val="8BA5BE"/>
                </a:solidFill>
                <a:latin typeface="Calibri"/>
              </a:rPr>
              <a:t>      ◦  Matching hashes = forensically sound copy</a:t>
            </a:r>
          </a:p>
          <a:p>
            <a:r>
              <a:rPr sz="600">
                <a:latin typeface="Calibri"/>
              </a:rPr>
              <a:t/>
            </a:r>
          </a:p>
          <a:p>
            <a:r>
              <a:rPr sz="1050">
                <a:solidFill>
                  <a:srgbClr val="F0F4F8"/>
                </a:solidFill>
                <a:latin typeface="Calibri"/>
              </a:rPr>
              <a:t>ORDER OF VOLATILITY (collect from most volatile first):</a:t>
            </a:r>
          </a:p>
          <a:p>
            <a:r>
              <a:rPr sz="1050">
                <a:solidFill>
                  <a:srgbClr val="F0F4F8"/>
                </a:solidFill>
                <a:latin typeface="Calibri"/>
              </a:rPr>
              <a:t>RAM → Network state → Running processes → Disk → Remote logs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11</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E74C3C"/>
                </a:solidFill>
                <a:latin typeface="Calibri"/>
              </a:rPr>
              <a:t>MOD 11</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11 OPENER: CLOUD SECURITY</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E74C3C"/>
                </a:solidFill>
                <a:latin typeface="Calibri"/>
              </a:rPr>
              <a:t>LEVEL: PROFESSIONAL</a:t>
            </a:r>
          </a:p>
          <a:p>
            <a:r>
              <a:rPr sz="1300" b="1">
                <a:solidFill>
                  <a:srgbClr val="E74C3C"/>
                </a:solidFill>
                <a:latin typeface="Calibri"/>
              </a:rPr>
              <a:t>MODULE 11</a:t>
            </a:r>
          </a:p>
          <a:p>
            <a:r>
              <a:rPr sz="1300" b="1">
                <a:solidFill>
                  <a:srgbClr val="E74C3C"/>
                </a:solidFill>
                <a:latin typeface="Calibri"/>
              </a:rPr>
              <a:t>CLOUD SECURITY &amp;</a:t>
            </a:r>
          </a:p>
          <a:p>
            <a:r>
              <a:rPr sz="1300" b="1">
                <a:solidFill>
                  <a:srgbClr val="E74C3C"/>
                </a:solidFill>
                <a:latin typeface="Calibri"/>
              </a:rPr>
              <a:t>EMERGING TECHNOLOGIES</a:t>
            </a:r>
          </a:p>
          <a:p>
            <a:r>
              <a:rPr sz="1100">
                <a:solidFill>
                  <a:srgbClr val="F0F4F8"/>
                </a:solidFill>
                <a:latin typeface="Calibri"/>
              </a:rPr>
              <a:t>"The cloud is the most important</a:t>
            </a:r>
          </a:p>
          <a:p>
            <a:r>
              <a:rPr sz="1100">
                <a:solidFill>
                  <a:srgbClr val="F0F4F8"/>
                </a:solidFill>
                <a:latin typeface="Calibri"/>
              </a:rPr>
              <a:t>infrastructure shift in 30 years.</a:t>
            </a:r>
          </a:p>
          <a:p>
            <a:r>
              <a:rPr sz="1100">
                <a:solidFill>
                  <a:srgbClr val="F0F4F8"/>
                </a:solidFill>
                <a:latin typeface="Calibri"/>
              </a:rPr>
              <a:t>It's also the most misconfigured."</a:t>
            </a:r>
          </a:p>
          <a:p>
            <a:r>
              <a:rPr sz="1100">
                <a:solidFill>
                  <a:srgbClr val="F0F4F8"/>
                </a:solidFill>
                <a:latin typeface="Calibri"/>
              </a:rPr>
              <a:t>AWS Shared Responsibility Model</a:t>
            </a:r>
          </a:p>
          <a:p>
            <a:r>
              <a:rPr sz="1100">
                <a:solidFill>
                  <a:srgbClr val="F0F4F8"/>
                </a:solidFill>
                <a:latin typeface="Calibri"/>
              </a:rPr>
              <a:t>IAM least privilege · S3 misconfiguration</a:t>
            </a:r>
          </a:p>
          <a:p>
            <a:r>
              <a:rPr sz="1100">
                <a:solidFill>
                  <a:srgbClr val="F0F4F8"/>
                </a:solidFill>
                <a:latin typeface="Calibri"/>
              </a:rPr>
              <a:t>CloudTrail · GuardDuty · Security Hub</a:t>
            </a:r>
          </a:p>
          <a:p>
            <a:r>
              <a:rPr sz="1100">
                <a:solidFill>
                  <a:srgbClr val="F0F4F8"/>
                </a:solidFill>
                <a:latin typeface="Calibri"/>
              </a:rPr>
              <a:t>Mobile application security (OWASP Mobile Top 10)</a:t>
            </a:r>
          </a:p>
          <a:p>
            <a:r>
              <a:rPr sz="1100">
                <a:solidFill>
                  <a:srgbClr val="F0F4F8"/>
                </a:solidFill>
                <a:latin typeface="Calibri"/>
              </a:rPr>
              <a:t>API security · IoT security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11</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CLOUD SECURITY</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Two-column split</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SHARED RESPONSIBILITY MODEL</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E74C3C"/>
                </a:solidFill>
                <a:latin typeface="Calibri"/>
              </a:rPr>
              <a:t>AWS RESPONSIBLE                    CUSTOMER RESPONSIBLE</a:t>
            </a:r>
          </a:p>
        </p:txBody>
      </p:sp>
      <p:sp>
        <p:nvSpPr>
          <p:cNvPr id="16" name="TextBox 15"/>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               ───────────────────────── Physical data centres              Your data (encryption, classification) Hardware (servers, switches)       IAM (who has access to what)</a:t>
            </a:r>
          </a:p>
        </p:txBody>
      </p:sp>
      <p:sp>
        <p:nvSpPr>
          <p:cNvPr id="17" name="Rectangle 16"/>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THE CRITICAL MISUNDERSTANDING:</a:t>
            </a:r>
          </a:p>
        </p:txBody>
      </p:sp>
      <p:sp>
        <p:nvSpPr>
          <p:cNvPr id="20" name="TextBox 19"/>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"It's in the cloud so it's secure" = WRONG AWS has never been breached at the infrastructure level. Every cloud breach has been in the CUSTOMER'S responsibility zone.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11</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CLOUD SECURITY</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Six mistake cards in a 2×3 grid</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TOP CLOUD SECURITY MISTAKES</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THE 6 MOST COMMON CLOUD SECURITY FAILURES</a:t>
            </a:r>
          </a:p>
          <a:p>
            <a:r>
              <a:rPr sz="600">
                <a:latin typeface="Calibri"/>
              </a:rPr>
              <a:t/>
            </a:r>
          </a:p>
          <a:p>
            <a:r>
              <a:rPr sz="1050">
                <a:solidFill>
                  <a:srgbClr val="F0F4F8"/>
                </a:solidFill>
                <a:latin typeface="Calibri"/>
              </a:rPr>
              <a:t>[PUBLIC S3 BUCKET]         [NO IAM MFA]              [OVER-PRIVILEGED ROLES]</a:t>
            </a:r>
          </a:p>
          <a:p>
            <a:r>
              <a:rPr sz="1050">
                <a:solidFill>
                  <a:srgbClr val="F0F4F8"/>
                </a:solidFill>
                <a:latin typeface="Calibri"/>
              </a:rPr>
              <a:t>Exposed customer data      Password = access          Service with admin access</a:t>
            </a:r>
          </a:p>
          <a:p>
            <a:r>
              <a:rPr sz="1050">
                <a:solidFill>
                  <a:srgbClr val="F0F4F8"/>
                </a:solidFill>
                <a:latin typeface="Calibri"/>
              </a:rPr>
              <a:t>"Click to make public"     Brute force wins           Blast radius is everything</a:t>
            </a:r>
          </a:p>
          <a:p>
            <a:r>
              <a:rPr sz="1050">
                <a:solidFill>
                  <a:srgbClr val="F0F4F8"/>
                </a:solidFill>
                <a:latin typeface="Calibri"/>
              </a:rPr>
              <a:t>Fix: Remove public access  Fix: MFA mandatory         Fix: Least privilege always</a:t>
            </a:r>
          </a:p>
          <a:p>
            <a:r>
              <a:rPr sz="600">
                <a:latin typeface="Calibri"/>
              </a:rPr>
              <a:t/>
            </a:r>
          </a:p>
          <a:p>
            <a:r>
              <a:rPr sz="1050">
                <a:solidFill>
                  <a:srgbClr val="F0F4F8"/>
                </a:solidFill>
                <a:latin typeface="Calibri"/>
              </a:rPr>
              <a:t>[OPEN SECURITY GROUPS]     [HARDCODED CREDENTIALS]    [NO CLOUDTRAIL LOGGING]</a:t>
            </a:r>
          </a:p>
          <a:p>
            <a:r>
              <a:rPr sz="1050">
                <a:solidFill>
                  <a:srgbClr val="F0F4F8"/>
                </a:solidFill>
                <a:latin typeface="Calibri"/>
              </a:rPr>
              <a:t>Database port open          Dev pushed AWS keys       Can't detect breach</a:t>
            </a:r>
          </a:p>
          <a:p>
            <a:r>
              <a:rPr sz="1050">
                <a:solidFill>
                  <a:srgbClr val="F0F4F8"/>
                </a:solidFill>
                <a:latin typeface="Calibri"/>
              </a:rPr>
              <a:t>to 0.0.0.0/0               to GitHub                  Can't do forensics</a:t>
            </a:r>
          </a:p>
          <a:p>
            <a:r>
              <a:rPr sz="1050">
                <a:solidFill>
                  <a:srgbClr val="F0F4F8"/>
                </a:solidFill>
                <a:latin typeface="Calibri"/>
              </a:rPr>
              <a:t>"Tested in dev, forgot"     Attacker finds in hours    Fix: Enable day 1</a:t>
            </a:r>
          </a:p>
          <a:p>
            <a:r>
              <a:rPr sz="1050">
                <a:solidFill>
                  <a:srgbClr val="F0F4F8"/>
                </a:solidFill>
                <a:latin typeface="Calibri"/>
              </a:rPr>
              <a:t>Fix: Only specific IPs      Fix: Use IAM roles, not keys. Enable secret scanning.</a:t>
            </a:r>
          </a:p>
          <a:p>
            <a:r>
              <a:rPr sz="600">
                <a:latin typeface="Calibri"/>
              </a:rPr>
              <a:t/>
            </a:r>
          </a:p>
          <a:p>
            <a:r>
              <a:rPr sz="1200" b="1">
                <a:solidFill>
                  <a:srgbClr val="E74C3C"/>
                </a:solidFill>
                <a:latin typeface="Calibri"/>
              </a:rPr>
              <a:t>CASE STUDY:</a:t>
            </a:r>
          </a:p>
          <a:p>
            <a:r>
              <a:rPr sz="1050">
                <a:solidFill>
                  <a:srgbClr val="F0F4F8"/>
                </a:solidFill>
                <a:latin typeface="Calibri"/>
              </a:rPr>
              <a:t>2019: Major Nigerian retailer — misconfigured S3 bucket exposed 800,000 customer records.</a:t>
            </a:r>
          </a:p>
          <a:p>
            <a:r>
              <a:rPr sz="1050">
                <a:solidFill>
                  <a:srgbClr val="F0F4F8"/>
                </a:solidFill>
                <a:latin typeface="Calibri"/>
              </a:rPr>
              <a:t>Found by security researcher. Could have been found by attacker first.</a:t>
            </a:r>
          </a:p>
          <a:p>
            <a:r>
              <a:rPr sz="1050">
                <a:solidFill>
                  <a:srgbClr val="F0F4F8"/>
                </a:solidFill>
                <a:latin typeface="Calibri"/>
              </a:rPr>
              <a:t>  •  No encryption, no IAM restriction, no logging enabled.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12</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E74C3C"/>
                </a:solidFill>
                <a:latin typeface="Calibri"/>
              </a:rPr>
              <a:t>MOD 12</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12 OPENER: GRC</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E74C3C"/>
                </a:solidFill>
                <a:latin typeface="Calibri"/>
              </a:rPr>
              <a:t>LEVEL: PROFESSIONAL</a:t>
            </a:r>
          </a:p>
          <a:p>
            <a:r>
              <a:rPr sz="1300" b="1">
                <a:solidFill>
                  <a:srgbClr val="E74C3C"/>
                </a:solidFill>
                <a:latin typeface="Calibri"/>
              </a:rPr>
              <a:t>MODULE 12</a:t>
            </a:r>
          </a:p>
          <a:p>
            <a:r>
              <a:rPr sz="1100">
                <a:solidFill>
                  <a:srgbClr val="F0F4F8"/>
                </a:solidFill>
                <a:latin typeface="Calibri"/>
              </a:rPr>
              <a:t>GOVERNANCE, RISK &amp;</a:t>
            </a:r>
          </a:p>
          <a:p>
            <a:r>
              <a:rPr sz="1100">
                <a:solidFill>
                  <a:srgbClr val="F0F4F8"/>
                </a:solidFill>
                <a:latin typeface="Calibri"/>
              </a:rPr>
              <a:t>COMPLIANCE (GRC) +</a:t>
            </a:r>
          </a:p>
          <a:p>
            <a:r>
              <a:rPr sz="1300" b="1">
                <a:solidFill>
                  <a:srgbClr val="E74C3C"/>
                </a:solidFill>
                <a:latin typeface="Calibri"/>
              </a:rPr>
              <a:t>FUTURE OF CYBERSECURITY</a:t>
            </a:r>
          </a:p>
          <a:p>
            <a:r>
              <a:rPr sz="1100">
                <a:solidFill>
                  <a:srgbClr val="F0F4F8"/>
                </a:solidFill>
                <a:latin typeface="Calibri"/>
              </a:rPr>
              <a:t>"Security is not just a technical problem.</a:t>
            </a:r>
          </a:p>
          <a:p>
            <a:r>
              <a:rPr sz="1100">
                <a:solidFill>
                  <a:srgbClr val="F0F4F8"/>
                </a:solidFill>
                <a:latin typeface="Calibri"/>
              </a:rPr>
              <a:t>It is a business problem with technical solutions."</a:t>
            </a:r>
          </a:p>
          <a:p>
            <a:r>
              <a:rPr sz="1100">
                <a:solidFill>
                  <a:srgbClr val="F0F4F8"/>
                </a:solidFill>
                <a:latin typeface="Calibri"/>
              </a:rPr>
              <a:t>GRC framework · Risk assessment methodology</a:t>
            </a:r>
          </a:p>
          <a:p>
            <a:r>
              <a:rPr sz="1100">
                <a:solidFill>
                  <a:srgbClr val="F0F4F8"/>
                </a:solidFill>
                <a:latin typeface="Calibri"/>
              </a:rPr>
              <a:t>Nigerian regulatory landscape (CBN, NDPA, NCC, NITDA)</a:t>
            </a:r>
          </a:p>
          <a:p>
            <a:r>
              <a:rPr sz="1100">
                <a:solidFill>
                  <a:srgbClr val="F0F4F8"/>
                </a:solidFill>
                <a:latin typeface="Calibri"/>
              </a:rPr>
              <a:t>ISO 27001 · NIST CSF 2.0 · PCI DSS</a:t>
            </a:r>
          </a:p>
          <a:p>
            <a:r>
              <a:rPr sz="1100">
                <a:solidFill>
                  <a:srgbClr val="F0F4F8"/>
                </a:solidFill>
                <a:latin typeface="Calibri"/>
              </a:rPr>
              <a:t>Communicating security to boards</a:t>
            </a:r>
          </a:p>
          <a:p>
            <a:r>
              <a:rPr sz="1100">
                <a:solidFill>
                  <a:srgbClr val="F0F4F8"/>
                </a:solidFill>
                <a:latin typeface="Calibri"/>
              </a:rPr>
              <a:t>Zero Trust · AI in security · Post-quantum cryptography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GRC</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Four overlapping circles showing four regulators</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NIGERIAN REGULATORY LANDSCAPE</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E74C3C"/>
                </a:solidFill>
                <a:latin typeface="Calibri"/>
              </a:rPr>
              <a:t>CBN CYBERSECURITY              NDPA 2023</a:t>
            </a:r>
          </a:p>
        </p:txBody>
      </p:sp>
      <p:sp>
        <p:nvSpPr>
          <p:cNvPr id="16" name="TextBox 15"/>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FRAMEWORK (2022)               ───────────────────────────── All licensed banks             Any org processing personal data Annual pentest required        Data Protection Impact Assessment</a:t>
            </a:r>
          </a:p>
        </p:txBody>
      </p:sp>
      <p:sp>
        <p:nvSpPr>
          <p:cNvPr id="17" name="Rectangle 16"/>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NCC GUIDELINES                 NITDA GUIDELINES</a:t>
            </a:r>
          </a:p>
        </p:txBody>
      </p:sp>
      <p:sp>
        <p:nvSpPr>
          <p:cNvPr id="20" name="TextBox 19"/>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              ───────────────────────────── Telecom operators              All IT companies MTN, Airtel, Glo, 9Mobile     Cybersecurity standards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GRC</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Two text blocks side by side</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RISK COMMUNICATION TO BOARDS</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SPEAKING SECURITY TO LEADERSHIP</a:t>
            </a:r>
          </a:p>
          <a:p>
            <a:r>
              <a:rPr sz="600">
                <a:latin typeface="Calibri"/>
              </a:rPr>
              <a:t/>
            </a:r>
          </a:p>
          <a:p>
            <a:r>
              <a:rPr sz="1050">
                <a:solidFill>
                  <a:srgbClr val="F0F4F8"/>
                </a:solidFill>
                <a:latin typeface="Calibri"/>
              </a:rPr>
              <a:t>TECHNICAL (what not to say):       BUSINESS (what to say):</a:t>
            </a:r>
          </a:p>
          <a:p>
            <a:r>
              <a:rPr sz="1050">
                <a:solidFill>
                  <a:srgbClr val="F0F4F8"/>
                </a:solidFill>
                <a:latin typeface="Calibri"/>
              </a:rPr>
              <a:t>──────────────────────────         ──────────────────────────────────────</a:t>
            </a:r>
          </a:p>
          <a:p>
            <a:r>
              <a:rPr sz="1050">
                <a:solidFill>
                  <a:srgbClr val="F0F4F8"/>
                </a:solidFill>
                <a:latin typeface="Calibri"/>
              </a:rPr>
              <a:t>"We have 47 CVEs with              "Our current vulnerability profile is</a:t>
            </a:r>
          </a:p>
          <a:p>
            <a:r>
              <a:rPr sz="1050">
                <a:solidFill>
                  <a:srgbClr val="F0F4F8"/>
                </a:solidFill>
                <a:latin typeface="Calibri"/>
              </a:rPr>
              <a:t>CVSS &gt; 7.0 on production.         similar to Equifax before their 2017</a:t>
            </a:r>
          </a:p>
          <a:p>
            <a:r>
              <a:rPr sz="1050">
                <a:solidFill>
                  <a:srgbClr val="F0F4F8"/>
                </a:solidFill>
                <a:latin typeface="Calibri"/>
              </a:rPr>
              <a:t>Our patching cadence is           breach, which cost $575M. We face</a:t>
            </a:r>
          </a:p>
          <a:p>
            <a:r>
              <a:rPr sz="1050">
                <a:solidFill>
                  <a:srgbClr val="F0F4F8"/>
                </a:solidFill>
                <a:latin typeface="Calibri"/>
              </a:rPr>
              <a:t>68 days average. We need          regulatory action from CBN and NDPA</a:t>
            </a:r>
          </a:p>
          <a:p>
            <a:r>
              <a:rPr sz="1050">
                <a:solidFill>
                  <a:srgbClr val="F0F4F8"/>
                </a:solidFill>
                <a:latin typeface="Calibri"/>
              </a:rPr>
              <a:t>WAF deployment and SOC            2023 compliance risk. Investing ₦120M</a:t>
            </a:r>
          </a:p>
          <a:p>
            <a:r>
              <a:rPr sz="1050">
                <a:solidFill>
                  <a:srgbClr val="F0F4F8"/>
                </a:solidFill>
                <a:latin typeface="Calibri"/>
              </a:rPr>
              <a:t>tier 2 capability."               in 5 specific controls reduces our risk</a:t>
            </a:r>
          </a:p>
          <a:p>
            <a:r>
              <a:rPr sz="1000">
                <a:solidFill>
                  <a:srgbClr val="8BA5BE"/>
                </a:solidFill>
                <a:latin typeface="Calibri"/>
              </a:rPr>
              <a:t>      ◦  exposure by 65% — a 13× ROI if we</a:t>
            </a:r>
          </a:p>
          <a:p>
            <a:r>
              <a:rPr sz="1000">
                <a:solidFill>
                  <a:srgbClr val="8BA5BE"/>
                </a:solidFill>
                <a:latin typeface="Calibri"/>
              </a:rPr>
              <a:t>      ◦  avoid a comparable incident."</a:t>
            </a:r>
          </a:p>
          <a:p>
            <a:r>
              <a:rPr sz="600">
                <a:latin typeface="Calibri"/>
              </a:rPr>
              <a:t/>
            </a:r>
          </a:p>
          <a:p>
            <a:r>
              <a:rPr sz="1200" b="1">
                <a:solidFill>
                  <a:srgbClr val="E74C3C"/>
                </a:solidFill>
                <a:latin typeface="Calibri"/>
              </a:rPr>
              <a:t>SECURITY METRICS THAT MATTER TO BOARDS:</a:t>
            </a:r>
          </a:p>
          <a:p>
            <a:r>
              <a:rPr sz="1050">
                <a:solidFill>
                  <a:srgbClr val="F0F4F8"/>
                </a:solidFill>
                <a:latin typeface="Calibri"/>
              </a:rPr>
              <a:t>  •  Mean Time to Detect (MTTD) — how long before we notice an attack?</a:t>
            </a:r>
          </a:p>
          <a:p>
            <a:r>
              <a:rPr sz="1050">
                <a:solidFill>
                  <a:srgbClr val="F0F4F8"/>
                </a:solidFill>
                <a:latin typeface="Calibri"/>
              </a:rPr>
              <a:t>  •  Mean Time to Respond (MTTR) — how long to contain it?</a:t>
            </a:r>
          </a:p>
          <a:p>
            <a:r>
              <a:rPr sz="1050">
                <a:solidFill>
                  <a:srgbClr val="F0F4F8"/>
                </a:solidFill>
                <a:latin typeface="Calibri"/>
              </a:rPr>
              <a:t>  •  Phishing click rate — what % of employees fail simulated phishing?</a:t>
            </a:r>
          </a:p>
          <a:p>
            <a:r>
              <a:rPr sz="1050">
                <a:solidFill>
                  <a:srgbClr val="F0F4F8"/>
                </a:solidFill>
                <a:latin typeface="Calibri"/>
              </a:rPr>
              <a:t>  •  Patch compliance % — what % of critical patches applied within SLA?</a:t>
            </a:r>
          </a:p>
          <a:p>
            <a:r>
              <a:rPr sz="1050">
                <a:solidFill>
                  <a:srgbClr val="F0F4F8"/>
                </a:solidFill>
                <a:latin typeface="Calibri"/>
              </a:rPr>
              <a:t>  •  Third-party risk coverage — what % of vendors assessed?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GRC</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Traditional perimeter model (castle with moat) on left labelled "PERIMETER SECURITY — Broken</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FUTURE: ZERO TRUST</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E74C3C"/>
                </a:solidFill>
                <a:latin typeface="Calibri"/>
              </a:rPr>
              <a:t>THE OLD MODEL:                    ZERO TRUST:</a:t>
            </a:r>
          </a:p>
        </p:txBody>
      </p:sp>
      <p:sp>
        <p:nvSpPr>
          <p:cNvPr id="16" name="TextBox 15"/>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"Trust but verify"                "Never trust, always verify"</a:t>
            </a:r>
          </a:p>
        </p:txBody>
      </p:sp>
      <p:sp>
        <p:nvSpPr>
          <p:cNvPr id="17" name="Rectangle 16"/>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80160"/>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20" name="TextBox 19"/>
          <p:cNvSpPr txBox="1"/>
          <p:nvPr/>
        </p:nvSpPr>
        <p:spPr>
          <a:xfrm>
            <a:off x="8915400" y="1298448"/>
            <a:ext cx="3081528" cy="365760"/>
          </a:xfrm>
          <a:prstGeom prst="rect">
            <a:avLst/>
          </a:prstGeom>
          <a:noFill/>
        </p:spPr>
        <p:txBody>
          <a:bodyPr wrap="square">
            <a:spAutoFit/>
          </a:bodyPr>
          <a:lstStyle/>
          <a:p>
            <a:pPr algn="l"/>
            <a:r>
              <a:rPr sz="1100" b="1" i="0">
                <a:solidFill>
                  <a:srgbClr val="F5A623"/>
                </a:solidFill>
                <a:latin typeface="Calibri"/>
              </a:rPr>
              <a:t>Free access to everything       → Still blocked by zero trust</a:t>
            </a:r>
          </a:p>
        </p:txBody>
      </p:sp>
      <p:sp>
        <p:nvSpPr>
          <p:cNvPr id="21" name="TextBox 20"/>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Free access to everything       → Still blocked by zero trust</a:t>
            </a:r>
          </a:p>
        </p:txBody>
      </p:sp>
      <p:sp>
        <p:nvSpPr>
          <p:cNvPr id="22" name="Rectangle 21"/>
          <p:cNvSpPr/>
          <p:nvPr/>
        </p:nvSpPr>
        <p:spPr>
          <a:xfrm>
            <a:off x="4626864" y="3090672"/>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26864" y="3090672"/>
            <a:ext cx="50292" cy="17373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36592" y="3182112"/>
            <a:ext cx="3465576" cy="365760"/>
          </a:xfrm>
          <a:prstGeom prst="rect">
            <a:avLst/>
          </a:prstGeom>
          <a:noFill/>
        </p:spPr>
        <p:txBody>
          <a:bodyPr wrap="square">
            <a:spAutoFit/>
          </a:bodyPr>
          <a:lstStyle/>
          <a:p>
            <a:pPr algn="l"/>
            <a:r>
              <a:rPr sz="1100" b="1" i="0">
                <a:solidFill>
                  <a:srgbClr val="00B894"/>
                </a:solidFill>
                <a:latin typeface="Calibri"/>
              </a:rPr>
              <a:t>ZERO TRUST PILLARS:</a:t>
            </a:r>
          </a:p>
        </p:txBody>
      </p:sp>
      <p:sp>
        <p:nvSpPr>
          <p:cNvPr id="25" name="TextBox 24"/>
          <p:cNvSpPr txBox="1"/>
          <p:nvPr/>
        </p:nvSpPr>
        <p:spPr>
          <a:xfrm>
            <a:off x="4736592" y="3547872"/>
            <a:ext cx="3465576" cy="1207008"/>
          </a:xfrm>
          <a:prstGeom prst="rect">
            <a:avLst/>
          </a:prstGeom>
          <a:noFill/>
        </p:spPr>
        <p:txBody>
          <a:bodyPr wrap="square">
            <a:spAutoFit/>
          </a:bodyPr>
          <a:lstStyle/>
          <a:p>
            <a:pPr algn="l"/>
            <a:r>
              <a:rPr sz="950" b="0" i="0">
                <a:solidFill>
                  <a:srgbClr val="F0F4F8"/>
                </a:solidFill>
                <a:latin typeface="Calibri"/>
              </a:rPr>
              <a:t>Identity      → Verify WHO you are (MFA mandatory) Device        → Verify WHAT device you're on (MDM, compliance check) Network       → Micro-segmentation — no lateral movement</a:t>
            </a:r>
          </a:p>
        </p:txBody>
      </p:sp>
      <p:sp>
        <p:nvSpPr>
          <p:cNvPr id="26" name="Rectangle 25"/>
          <p:cNvSpPr/>
          <p:nvPr/>
        </p:nvSpPr>
        <p:spPr>
          <a:xfrm>
            <a:off x="8421624" y="3090672"/>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421624" y="3090672"/>
            <a:ext cx="50292" cy="17373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31352" y="3163824"/>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29" name="TextBox 28"/>
          <p:cNvSpPr txBox="1"/>
          <p:nvPr/>
        </p:nvSpPr>
        <p:spPr>
          <a:xfrm>
            <a:off x="8915400" y="3182112"/>
            <a:ext cx="3081528" cy="365760"/>
          </a:xfrm>
          <a:prstGeom prst="rect">
            <a:avLst/>
          </a:prstGeom>
          <a:noFill/>
        </p:spPr>
        <p:txBody>
          <a:bodyPr wrap="square">
            <a:spAutoFit/>
          </a:bodyPr>
          <a:lstStyle/>
          <a:p>
            <a:pPr algn="l"/>
            <a:r>
              <a:rPr sz="1100" b="1" i="0">
                <a:solidFill>
                  <a:srgbClr val="00C2D4"/>
                </a:solidFill>
                <a:latin typeface="Calibri"/>
              </a:rPr>
              <a:t>It's a journey, not a checkbox. Budget 2–3 years for full implementation.</a:t>
            </a:r>
          </a:p>
        </p:txBody>
      </p:sp>
      <p:sp>
        <p:nvSpPr>
          <p:cNvPr id="30" name="TextBox 29"/>
          <p:cNvSpPr txBox="1"/>
          <p:nvPr/>
        </p:nvSpPr>
        <p:spPr>
          <a:xfrm>
            <a:off x="8531352" y="3547872"/>
            <a:ext cx="3465576" cy="1207008"/>
          </a:xfrm>
          <a:prstGeom prst="rect">
            <a:avLst/>
          </a:prstGeom>
          <a:noFill/>
        </p:spPr>
        <p:txBody>
          <a:bodyPr wrap="square">
            <a:spAutoFit/>
          </a:bodyPr>
          <a:lstStyle/>
          <a:p>
            <a:pPr algn="l"/>
            <a:r>
              <a:rPr sz="950" b="0" i="0">
                <a:solidFill>
                  <a:srgbClr val="F0F4F8"/>
                </a:solidFill>
                <a:latin typeface="Calibri"/>
              </a:rPr>
              <a:t>It's a journey, not a checkbox. Budget 2–3 years for full implementation.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GRC</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Split screen</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AI IN CYBERSECURITY</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E74C3C"/>
                </a:solidFill>
                <a:latin typeface="Calibri"/>
              </a:rPr>
              <a:t>ATTACKERS USING AI:                 DEFENDERS USING AI:</a:t>
            </a:r>
          </a:p>
        </p:txBody>
      </p:sp>
      <p:sp>
        <p:nvSpPr>
          <p:cNvPr id="16" name="TextBox 15"/>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               ──────────────────────────── AI-generated phishing at scale      UEBA: Detect unusual behaviour (personalised for millions)         patterns vs AI baseline</a:t>
            </a:r>
          </a:p>
        </p:txBody>
      </p:sp>
      <p:sp>
        <p:nvSpPr>
          <p:cNvPr id="17" name="Rectangle 16"/>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THE ARMS RACE:</a:t>
            </a:r>
          </a:p>
        </p:txBody>
      </p:sp>
      <p:sp>
        <p:nvSpPr>
          <p:cNvPr id="20" name="TextBox 19"/>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AI makes attacks cheaper and more personalised. AI makes defences faster and more adaptive. Humans are still needed for judgement, ethics, and novel situations.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GRC</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Five project cards horizontally</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CAPSTONE OPTIONS</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CAPSTONE PROJECT — CHOOSE YOUR PATH</a:t>
            </a:r>
          </a:p>
          <a:p>
            <a:r>
              <a:rPr sz="600">
                <a:latin typeface="Calibri"/>
              </a:rPr>
              <a:t/>
            </a:r>
          </a:p>
          <a:p>
            <a:r>
              <a:rPr sz="1050">
                <a:solidFill>
                  <a:srgbClr val="F0F4F8"/>
                </a:solidFill>
                <a:latin typeface="Calibri"/>
              </a:rPr>
              <a:t>A. PENETRATION TEST REPORT        B. SOC SIMULATION</a:t>
            </a:r>
          </a:p>
          <a:p>
            <a:r>
              <a:rPr sz="1000">
                <a:solidFill>
                  <a:srgbClr val="8BA5BE"/>
                </a:solidFill>
                <a:latin typeface="Calibri"/>
              </a:rPr>
              <a:t>      ◦  Full pentest on lab environment   Set up mini-SOC with SIEM</a:t>
            </a:r>
          </a:p>
          <a:p>
            <a:r>
              <a:rPr sz="1000">
                <a:solidFill>
                  <a:srgbClr val="8BA5BE"/>
                </a:solidFill>
                <a:latin typeface="Calibri"/>
              </a:rPr>
              <a:t>      ◦  PTES methodology                  15+ detection rules</a:t>
            </a:r>
          </a:p>
          <a:p>
            <a:r>
              <a:rPr sz="1000">
                <a:solidFill>
                  <a:srgbClr val="8BA5BE"/>
                </a:solidFill>
                <a:latin typeface="Calibri"/>
              </a:rPr>
              <a:t>      ◦  Professional report delivery      Analyse 50 provided alerts</a:t>
            </a:r>
          </a:p>
          <a:p>
            <a:r>
              <a:rPr sz="1000">
                <a:solidFill>
                  <a:srgbClr val="8BA5BE"/>
                </a:solidFill>
                <a:latin typeface="Calibri"/>
              </a:rPr>
              <a:t>      ◦  (Most technical)                  3 full incident reports</a:t>
            </a:r>
          </a:p>
          <a:p>
            <a:r>
              <a:rPr sz="600">
                <a:latin typeface="Calibri"/>
              </a:rPr>
              <a:t/>
            </a:r>
          </a:p>
          <a:p>
            <a:r>
              <a:rPr sz="1050">
                <a:solidFill>
                  <a:srgbClr val="F0F4F8"/>
                </a:solidFill>
                <a:latin typeface="Calibri"/>
              </a:rPr>
              <a:t>C. MALWARE ANALYSIS REPORT        D. SECURITY AWARENESS PROGRAMME</a:t>
            </a:r>
          </a:p>
          <a:p>
            <a:r>
              <a:rPr sz="1000">
                <a:solidFill>
                  <a:srgbClr val="8BA5BE"/>
                </a:solidFill>
                <a:latin typeface="Calibri"/>
              </a:rPr>
              <a:t>      ◦  Static + dynamic analysis         Design for a real Nigerian org</a:t>
            </a:r>
          </a:p>
          <a:p>
            <a:r>
              <a:rPr sz="1000">
                <a:solidFill>
                  <a:srgbClr val="8BA5BE"/>
                </a:solidFill>
                <a:latin typeface="Calibri"/>
              </a:rPr>
              <a:t>      ◦  MITRE ATT&amp;CK mapping              3 training modules + phishing sim</a:t>
            </a:r>
          </a:p>
          <a:p>
            <a:r>
              <a:rPr sz="1000">
                <a:solidFill>
                  <a:srgbClr val="8BA5BE"/>
                </a:solidFill>
                <a:latin typeface="Calibri"/>
              </a:rPr>
              <a:t>      ◦  IOC extraction + YARA rule        Pilot it. Present feedback.</a:t>
            </a:r>
          </a:p>
          <a:p>
            <a:r>
              <a:rPr sz="1000">
                <a:solidFill>
                  <a:srgbClr val="8BA5BE"/>
                </a:solidFill>
                <a:latin typeface="Calibri"/>
              </a:rPr>
              <a:t>      ◦  Threat intelligence report        (Great for career changers)</a:t>
            </a:r>
          </a:p>
          <a:p>
            <a:r>
              <a:rPr sz="600">
                <a:latin typeface="Calibri"/>
              </a:rPr>
              <a:t/>
            </a:r>
          </a:p>
          <a:p>
            <a:r>
              <a:rPr sz="1050">
                <a:solidFill>
                  <a:srgbClr val="F0F4F8"/>
                </a:solidFill>
                <a:latin typeface="Calibri"/>
              </a:rPr>
              <a:t>E. CYBERSECURITY STRATEGY</a:t>
            </a:r>
          </a:p>
          <a:p>
            <a:r>
              <a:rPr sz="1000">
                <a:solidFill>
                  <a:srgbClr val="8BA5BE"/>
                </a:solidFill>
                <a:latin typeface="Calibri"/>
              </a:rPr>
              <a:t>      ◦  Complete strategy for Nigerian SME</a:t>
            </a:r>
          </a:p>
          <a:p>
            <a:r>
              <a:rPr sz="1000">
                <a:solidFill>
                  <a:srgbClr val="8BA5BE"/>
                </a:solidFill>
                <a:latin typeface="Calibri"/>
              </a:rPr>
              <a:t>      ◦  Risk assessment + NIST CSF roadmap</a:t>
            </a:r>
          </a:p>
          <a:p>
            <a:r>
              <a:rPr sz="1000">
                <a:solidFill>
                  <a:srgbClr val="8BA5BE"/>
                </a:solidFill>
                <a:latin typeface="Calibri"/>
              </a:rPr>
              <a:t>      ◦  5 security policies</a:t>
            </a:r>
          </a:p>
          <a:p>
            <a:r>
              <a:rPr sz="1000">
                <a:solidFill>
                  <a:srgbClr val="8BA5BE"/>
                </a:solidFill>
                <a:latin typeface="Calibri"/>
              </a:rPr>
              <a:t>      ◦  Board presentation (10 slides max)</a:t>
            </a:r>
          </a:p>
          <a:p>
            <a:r>
              <a:rPr sz="600">
                <a:latin typeface="Calibri"/>
              </a:rPr>
              <a:t/>
            </a:r>
          </a:p>
          <a:p>
            <a:r>
              <a:rPr sz="1050">
                <a:solidFill>
                  <a:srgbClr val="F0F4F8"/>
                </a:solidFill>
                <a:latin typeface="Calibri"/>
              </a:rPr>
              <a:t>ALL CAPSTONES: Required for certification | Blockchain-verified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GRC</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Exam structure overview as a visual breakdown</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CERTIFICATION EXAM</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E74C3C"/>
                </a:solidFill>
                <a:latin typeface="Calibri"/>
              </a:rPr>
              <a:t>CERTIFICATION EXAM — METABRIDGE CYBERSECURITY PROFESSIONAL</a:t>
            </a:r>
          </a:p>
          <a:p>
            <a:r>
              <a:rPr sz="600">
                <a:latin typeface="Calibri"/>
              </a:rPr>
              <a:t/>
            </a:r>
          </a:p>
          <a:p>
            <a:r>
              <a:rPr sz="1050">
                <a:solidFill>
                  <a:srgbClr val="F0F4F8"/>
                </a:solidFill>
                <a:latin typeface="Calibri"/>
              </a:rPr>
              <a:t>SECTION A: Multiple Choice          40 questions    40 marks   90 min</a:t>
            </a:r>
          </a:p>
          <a:p>
            <a:r>
              <a:rPr sz="1000">
                <a:solidFill>
                  <a:srgbClr val="8BA5BE"/>
                </a:solidFill>
                <a:latin typeface="Calibri"/>
              </a:rPr>
              <a:t>      ◦  All 12 modules represented</a:t>
            </a:r>
          </a:p>
          <a:p>
            <a:r>
              <a:rPr sz="600">
                <a:latin typeface="Calibri"/>
              </a:rPr>
              <a:t/>
            </a:r>
          </a:p>
          <a:p>
            <a:r>
              <a:rPr sz="1050">
                <a:solidFill>
                  <a:srgbClr val="F0F4F8"/>
                </a:solidFill>
                <a:latin typeface="Calibri"/>
              </a:rPr>
              <a:t>SECTION B: Short Answer             4 of 6 questions 20 marks  60 min</a:t>
            </a:r>
          </a:p>
          <a:p>
            <a:r>
              <a:rPr sz="1000">
                <a:solidFill>
                  <a:srgbClr val="8BA5BE"/>
                </a:solidFill>
                <a:latin typeface="Calibri"/>
              </a:rPr>
              <a:t>      ◦  Explain, describe, demonstrate understanding</a:t>
            </a:r>
          </a:p>
          <a:p>
            <a:r>
              <a:rPr sz="600">
                <a:latin typeface="Calibri"/>
              </a:rPr>
              <a:t/>
            </a:r>
          </a:p>
          <a:p>
            <a:r>
              <a:rPr sz="1050">
                <a:solidFill>
                  <a:srgbClr val="F0F4F8"/>
                </a:solidFill>
                <a:latin typeface="Calibri"/>
              </a:rPr>
              <a:t>SECTION C: Case Studies             2 cases          25 marks  60 min</a:t>
            </a:r>
          </a:p>
          <a:p>
            <a:r>
              <a:rPr sz="1000">
                <a:solidFill>
                  <a:srgbClr val="8BA5BE"/>
                </a:solidFill>
                <a:latin typeface="Calibri"/>
              </a:rPr>
              <a:t>      ◦  Case 1: Nigerian bank breach (incident response)</a:t>
            </a:r>
          </a:p>
          <a:p>
            <a:r>
              <a:rPr sz="1000">
                <a:solidFill>
                  <a:srgbClr val="8BA5BE"/>
                </a:solidFill>
                <a:latin typeface="Calibri"/>
              </a:rPr>
              <a:t>      ◦  Case 2: Lagos trading company BEC attack</a:t>
            </a:r>
          </a:p>
          <a:p>
            <a:r>
              <a:rPr sz="600">
                <a:latin typeface="Calibri"/>
              </a:rPr>
              <a:t/>
            </a:r>
          </a:p>
          <a:p>
            <a:r>
              <a:rPr sz="1050">
                <a:solidFill>
                  <a:srgbClr val="F0F4F8"/>
                </a:solidFill>
                <a:latin typeface="Calibri"/>
              </a:rPr>
              <a:t>SECTION D: Essay (choose 1)         1 essay          15 marks  30 min</a:t>
            </a:r>
          </a:p>
          <a:p>
            <a:r>
              <a:rPr sz="1000">
                <a:solidFill>
                  <a:srgbClr val="8BA5BE"/>
                </a:solidFill>
                <a:latin typeface="Calibri"/>
              </a:rPr>
              <a:t>      ◦  Option 1: Nigerian cybersecurity challenges</a:t>
            </a:r>
          </a:p>
          <a:p>
            <a:r>
              <a:rPr sz="1000">
                <a:solidFill>
                  <a:srgbClr val="8BA5BE"/>
                </a:solidFill>
                <a:latin typeface="Calibri"/>
              </a:rPr>
              <a:t>      ◦  Option 2: Zero Trust implementation roadmap</a:t>
            </a:r>
          </a:p>
          <a:p>
            <a:r>
              <a:rPr sz="600">
                <a:latin typeface="Calibri"/>
              </a:rPr>
              <a:t/>
            </a:r>
          </a:p>
          <a:p>
            <a:r>
              <a:rPr sz="1050">
                <a:solidFill>
                  <a:srgbClr val="F0F4F8"/>
                </a:solidFill>
                <a:latin typeface="Calibri"/>
              </a:rPr>
              <a:t>━━━━━━━━━━━━━━━━━━━━━━━━━━━━━━━━━━━━━━━━━━━━━</a:t>
            </a:r>
          </a:p>
          <a:p>
            <a:r>
              <a:rPr sz="1050">
                <a:solidFill>
                  <a:srgbClr val="F0F4F8"/>
                </a:solidFill>
                <a:latin typeface="Calibri"/>
              </a:rPr>
              <a:t>PASS: 75%    DISTINCTION: 85%+</a:t>
            </a:r>
          </a:p>
          <a:p>
            <a:r>
              <a:rPr sz="1050">
                <a:solidFill>
                  <a:srgbClr val="F0F4F8"/>
                </a:solidFill>
                <a:latin typeface="Calibri"/>
              </a:rPr>
              <a:t>4 hours total | Proctored online</a:t>
            </a:r>
          </a:p>
          <a:p>
            <a:r>
              <a:rPr sz="1050">
                <a:solidFill>
                  <a:srgbClr val="F0F4F8"/>
                </a:solidFill>
                <a:latin typeface="Calibri"/>
              </a:rPr>
              <a:t>Blockchain-verified certificate for all who pass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GRC</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Comparison table</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METABRIDGE CYBERSECURITY DIFFERENCE</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E74C3C"/>
                </a:solidFill>
                <a:latin typeface="Calibri"/>
              </a:rPr>
              <a:t>GENERIC ONLINE COURSE         METABRIDGE ACADEMY</a:t>
            </a:r>
          </a:p>
        </p:txBody>
      </p:sp>
      <p:sp>
        <p:nvSpPr>
          <p:cNvPr id="16" name="TextBox 15"/>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              ────────────────────────────────── Global examples               Nigerian context throughout (CBN, NDPA, NIBSS) Video-only labs               Live hands-on labs (Kali, Burp, ANY.RUN)</a:t>
            </a:r>
          </a:p>
        </p:txBody>
      </p:sp>
      <p:sp>
        <p:nvSpPr>
          <p:cNvPr id="17" name="Rectangle 16"/>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REFERENCE TEXTBOOK INTEGRATION:</a:t>
            </a:r>
          </a:p>
        </p:txBody>
      </p:sp>
      <p:sp>
        <p:nvSpPr>
          <p:cNvPr id="20" name="TextBox 19"/>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Cybersecurity Sefer — metabridgeacademy.com The theoretical foundation beneath every module.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GRC</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Interview scenario</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WHAT EMPLOYERS TEST IN INTERVIEWS</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E74C3C"/>
                </a:solidFill>
                <a:latin typeface="Calibri"/>
              </a:rPr>
              <a:t>TECHNICAL ROUND:                    PRACTICAL ROUND:</a:t>
            </a:r>
          </a:p>
        </p:txBody>
      </p:sp>
      <p:sp>
        <p:nvSpPr>
          <p:cNvPr id="16" name="TextBox 15"/>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 Explain how SQL injection works   □ Here's a PCAP — find the attack □ What's the difference between     □ What's wrong with this code? IDS and IPS?                      □ Set up these firewall rules</a:t>
            </a:r>
          </a:p>
        </p:txBody>
      </p:sp>
      <p:sp>
        <p:nvSpPr>
          <p:cNvPr id="17" name="Rectangle 16"/>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KNOWLEDGE ROUND:                    SOFT SKILLS ROUND:</a:t>
            </a:r>
          </a:p>
        </p:txBody>
      </p:sp>
      <p:sp>
        <p:nvSpPr>
          <p:cNvPr id="20" name="TextBox 19"/>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 What's the OWASP Top 10?         □ Explain XSS to a non-technical CFO □ What is Zero Trust?              □ You find a critical vulnerability □ What are the NDPA 2023             before going live — what do you do?</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GRC</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Tool logos arranged by category</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TOOLS YOU'LL MASTER</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E74C3C"/>
                </a:solidFill>
                <a:latin typeface="Calibri"/>
              </a:rPr>
              <a:t>ANALYSIS &amp; TESTING              NETWORK SECURITY</a:t>
            </a:r>
          </a:p>
        </p:txBody>
      </p:sp>
      <p:sp>
        <p:nvSpPr>
          <p:cNvPr id="16" name="TextBox 15"/>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Kali Linux (500+ tools)         Wireshark (packet analysis) Burp Suite Community            Nmap (port/service scanning) OWASP ZAP (web scanner)         Shodan (internet reconnaissance)</a:t>
            </a:r>
          </a:p>
        </p:txBody>
      </p:sp>
      <p:sp>
        <p:nvSpPr>
          <p:cNvPr id="17" name="Rectangle 16"/>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MALWARE ANALYSIS                CRYPTOGRAPHY &amp; OSINT</a:t>
            </a:r>
          </a:p>
        </p:txBody>
      </p:sp>
      <p:sp>
        <p:nvSpPr>
          <p:cNvPr id="20" name="TextBox 19"/>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ANY.RUN (sandbox)               CyberChef (decode/encrypt) VirusTotal (multi-AV scan)      crt.sh (certificate transparency) CyberChef (deobfuscation)       Have I Been Pwned (breach check)</a:t>
            </a:r>
          </a:p>
        </p:txBody>
      </p:sp>
      <p:sp>
        <p:nvSpPr>
          <p:cNvPr id="21" name="Rectangle 20"/>
          <p:cNvSpPr/>
          <p:nvPr/>
        </p:nvSpPr>
        <p:spPr>
          <a:xfrm>
            <a:off x="4626864" y="3090672"/>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26864" y="3090672"/>
            <a:ext cx="50292" cy="17373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36592" y="3182112"/>
            <a:ext cx="3465576" cy="365760"/>
          </a:xfrm>
          <a:prstGeom prst="rect">
            <a:avLst/>
          </a:prstGeom>
          <a:noFill/>
        </p:spPr>
        <p:txBody>
          <a:bodyPr wrap="square">
            <a:spAutoFit/>
          </a:bodyPr>
          <a:lstStyle/>
          <a:p>
            <a:pPr algn="l"/>
            <a:r>
              <a:rPr sz="1100" b="1" i="0">
                <a:solidFill>
                  <a:srgbClr val="00B894"/>
                </a:solidFill>
                <a:latin typeface="Calibri"/>
              </a:rPr>
              <a:t>LEARNING &amp; PRACTICE             REFERENCE TEXTBOOK</a:t>
            </a:r>
          </a:p>
        </p:txBody>
      </p:sp>
      <p:sp>
        <p:nvSpPr>
          <p:cNvPr id="24" name="TextBox 23"/>
          <p:cNvSpPr txBox="1"/>
          <p:nvPr/>
        </p:nvSpPr>
        <p:spPr>
          <a:xfrm>
            <a:off x="4736592" y="3547872"/>
            <a:ext cx="3465576" cy="1207008"/>
          </a:xfrm>
          <a:prstGeom prst="rect">
            <a:avLst/>
          </a:prstGeom>
          <a:noFill/>
        </p:spPr>
        <p:txBody>
          <a:bodyPr wrap="square">
            <a:spAutoFit/>
          </a:bodyPr>
          <a:lstStyle/>
          <a:p>
            <a:pPr algn="l"/>
            <a:r>
              <a:rPr sz="950" b="0" i="0">
                <a:solidFill>
                  <a:srgbClr val="F0F4F8"/>
                </a:solidFill>
                <a:latin typeface="Calibri"/>
              </a:rPr>
              <a:t>TryHackMe                       Cybersecurity Sefer HackTheBox (post-course)        metabridgeacademy.com OWASP WebGoat</a:t>
            </a:r>
          </a:p>
        </p:txBody>
      </p:sp>
      <p:sp>
        <p:nvSpPr>
          <p:cNvPr id="25" name="Rectangle 24"/>
          <p:cNvSpPr/>
          <p:nvPr/>
        </p:nvSpPr>
        <p:spPr>
          <a:xfrm>
            <a:off x="8421624" y="3090672"/>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21624" y="3090672"/>
            <a:ext cx="50292" cy="17373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31352" y="3182112"/>
            <a:ext cx="3465576" cy="365760"/>
          </a:xfrm>
          <a:prstGeom prst="rect">
            <a:avLst/>
          </a:prstGeom>
          <a:noFill/>
        </p:spPr>
        <p:txBody>
          <a:bodyPr wrap="square">
            <a:spAutoFit/>
          </a:bodyPr>
          <a:lstStyle/>
          <a:p>
            <a:pPr algn="l"/>
            <a:r>
              <a:rPr sz="1100" b="1" i="0">
                <a:solidFill>
                  <a:srgbClr val="00C2D4"/>
                </a:solidFill>
                <a:latin typeface="Calibri"/>
              </a:rPr>
              <a:t>ALL TOOLS: FREE OR OPEN SOURCE</a:t>
            </a:r>
          </a:p>
        </p:txBody>
      </p:sp>
      <p:sp>
        <p:nvSpPr>
          <p:cNvPr id="28" name="TextBox 27"/>
          <p:cNvSpPr txBox="1"/>
          <p:nvPr/>
        </p:nvSpPr>
        <p:spPr>
          <a:xfrm>
            <a:off x="8531352" y="3547872"/>
            <a:ext cx="3465576" cy="1207008"/>
          </a:xfrm>
          <a:prstGeom prst="rect">
            <a:avLst/>
          </a:prstGeom>
          <a:noFill/>
        </p:spPr>
        <p:txBody>
          <a:bodyPr wrap="square">
            <a:spAutoFit/>
          </a:bodyPr>
          <a:lstStyle/>
          <a:p>
            <a:pPr algn="l"/>
            <a:r>
              <a:rPr sz="950" b="0" i="0">
                <a:solidFill>
                  <a:srgbClr val="F0F4F8"/>
                </a:solidFill>
                <a:latin typeface="Calibri"/>
              </a:rPr>
              <a:t>Your lab is your laptop.</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GRC</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Portfolio website mockup showing projects, certifications, and write-ups</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BUILDING YOUR SECURITY PORTFOLIO</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2200656" cy="365760"/>
          </a:xfrm>
          <a:prstGeom prst="rect">
            <a:avLst/>
          </a:prstGeom>
          <a:noFill/>
        </p:spPr>
        <p:txBody>
          <a:bodyPr wrap="square">
            <a:spAutoFit/>
          </a:bodyPr>
          <a:lstStyle/>
          <a:p>
            <a:pPr algn="l"/>
            <a:r>
              <a:rPr sz="1100" b="1" i="0">
                <a:solidFill>
                  <a:srgbClr val="E74C3C"/>
                </a:solidFill>
                <a:latin typeface="Calibri"/>
              </a:rPr>
              <a:t>YOUR LINKEDIN HEADLINE:</a:t>
            </a:r>
          </a:p>
        </p:txBody>
      </p:sp>
      <p:sp>
        <p:nvSpPr>
          <p:cNvPr id="16" name="TextBox 15"/>
          <p:cNvSpPr txBox="1"/>
          <p:nvPr/>
        </p:nvSpPr>
        <p:spPr>
          <a:xfrm>
            <a:off x="4736592" y="1664208"/>
            <a:ext cx="2200656" cy="1207008"/>
          </a:xfrm>
          <a:prstGeom prst="rect">
            <a:avLst/>
          </a:prstGeom>
          <a:noFill/>
        </p:spPr>
        <p:txBody>
          <a:bodyPr wrap="square">
            <a:spAutoFit/>
          </a:bodyPr>
          <a:lstStyle/>
          <a:p>
            <a:pPr algn="l"/>
            <a:r>
              <a:rPr sz="950" b="0" i="0">
                <a:solidFill>
                  <a:srgbClr val="F0F4F8"/>
                </a:solidFill>
                <a:latin typeface="Calibri"/>
              </a:rPr>
              <a:t>"Cybersecurity Professional | CompTIA Security+ | MetaBridge Certified Penetration Testing | Incident Response | Kali Linux"</a:t>
            </a:r>
          </a:p>
        </p:txBody>
      </p:sp>
      <p:sp>
        <p:nvSpPr>
          <p:cNvPr id="17" name="Rectangle 16"/>
          <p:cNvSpPr/>
          <p:nvPr/>
        </p:nvSpPr>
        <p:spPr>
          <a:xfrm>
            <a:off x="715670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5670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6432" y="1298448"/>
            <a:ext cx="2200656" cy="365760"/>
          </a:xfrm>
          <a:prstGeom prst="rect">
            <a:avLst/>
          </a:prstGeom>
          <a:noFill/>
        </p:spPr>
        <p:txBody>
          <a:bodyPr wrap="square">
            <a:spAutoFit/>
          </a:bodyPr>
          <a:lstStyle/>
          <a:p>
            <a:pPr algn="l"/>
            <a:r>
              <a:rPr sz="1100" b="1" i="0">
                <a:solidFill>
                  <a:srgbClr val="F5A623"/>
                </a:solidFill>
                <a:latin typeface="Calibri"/>
              </a:rPr>
              <a:t>NEXT CERTIFICATIONS TO TARGET:</a:t>
            </a:r>
          </a:p>
        </p:txBody>
      </p:sp>
      <p:sp>
        <p:nvSpPr>
          <p:cNvPr id="20" name="TextBox 19"/>
          <p:cNvSpPr txBox="1"/>
          <p:nvPr/>
        </p:nvSpPr>
        <p:spPr>
          <a:xfrm>
            <a:off x="7266432" y="1664208"/>
            <a:ext cx="2200656" cy="1207008"/>
          </a:xfrm>
          <a:prstGeom prst="rect">
            <a:avLst/>
          </a:prstGeom>
          <a:noFill/>
        </p:spPr>
        <p:txBody>
          <a:bodyPr wrap="square">
            <a:spAutoFit/>
          </a:bodyPr>
          <a:lstStyle/>
          <a:p>
            <a:pPr algn="l"/>
            <a:r>
              <a:rPr sz="950" b="0" i="0">
                <a:solidFill>
                  <a:srgbClr val="F0F4F8"/>
                </a:solidFill>
                <a:latin typeface="Calibri"/>
              </a:rPr>
              <a:t>CompTIA Security+ → CySA+ → CEH → OSCP</a:t>
            </a:r>
          </a:p>
        </p:txBody>
      </p:sp>
      <p:sp>
        <p:nvSpPr>
          <p:cNvPr id="21" name="Rectangle 20"/>
          <p:cNvSpPr/>
          <p:nvPr/>
        </p:nvSpPr>
        <p:spPr>
          <a:xfrm>
            <a:off x="968654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86544" y="1207008"/>
            <a:ext cx="50292" cy="17373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96272" y="1298448"/>
            <a:ext cx="2200656" cy="365760"/>
          </a:xfrm>
          <a:prstGeom prst="rect">
            <a:avLst/>
          </a:prstGeom>
          <a:noFill/>
        </p:spPr>
        <p:txBody>
          <a:bodyPr wrap="square">
            <a:spAutoFit/>
          </a:bodyPr>
          <a:lstStyle/>
          <a:p>
            <a:pPr algn="l"/>
            <a:r>
              <a:rPr sz="1100" b="1" i="0">
                <a:solidFill>
                  <a:srgbClr val="00B894"/>
                </a:solidFill>
                <a:latin typeface="Calibri"/>
              </a:rPr>
              <a:t>JOIN:</a:t>
            </a:r>
          </a:p>
        </p:txBody>
      </p:sp>
      <p:sp>
        <p:nvSpPr>
          <p:cNvPr id="24" name="TextBox 23"/>
          <p:cNvSpPr txBox="1"/>
          <p:nvPr/>
        </p:nvSpPr>
        <p:spPr>
          <a:xfrm>
            <a:off x="9796272" y="1664208"/>
            <a:ext cx="2200656" cy="1207008"/>
          </a:xfrm>
          <a:prstGeom prst="rect">
            <a:avLst/>
          </a:prstGeom>
          <a:noFill/>
        </p:spPr>
        <p:txBody>
          <a:bodyPr wrap="square">
            <a:spAutoFit/>
          </a:bodyPr>
          <a:lstStyle/>
          <a:p>
            <a:pPr algn="l"/>
            <a:r>
              <a:rPr sz="950" b="0" i="0">
                <a:solidFill>
                  <a:srgbClr val="F0F4F8"/>
                </a:solidFill>
                <a:latin typeface="Calibri"/>
              </a:rPr>
              <a:t>ngCERT community (ng-cert.gov.ng) LinkedIn cybersecurity groups ISACA Nigeria chapter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GRC</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Nigeria map with digital network overlay</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YOUR ROLE IN NIGERIA'S DIGITAL FUTURE</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80160"/>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16" name="TextBox 15"/>
          <p:cNvSpPr txBox="1"/>
          <p:nvPr/>
        </p:nvSpPr>
        <p:spPr>
          <a:xfrm>
            <a:off x="5120640" y="1298448"/>
            <a:ext cx="3081528" cy="365760"/>
          </a:xfrm>
          <a:prstGeom prst="rect">
            <a:avLst/>
          </a:prstGeom>
          <a:noFill/>
        </p:spPr>
        <p:txBody>
          <a:bodyPr wrap="square">
            <a:spAutoFit/>
          </a:bodyPr>
          <a:lstStyle/>
          <a:p>
            <a:pPr algn="l"/>
            <a:r>
              <a:rPr sz="1100" b="1" i="0">
                <a:solidFill>
                  <a:srgbClr val="E74C3C"/>
                </a:solidFill>
                <a:latin typeface="Calibri"/>
              </a:rPr>
              <a:t>Protects a Nigerian fintech or bank</a:t>
            </a:r>
          </a:p>
        </p:txBody>
      </p:sp>
      <p:sp>
        <p:nvSpPr>
          <p:cNvPr id="17" name="TextBox 16"/>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Protects a Nigerian fintech or bank</a:t>
            </a:r>
          </a:p>
        </p:txBody>
      </p:sp>
      <p:sp>
        <p:nvSpPr>
          <p:cNvPr id="18" name="Rectangle 17"/>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31352" y="1280160"/>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21" name="TextBox 20"/>
          <p:cNvSpPr txBox="1"/>
          <p:nvPr/>
        </p:nvSpPr>
        <p:spPr>
          <a:xfrm>
            <a:off x="8915400" y="1298448"/>
            <a:ext cx="3081528" cy="365760"/>
          </a:xfrm>
          <a:prstGeom prst="rect">
            <a:avLst/>
          </a:prstGeom>
          <a:noFill/>
        </p:spPr>
        <p:txBody>
          <a:bodyPr wrap="square">
            <a:spAutoFit/>
          </a:bodyPr>
          <a:lstStyle/>
          <a:p>
            <a:pPr algn="l"/>
            <a:r>
              <a:rPr sz="1100" b="1" i="0">
                <a:solidFill>
                  <a:srgbClr val="F5A623"/>
                </a:solidFill>
                <a:latin typeface="Calibri"/>
              </a:rPr>
              <a:t>Responds to an incident with competence</a:t>
            </a:r>
          </a:p>
        </p:txBody>
      </p:sp>
      <p:sp>
        <p:nvSpPr>
          <p:cNvPr id="22" name="TextBox 21"/>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Responds to an incident with competence</a:t>
            </a:r>
          </a:p>
        </p:txBody>
      </p:sp>
      <p:sp>
        <p:nvSpPr>
          <p:cNvPr id="23" name="Rectangle 22"/>
          <p:cNvSpPr/>
          <p:nvPr/>
        </p:nvSpPr>
        <p:spPr>
          <a:xfrm>
            <a:off x="4626864" y="3090672"/>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626864" y="3090672"/>
            <a:ext cx="50292" cy="17373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36592" y="3163824"/>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26" name="TextBox 25"/>
          <p:cNvSpPr txBox="1"/>
          <p:nvPr/>
        </p:nvSpPr>
        <p:spPr>
          <a:xfrm>
            <a:off x="5120640" y="3182112"/>
            <a:ext cx="3081528" cy="365760"/>
          </a:xfrm>
          <a:prstGeom prst="rect">
            <a:avLst/>
          </a:prstGeom>
          <a:noFill/>
        </p:spPr>
        <p:txBody>
          <a:bodyPr wrap="square">
            <a:spAutoFit/>
          </a:bodyPr>
          <a:lstStyle/>
          <a:p>
            <a:pPr algn="l"/>
            <a:r>
              <a:rPr sz="1100" b="1" i="0">
                <a:solidFill>
                  <a:srgbClr val="00B894"/>
                </a:solidFill>
                <a:latin typeface="Calibri"/>
              </a:rPr>
              <a:t>Trains employees to spot phishing</a:t>
            </a:r>
          </a:p>
        </p:txBody>
      </p:sp>
      <p:sp>
        <p:nvSpPr>
          <p:cNvPr id="27" name="TextBox 26"/>
          <p:cNvSpPr txBox="1"/>
          <p:nvPr/>
        </p:nvSpPr>
        <p:spPr>
          <a:xfrm>
            <a:off x="4736592" y="3547872"/>
            <a:ext cx="3465576" cy="1207008"/>
          </a:xfrm>
          <a:prstGeom prst="rect">
            <a:avLst/>
          </a:prstGeom>
          <a:noFill/>
        </p:spPr>
        <p:txBody>
          <a:bodyPr wrap="square">
            <a:spAutoFit/>
          </a:bodyPr>
          <a:lstStyle/>
          <a:p>
            <a:pPr algn="l"/>
            <a:r>
              <a:rPr sz="950" b="0" i="0">
                <a:solidFill>
                  <a:srgbClr val="F0F4F8"/>
                </a:solidFill>
                <a:latin typeface="Calibri"/>
              </a:rPr>
              <a:t>Trains employees to spot phishing</a:t>
            </a:r>
          </a:p>
        </p:txBody>
      </p:sp>
      <p:sp>
        <p:nvSpPr>
          <p:cNvPr id="28" name="Rectangle 27"/>
          <p:cNvSpPr/>
          <p:nvPr/>
        </p:nvSpPr>
        <p:spPr>
          <a:xfrm>
            <a:off x="8421624" y="3090672"/>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421624" y="3090672"/>
            <a:ext cx="50292" cy="17373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31352" y="3163824"/>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31" name="TextBox 30"/>
          <p:cNvSpPr txBox="1"/>
          <p:nvPr/>
        </p:nvSpPr>
        <p:spPr>
          <a:xfrm>
            <a:off x="8915400" y="3182112"/>
            <a:ext cx="3081528" cy="365760"/>
          </a:xfrm>
          <a:prstGeom prst="rect">
            <a:avLst/>
          </a:prstGeom>
          <a:noFill/>
        </p:spPr>
        <p:txBody>
          <a:bodyPr wrap="square">
            <a:spAutoFit/>
          </a:bodyPr>
          <a:lstStyle/>
          <a:p>
            <a:pPr algn="l"/>
            <a:r>
              <a:rPr sz="1100" b="1" i="0">
                <a:solidFill>
                  <a:srgbClr val="00C2D4"/>
                </a:solidFill>
                <a:latin typeface="Calibri"/>
              </a:rPr>
              <a:t>Builds a security culture in a Nigerian organisation</a:t>
            </a:r>
          </a:p>
        </p:txBody>
      </p:sp>
      <p:sp>
        <p:nvSpPr>
          <p:cNvPr id="32" name="TextBox 31"/>
          <p:cNvSpPr txBox="1"/>
          <p:nvPr/>
        </p:nvSpPr>
        <p:spPr>
          <a:xfrm>
            <a:off x="8531352" y="3547872"/>
            <a:ext cx="3465576" cy="1207008"/>
          </a:xfrm>
          <a:prstGeom prst="rect">
            <a:avLst/>
          </a:prstGeom>
          <a:noFill/>
        </p:spPr>
        <p:txBody>
          <a:bodyPr wrap="square">
            <a:spAutoFit/>
          </a:bodyPr>
          <a:lstStyle/>
          <a:p>
            <a:pPr algn="l"/>
            <a:r>
              <a:rPr sz="950" b="0" i="0">
                <a:solidFill>
                  <a:srgbClr val="F0F4F8"/>
                </a:solidFill>
                <a:latin typeface="Calibri"/>
              </a:rPr>
              <a:t>Builds a security culture in a Nigerian organisation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GRC</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Roadmap showing post-graduation path</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CONTINUING YOUR JOURNEY</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E74C3C"/>
                </a:solidFill>
                <a:latin typeface="Calibri"/>
              </a:rPr>
              <a:t>IMMEDIATELY:</a:t>
            </a:r>
          </a:p>
        </p:txBody>
      </p:sp>
      <p:sp>
        <p:nvSpPr>
          <p:cNvPr id="16" name="TextBox 15"/>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 Download and claim your blockchain certificate □ Complete your capstone project (if not done) □ Update LinkedIn with MetaBridge certification</a:t>
            </a:r>
          </a:p>
        </p:txBody>
      </p:sp>
      <p:sp>
        <p:nvSpPr>
          <p:cNvPr id="17" name="Rectangle 16"/>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IN 30–60 DAYS:</a:t>
            </a:r>
          </a:p>
        </p:txBody>
      </p:sp>
      <p:sp>
        <p:nvSpPr>
          <p:cNvPr id="20" name="TextBox 19"/>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 Apply to entry-level SOC or security analyst roles □ Complete 10+ TryHackMe rooms for portfolio □ Register for a local security Meetup or ngCERT events</a:t>
            </a:r>
          </a:p>
        </p:txBody>
      </p:sp>
      <p:sp>
        <p:nvSpPr>
          <p:cNvPr id="21" name="Rectangle 20"/>
          <p:cNvSpPr/>
          <p:nvPr/>
        </p:nvSpPr>
        <p:spPr>
          <a:xfrm>
            <a:off x="4626864" y="3090672"/>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26864" y="3090672"/>
            <a:ext cx="50292" cy="17373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36592" y="3182112"/>
            <a:ext cx="3465576" cy="365760"/>
          </a:xfrm>
          <a:prstGeom prst="rect">
            <a:avLst/>
          </a:prstGeom>
          <a:noFill/>
        </p:spPr>
        <p:txBody>
          <a:bodyPr wrap="square">
            <a:spAutoFit/>
          </a:bodyPr>
          <a:lstStyle/>
          <a:p>
            <a:pPr algn="l"/>
            <a:r>
              <a:rPr sz="1100" b="1" i="0">
                <a:solidFill>
                  <a:srgbClr val="00B894"/>
                </a:solidFill>
                <a:latin typeface="Calibri"/>
              </a:rPr>
              <a:t>IN 3–6 MONTHS:</a:t>
            </a:r>
          </a:p>
        </p:txBody>
      </p:sp>
      <p:sp>
        <p:nvSpPr>
          <p:cNvPr id="24" name="TextBox 23"/>
          <p:cNvSpPr txBox="1"/>
          <p:nvPr/>
        </p:nvSpPr>
        <p:spPr>
          <a:xfrm>
            <a:off x="4736592" y="3547872"/>
            <a:ext cx="3465576" cy="1207008"/>
          </a:xfrm>
          <a:prstGeom prst="rect">
            <a:avLst/>
          </a:prstGeom>
          <a:noFill/>
        </p:spPr>
        <p:txBody>
          <a:bodyPr wrap="square">
            <a:spAutoFit/>
          </a:bodyPr>
          <a:lstStyle/>
          <a:p>
            <a:pPr algn="l"/>
            <a:r>
              <a:rPr sz="950" b="0" i="0">
                <a:solidFill>
                  <a:srgbClr val="F0F4F8"/>
                </a:solidFill>
                <a:latin typeface="Calibri"/>
              </a:rPr>
              <a:t>□ CompTIA Security+ exam □ First professional security role □ Begin building specialisation (pentest? SOC? GRC?)</a:t>
            </a:r>
          </a:p>
        </p:txBody>
      </p:sp>
      <p:sp>
        <p:nvSpPr>
          <p:cNvPr id="25" name="Rectangle 24"/>
          <p:cNvSpPr/>
          <p:nvPr/>
        </p:nvSpPr>
        <p:spPr>
          <a:xfrm>
            <a:off x="8421624" y="3090672"/>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21624" y="3090672"/>
            <a:ext cx="50292" cy="17373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31352" y="3182112"/>
            <a:ext cx="3465576" cy="365760"/>
          </a:xfrm>
          <a:prstGeom prst="rect">
            <a:avLst/>
          </a:prstGeom>
          <a:noFill/>
        </p:spPr>
        <p:txBody>
          <a:bodyPr wrap="square">
            <a:spAutoFit/>
          </a:bodyPr>
          <a:lstStyle/>
          <a:p>
            <a:pPr algn="l"/>
            <a:r>
              <a:rPr sz="1100" b="1" i="0">
                <a:solidFill>
                  <a:srgbClr val="00C2D4"/>
                </a:solidFill>
                <a:latin typeface="Calibri"/>
              </a:rPr>
              <a:t>IN 1–2 YEARS:</a:t>
            </a:r>
          </a:p>
        </p:txBody>
      </p:sp>
      <p:sp>
        <p:nvSpPr>
          <p:cNvPr id="28" name="TextBox 27"/>
          <p:cNvSpPr txBox="1"/>
          <p:nvPr/>
        </p:nvSpPr>
        <p:spPr>
          <a:xfrm>
            <a:off x="8531352" y="3547872"/>
            <a:ext cx="3465576" cy="1207008"/>
          </a:xfrm>
          <a:prstGeom prst="rect">
            <a:avLst/>
          </a:prstGeom>
          <a:noFill/>
        </p:spPr>
        <p:txBody>
          <a:bodyPr wrap="square">
            <a:spAutoFit/>
          </a:bodyPr>
          <a:lstStyle/>
          <a:p>
            <a:pPr algn="l"/>
            <a:r>
              <a:rPr sz="950" b="0" i="0">
                <a:solidFill>
                  <a:srgbClr val="F0F4F8"/>
                </a:solidFill>
                <a:latin typeface="Calibri"/>
              </a:rPr>
              <a:t>□ CEH or CySA+ certification □ Senior analyst or specialist role □ Consider OSCP (the pinnacle of practical pentesting)</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GRC</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Full dark card with gold border</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ENROL / NEXT COHORT</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050">
                <a:solidFill>
                  <a:srgbClr val="F0F4F8"/>
                </a:solidFill>
                <a:latin typeface="Calibri"/>
              </a:rPr>
              <a:t>READY TO PROTECT NIGERIA'S DIGITAL FUTURE?</a:t>
            </a:r>
          </a:p>
          <a:p>
            <a:r>
              <a:rPr sz="600">
                <a:latin typeface="Calibri"/>
              </a:rPr>
              <a:t/>
            </a:r>
          </a:p>
          <a:p>
            <a:r>
              <a:rPr sz="1050">
                <a:solidFill>
                  <a:srgbClr val="F0F4F8"/>
                </a:solidFill>
                <a:latin typeface="Calibri"/>
              </a:rPr>
              <a:t>Join MetaBridge Academy's next cybersecurity cohort.</a:t>
            </a:r>
          </a:p>
          <a:p>
            <a:r>
              <a:rPr sz="600">
                <a:latin typeface="Calibri"/>
              </a:rPr>
              <a:t/>
            </a:r>
          </a:p>
          <a:p>
            <a:r>
              <a:rPr sz="1050">
                <a:solidFill>
                  <a:srgbClr val="F0F4F8"/>
                </a:solidFill>
                <a:latin typeface="Calibri"/>
              </a:rPr>
              <a:t>✓ 12 Modules · 46+ Contact Hours</a:t>
            </a:r>
          </a:p>
          <a:p>
            <a:r>
              <a:rPr sz="1050">
                <a:solidFill>
                  <a:srgbClr val="F0F4F8"/>
                </a:solidFill>
                <a:latin typeface="Calibri"/>
              </a:rPr>
              <a:t>✓ 12 professional lab platforms</a:t>
            </a:r>
          </a:p>
          <a:p>
            <a:r>
              <a:rPr sz="1050">
                <a:solidFill>
                  <a:srgbClr val="F0F4F8"/>
                </a:solidFill>
                <a:latin typeface="Calibri"/>
              </a:rPr>
              <a:t>✓ Hands-on Nigerian threat scenarios</a:t>
            </a:r>
          </a:p>
          <a:p>
            <a:r>
              <a:rPr sz="1050">
                <a:solidFill>
                  <a:srgbClr val="F0F4F8"/>
                </a:solidFill>
                <a:latin typeface="Calibri"/>
              </a:rPr>
              <a:t>✓ 1-on-1 WhatsApp mentor support</a:t>
            </a:r>
          </a:p>
          <a:p>
            <a:r>
              <a:rPr sz="1050">
                <a:solidFill>
                  <a:srgbClr val="F0F4F8"/>
                </a:solidFill>
                <a:latin typeface="Calibri"/>
              </a:rPr>
              <a:t>✓ Capstone project for your portfolio</a:t>
            </a:r>
          </a:p>
          <a:p>
            <a:r>
              <a:rPr sz="1050">
                <a:solidFill>
                  <a:srgbClr val="F0F4F8"/>
                </a:solidFill>
                <a:latin typeface="Calibri"/>
              </a:rPr>
              <a:t>✓ Blockchain-verified professional certificate</a:t>
            </a:r>
          </a:p>
          <a:p>
            <a:r>
              <a:rPr sz="600">
                <a:latin typeface="Calibri"/>
              </a:rPr>
              <a:t/>
            </a:r>
          </a:p>
          <a:p>
            <a:r>
              <a:rPr sz="1050">
                <a:solidFill>
                  <a:srgbClr val="F0F4F8"/>
                </a:solidFill>
                <a:latin typeface="Calibri"/>
              </a:rPr>
              <a:t>━━━━━━━━━━━━━━━━━━━━━━━━━━━━━━━━━━━━</a:t>
            </a:r>
          </a:p>
          <a:p>
            <a:r>
              <a:rPr sz="600">
                <a:latin typeface="Calibri"/>
              </a:rPr>
              <a:t/>
            </a:r>
          </a:p>
          <a:p>
            <a:r>
              <a:rPr sz="1000">
                <a:solidFill>
                  <a:srgbClr val="8BA5BE"/>
                </a:solidFill>
                <a:latin typeface="Calibri"/>
              </a:rPr>
              <a:t>      ◦  ENROL NOW → wa.me/2347034357206</a:t>
            </a:r>
          </a:p>
          <a:p>
            <a:r>
              <a:rPr sz="600">
                <a:latin typeface="Calibri"/>
              </a:rPr>
              <a:t/>
            </a:r>
          </a:p>
          <a:p>
            <a:r>
              <a:rPr sz="1050">
                <a:solidFill>
                  <a:srgbClr val="F0F4F8"/>
                </a:solidFill>
                <a:latin typeface="Calibri"/>
              </a:rPr>
              <a:t>━━━━━━━━━━━━━━━━━━━━━━━━━━━━━━━━━━━━</a:t>
            </a:r>
          </a:p>
          <a:p>
            <a:r>
              <a:rPr sz="600">
                <a:latin typeface="Calibri"/>
              </a:rPr>
              <a:t/>
            </a:r>
          </a:p>
          <a:p>
            <a:r>
              <a:rPr sz="1050">
                <a:solidFill>
                  <a:srgbClr val="F0F4F8"/>
                </a:solidFill>
                <a:latin typeface="Calibri"/>
              </a:rPr>
              <a:t>metabridgeacademy.com</a:t>
            </a:r>
          </a:p>
          <a:p>
            <a:r>
              <a:rPr sz="1050">
                <a:solidFill>
                  <a:srgbClr val="F0F4F8"/>
                </a:solidFill>
                <a:latin typeface="Calibri"/>
              </a:rPr>
              <a:t>Reference: Cybersecurity Sefer — metabridgeacademy.com</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Cybersecurity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E74C3C"/>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E74C3C"/>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GRC</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Full-bleed dark navy</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CLOSING SLIDE</a:t>
            </a:r>
          </a:p>
        </p:txBody>
      </p:sp>
      <p:sp>
        <p:nvSpPr>
          <p:cNvPr id="12" name="Rectangle 11"/>
          <p:cNvSpPr/>
          <p:nvPr/>
        </p:nvSpPr>
        <p:spPr>
          <a:xfrm>
            <a:off x="4626864" y="1143000"/>
            <a:ext cx="7424928" cy="228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050">
                <a:solidFill>
                  <a:srgbClr val="F0F4F8"/>
                </a:solidFill>
                <a:latin typeface="Calibri"/>
              </a:rPr>
              <a:t>"Security is not a product you can buy.</a:t>
            </a:r>
          </a:p>
          <a:p>
            <a:r>
              <a:rPr sz="1050">
                <a:solidFill>
                  <a:srgbClr val="F0F4F8"/>
                </a:solidFill>
                <a:latin typeface="Calibri"/>
              </a:rPr>
              <a:t>It is a process you must practice."</a:t>
            </a:r>
          </a:p>
          <a:p>
            <a:r>
              <a:rPr sz="600">
                <a:latin typeface="Calibri"/>
              </a:rPr>
              <a:t/>
            </a:r>
          </a:p>
          <a:p>
            <a:r>
              <a:rPr sz="1050">
                <a:solidFill>
                  <a:srgbClr val="F0F4F8"/>
                </a:solidFill>
                <a:latin typeface="Calibri"/>
              </a:rPr>
              <a:t>— Bruce Schneier</a:t>
            </a:r>
          </a:p>
          <a:p>
            <a:r>
              <a:rPr sz="600">
                <a:latin typeface="Calibri"/>
              </a:rPr>
              <a:t/>
            </a:r>
          </a:p>
          <a:p>
            <a:r>
              <a:rPr sz="1050">
                <a:solidFill>
                  <a:srgbClr val="F0F4F8"/>
                </a:solidFill>
                <a:latin typeface="Calibri"/>
              </a:rPr>
              <a:t>━━━━━━━━━━━━━━━━━━━━━━━━━━━━━━━━━━━━</a:t>
            </a:r>
          </a:p>
          <a:p>
            <a:r>
              <a:rPr sz="600">
                <a:latin typeface="Calibri"/>
              </a:rPr>
              <a:t/>
            </a:r>
          </a:p>
          <a:p>
            <a:r>
              <a:rPr sz="1050">
                <a:solidFill>
                  <a:srgbClr val="F0F4F8"/>
                </a:solidFill>
                <a:latin typeface="Calibri"/>
              </a:rPr>
              <a:t>Thank you for learning with MetaBridge Academy.</a:t>
            </a:r>
          </a:p>
          <a:p>
            <a:r>
              <a:rPr sz="600">
                <a:latin typeface="Calibri"/>
              </a:rPr>
              <a:t/>
            </a:r>
          </a:p>
          <a:p>
            <a:r>
              <a:rPr sz="1050">
                <a:solidFill>
                  <a:srgbClr val="F0F4F8"/>
                </a:solidFill>
                <a:latin typeface="Calibri"/>
              </a:rPr>
              <a:t>Stay curious. Stay ethical. Stay dangerous.</a:t>
            </a:r>
          </a:p>
          <a:p>
            <a:r>
              <a:rPr sz="600">
                <a:latin typeface="Calibri"/>
              </a:rPr>
              <a:t/>
            </a:r>
          </a:p>
          <a:p>
            <a:r>
              <a:rPr sz="1050">
                <a:solidFill>
                  <a:srgbClr val="F0F4F8"/>
                </a:solidFill>
                <a:latin typeface="Calibri"/>
              </a:rPr>
              <a:t>metabridgeacademy.com  ·  wa.me/2347034357206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