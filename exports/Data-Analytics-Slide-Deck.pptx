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scale. This is what's happening right now in Nigeria's digital economy. The data exists. The question is who can read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the full roadmap. Students need to see the journey before they start.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sets expectations. Students know exactly where they stand at each stage of the course. Beginners become capable practitioners. Intermediates become technical analysts. Advanced students become visualisation experts. Professionals are employment-ready.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sets the stage. Don't rush through this. Students need to understand WHY they're here before they care about HOW.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pyramid is the mental model for the whole course. Always ask: which level is this analysis? Most junior analyst work is Descriptive and Diagnostic. As you grow, you move up the pyramid.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the warning. Every student will experience this. The sooner they accept that cleaning is the majority of the work, the less frustrated they'll be.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students they have a local advantage. Global analytics training doesn't teach Nigerian data sources. We 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specific on salaries. This motivates. These are real market rates from LinkedIn and Jobberman listings, cross-referenced with MetaBridge graduate feedback.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doesn't just appear. Someone designed a system to collect it. Understanding how data is collected helps you understand its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seems simple but analysts get it wrong constantly. You cannot average "payment method." You can count it. You cannot average "state." You can group by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critique a real survey you bring in. Spot the bad questions together. This is more memorable than instruction.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is more important than most technical content. A data analyst who causes a NDPA breach can cost their company millions. This is a differentiator on a CV — most graduates don't know this law.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this. Students will feel this pain. But framing it as a superpower — "if you can clean data faster, you're more valuable" — reframes it positively.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each letter 30 seconds. Then challenge students: "Which of these do you think is most common in Nigerian company data?" (Answer: Almost all of them, but Consistency is especially bad due to manual data entry.)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MNAR case is important for advanced students. When there's no clean statistical fix, you must disclose the limitation. That's professional integrity.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"levels" framing is motivating. Students who already know Excel realise they have more to learn. Beginners feel like there's a clear path forward.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a live demo on all three. Same problem, three formulas. Students see the syntax side by side. Then add a column to the middle of the table and show how VLOOKUP breaks but INDEX-MATCH doesn't.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students will be amazed, others will say "I know pivots." Ask the latter: "Can you build a calculated field in a pivot? Can you create a pivot table from multiple data sources?" Usually silence.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this as a single A4 reference sheet for students — one per student. The most-used formulas in this column are SUMIFS and COUNTIFS. Emphasise that combining criteria (multiple conditions) is what separates beginner from professional Excel.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 functions catch students off guard. Always demonstrate DATEDIF — it's undocumented but essential. The NETWORKDAYS function is loved by every analyst who has ever had to count 'business days to deadline' — build a formula live: `=NETWORKDAYS(TODAY(), deadline_date)`.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statistical functions — always calculate BOTH mean and median. If they differ significantly, there's skew or outliers. For financial functions — PMT and NPV are the most relevant for Nigerian business contexts. Build a ₦5M loan amortisation schedule live; students see how interest front-loads early payments. This is one of the most practical 'aha' moments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who thought they "knew Excel" are often humbled here. Power Query in particular is a revelation.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"without vs with" calculation is what makes this real. Ask students to think about something repetitive they do in Excel. Power Query probably solves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Demystify immediately. SQL reads like English. Most students can understand a SQL query before they've written one. Show them one complex query before teaching — let them try to read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the query clause by clause. Then ask students to write one: "Give me the name and phone number of all customers from Kano, ordered alphabetically."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analyst uses these five functions daily. Not knowing them is like not knowing how to add. They're the core vocabulary of SQL analytics.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expectation: this is the hardest SQL module. Go slowly. The concepts compound on each other. Students who understand JOINs and CTEs are in the top 20% of SQL users.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this on the board too. Have students tell you which join to use for different scenarios: "Show all customers with their orders" (LEFT — include customers with no orders). "Show only customers who have placed an order" (INNER).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CTEs are one of those things that seem advanced but are actually simpler than alternatives. Once students write a CTE they never want to go back to nested subqueries.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before/after is the opener. Don't say anything. Just show both charts. Ask which one they'd rather receive from an analyst. Then ask which one they see most at work. The gap is what this module closes.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this as a handout. Students should reference it every time they build a chart until it becomes instinct.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a real dashboard that uses 8 different colours for no reason. Ask: "What is this telling me?" Silence. Then show a version with everything grey except the one important metric. Ask the same question. Instantly answered.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wrong way: "We looked at this, then we looked at that, and eventually we found..." The right way: "The problem is X. Here's why. Here's what to do about it." Lead with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 BI is where students feel "professional." The jump from Excel to Power BI is visible and dramatic. Build something real in this session that they can show their family/employer.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news: Power BI Desktop is free. Download it and start building. You only need a paid license if you want to share reports inside a company. For the portfolio, free is fine.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this on the board as you explain. The fact table has numbers. The dimension tables have context (who, what, where, when, why). Everything flows out from the center like a star.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look at a bad dashboard (show one — too many visuals, no clear focus). Then show a clean one — 3 cards, 1 line chart, 1 bar chart, 1 slicer. The clean one answers one question better.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by reviewing Module 9. Quiz students on star schema. Then introduce DAX — "Excel formulas for Power BI, but more powerful."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common Power BI mistake is creating calculated columns when measures are needed. This creates massive files and slow reports. 90% of DAX should be measures.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copy these into their first Power BI file. These six measures answer the most common executive questions. Most dashboard KPIs are built from variations of these.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this chart live in Power BI. The visual impact of seeing "this year" vs "last year" on one chart, automatically updating — this is when students understand why Power BI is powerful.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Reassure students immediately: this is business statistics, not a maths degree. We focus on what the numbers mean, not how to derive the formulas. The tools calculate. You interpret.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ice cream/drowning example always gets a laugh. Use it. Then bring it back to business: "What spurious correlations might we see in our Nigerian datasets?" (Season → sales, not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every tech company makes product decisions. Show students this framework — it's used at Paystack, Konga, MTN — every time they A/B test anything.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module. Be reflective. Ask students what surprised them most in the course. Use their answers to frame the real-world gap between learning and doing.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applies to email, presentations, Slack messages, reports. Always lead with the answer. This single habit separates ₦200K analysts from ₦1M analysts.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serious conversation. Share a real example of analytics used unethically — Cambridge Analytica, discriminatory lending algorithms. The power of data is the responsibility of data.</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students to choose based on career goal. Want a BI analyst role? Choose A. Want a consulting/reporting role? Choose D or E. Want to move to data science eventually? Choose C.</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clear about the practical sections — students will be given actual data files to work with. This is not a purely theoretical exam. Employers respect this.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free or freemium tools. Students should install Power BI Desktop today. Datawrapper and Flourish are browser-based — no installation. Kaggle has Nigerian datasets available.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unspoken student question: "Will this course actually get me hired?" Show them exactly how the modules map to interview requirements. Reassurance through specificity.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near the end with prospective students. The blockchain certificate is genuinely differentiated — this is worth emphasising. It's not a PDF someone can fake.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study should be the lab exercise for Module 12. Use real (or realistic) data. Have students run through the entire lifecycle: question → data → cleaning → analysis → visualisation →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call out any of these they feel uncertain about. That's their study list before the exam. This slide is also useful for end-of-course review.</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 items close better than theory. Students need to leave with a clear next step, not just information. The roadmap makes the path concrete.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every session with this. Referrals are powerful — ask current students to share the WhatsApp link with anyone interested in data analytics.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the Deming quote — it lands perfectly. Let it sit for 3 seconds. Then ask if there are any final questions. This is a memorable close.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
            <a:ext cx="4297680" cy="6793992"/>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97680" y="64008"/>
            <a:ext cx="54864" cy="6793992"/>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365760"/>
            <a:ext cx="3840480" cy="502920"/>
          </a:xfrm>
          <a:prstGeom prst="rect">
            <a:avLst/>
          </a:prstGeom>
          <a:noFill/>
        </p:spPr>
        <p:txBody>
          <a:bodyPr wrap="square">
            <a:spAutoFit/>
          </a:bodyPr>
          <a:lstStyle/>
          <a:p>
            <a:pPr algn="l"/>
            <a:r>
              <a:rPr sz="2800" b="1" i="0">
                <a:solidFill>
                  <a:srgbClr val="00C2D4"/>
                </a:solidFill>
                <a:latin typeface="Calibri"/>
              </a:rPr>
              <a:t>MetaBridge</a:t>
            </a:r>
          </a:p>
        </p:txBody>
      </p:sp>
      <p:sp>
        <p:nvSpPr>
          <p:cNvPr id="6" name="TextBox 5"/>
          <p:cNvSpPr txBox="1"/>
          <p:nvPr/>
        </p:nvSpPr>
        <p:spPr>
          <a:xfrm>
            <a:off x="274320" y="822960"/>
            <a:ext cx="3840480" cy="457200"/>
          </a:xfrm>
          <a:prstGeom prst="rect">
            <a:avLst/>
          </a:prstGeom>
          <a:noFill/>
        </p:spPr>
        <p:txBody>
          <a:bodyPr wrap="square">
            <a:spAutoFit/>
          </a:bodyPr>
          <a:lstStyle/>
          <a:p>
            <a:pPr algn="l"/>
            <a:r>
              <a:rPr sz="2800" b="0" i="0">
                <a:solidFill>
                  <a:srgbClr val="FFFFFF"/>
                </a:solidFill>
                <a:latin typeface="Calibri"/>
              </a:rPr>
              <a:t>Academy</a:t>
            </a:r>
          </a:p>
        </p:txBody>
      </p:sp>
      <p:sp>
        <p:nvSpPr>
          <p:cNvPr id="7" name="TextBox 6"/>
          <p:cNvSpPr txBox="1"/>
          <p:nvPr/>
        </p:nvSpPr>
        <p:spPr>
          <a:xfrm>
            <a:off x="274320" y="1828800"/>
            <a:ext cx="3840480" cy="1645920"/>
          </a:xfrm>
          <a:prstGeom prst="rect">
            <a:avLst/>
          </a:prstGeom>
          <a:noFill/>
        </p:spPr>
        <p:txBody>
          <a:bodyPr wrap="square">
            <a:spAutoFit/>
          </a:bodyPr>
          <a:lstStyle/>
          <a:p>
            <a:pPr algn="l"/>
            <a:r>
              <a:rPr sz="2600" b="1" i="0">
                <a:solidFill>
                  <a:srgbClr val="FFFFFF"/>
                </a:solidFill>
                <a:latin typeface="Calibri"/>
              </a:rPr>
              <a:t>Data Analytics</a:t>
            </a:r>
          </a:p>
        </p:txBody>
      </p:sp>
      <p:sp>
        <p:nvSpPr>
          <p:cNvPr id="8" name="TextBox 7"/>
          <p:cNvSpPr txBox="1"/>
          <p:nvPr/>
        </p:nvSpPr>
        <p:spPr>
          <a:xfrm>
            <a:off x="274320" y="3566160"/>
            <a:ext cx="3840480" cy="822960"/>
          </a:xfrm>
          <a:prstGeom prst="rect">
            <a:avLst/>
          </a:prstGeom>
          <a:noFill/>
        </p:spPr>
        <p:txBody>
          <a:bodyPr wrap="square">
            <a:spAutoFit/>
          </a:bodyPr>
          <a:lstStyle/>
          <a:p>
            <a:pPr algn="l"/>
            <a:r>
              <a:rPr sz="1400" b="0" i="0">
                <a:solidFill>
                  <a:srgbClr val="8BA5BE"/>
                </a:solidFill>
                <a:latin typeface="Calibri"/>
              </a:rPr>
              <a:t>Comprehensive Course
Slide Deck</a:t>
            </a:r>
          </a:p>
        </p:txBody>
      </p:sp>
      <p:sp>
        <p:nvSpPr>
          <p:cNvPr id="9" name="Rectangle 8"/>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6565392"/>
            <a:ext cx="7562088" cy="292608"/>
          </a:xfrm>
          <a:prstGeom prst="rect">
            <a:avLst/>
          </a:prstGeom>
          <a:noFill/>
        </p:spPr>
        <p:txBody>
          <a:bodyPr wrap="square">
            <a:spAutoFit/>
          </a:bodyPr>
          <a:lstStyle/>
          <a:p>
            <a:pPr algn="ctr"/>
            <a:r>
              <a:rPr sz="800" b="0" i="0">
                <a:solidFill>
                  <a:srgbClr val="8BA5BE"/>
                </a:solidFill>
                <a:latin typeface="Calibri"/>
              </a:rPr>
              <a:t>Cybersecurity  |  Data Analytics  |  AI &amp; Prompt Engineering  |  Blockchain &amp; Cryptocurrency</a:t>
            </a:r>
          </a:p>
        </p:txBody>
      </p:sp>
      <p:sp>
        <p:nvSpPr>
          <p:cNvPr id="11" name="Rectangle 10"/>
          <p:cNvSpPr/>
          <p:nvPr/>
        </p:nvSpPr>
        <p:spPr>
          <a:xfrm>
            <a:off x="4718304" y="1097280"/>
            <a:ext cx="3415284" cy="141732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18304" y="1097280"/>
            <a:ext cx="50292" cy="141732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55464" y="1234440"/>
            <a:ext cx="3232404" cy="640080"/>
          </a:xfrm>
          <a:prstGeom prst="rect">
            <a:avLst/>
          </a:prstGeom>
          <a:noFill/>
        </p:spPr>
        <p:txBody>
          <a:bodyPr wrap="square">
            <a:spAutoFit/>
          </a:bodyPr>
          <a:lstStyle/>
          <a:p>
            <a:pPr algn="l"/>
            <a:r>
              <a:rPr sz="2000" b="1" i="0">
                <a:solidFill>
                  <a:srgbClr val="00C2D4"/>
                </a:solidFill>
                <a:latin typeface="Calibri"/>
              </a:rPr>
              <a:t>Data</a:t>
            </a:r>
          </a:p>
        </p:txBody>
      </p:sp>
      <p:sp>
        <p:nvSpPr>
          <p:cNvPr id="14" name="TextBox 13"/>
          <p:cNvSpPr txBox="1"/>
          <p:nvPr/>
        </p:nvSpPr>
        <p:spPr>
          <a:xfrm>
            <a:off x="4855464" y="1874520"/>
            <a:ext cx="3232404" cy="457200"/>
          </a:xfrm>
          <a:prstGeom prst="rect">
            <a:avLst/>
          </a:prstGeom>
          <a:noFill/>
        </p:spPr>
        <p:txBody>
          <a:bodyPr wrap="square">
            <a:spAutoFit/>
          </a:bodyPr>
          <a:lstStyle/>
          <a:p>
            <a:pPr algn="l"/>
            <a:r>
              <a:rPr sz="1100" b="0" i="0">
                <a:solidFill>
                  <a:srgbClr val="F0F4F8"/>
                </a:solidFill>
                <a:latin typeface="Calibri"/>
              </a:rPr>
              <a:t>Course</a:t>
            </a:r>
          </a:p>
        </p:txBody>
      </p:sp>
      <p:sp>
        <p:nvSpPr>
          <p:cNvPr id="15" name="Rectangle 14"/>
          <p:cNvSpPr/>
          <p:nvPr/>
        </p:nvSpPr>
        <p:spPr>
          <a:xfrm>
            <a:off x="8407908" y="1097280"/>
            <a:ext cx="3415284" cy="141732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07908" y="1097280"/>
            <a:ext cx="50292" cy="14173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45068" y="1234440"/>
            <a:ext cx="3232404" cy="640080"/>
          </a:xfrm>
          <a:prstGeom prst="rect">
            <a:avLst/>
          </a:prstGeom>
          <a:noFill/>
        </p:spPr>
        <p:txBody>
          <a:bodyPr wrap="square">
            <a:spAutoFit/>
          </a:bodyPr>
          <a:lstStyle/>
          <a:p>
            <a:pPr algn="l"/>
            <a:r>
              <a:rPr sz="2000" b="1" i="0">
                <a:solidFill>
                  <a:srgbClr val="F5A623"/>
                </a:solidFill>
                <a:latin typeface="Calibri"/>
              </a:rPr>
              <a:t>12 Modules</a:t>
            </a:r>
          </a:p>
        </p:txBody>
      </p:sp>
      <p:sp>
        <p:nvSpPr>
          <p:cNvPr id="18" name="TextBox 17"/>
          <p:cNvSpPr txBox="1"/>
          <p:nvPr/>
        </p:nvSpPr>
        <p:spPr>
          <a:xfrm>
            <a:off x="8545068" y="1874520"/>
            <a:ext cx="3232404" cy="457200"/>
          </a:xfrm>
          <a:prstGeom prst="rect">
            <a:avLst/>
          </a:prstGeom>
          <a:noFill/>
        </p:spPr>
        <p:txBody>
          <a:bodyPr wrap="square">
            <a:spAutoFit/>
          </a:bodyPr>
          <a:lstStyle/>
          <a:p>
            <a:pPr algn="l"/>
            <a:r>
              <a:rPr sz="1100" b="0" i="0">
                <a:solidFill>
                  <a:srgbClr val="F0F4F8"/>
                </a:solidFill>
                <a:latin typeface="Calibri"/>
              </a:rPr>
              <a:t>of content</a:t>
            </a:r>
          </a:p>
        </p:txBody>
      </p:sp>
      <p:sp>
        <p:nvSpPr>
          <p:cNvPr id="19" name="Rectangle 18"/>
          <p:cNvSpPr/>
          <p:nvPr/>
        </p:nvSpPr>
        <p:spPr>
          <a:xfrm>
            <a:off x="4718304" y="2743200"/>
            <a:ext cx="3415284" cy="141732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18304" y="2743200"/>
            <a:ext cx="50292" cy="141732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5464" y="2880360"/>
            <a:ext cx="3232404" cy="640080"/>
          </a:xfrm>
          <a:prstGeom prst="rect">
            <a:avLst/>
          </a:prstGeom>
          <a:noFill/>
        </p:spPr>
        <p:txBody>
          <a:bodyPr wrap="square">
            <a:spAutoFit/>
          </a:bodyPr>
          <a:lstStyle/>
          <a:p>
            <a:pPr algn="l"/>
            <a:r>
              <a:rPr sz="2000" b="1" i="0">
                <a:solidFill>
                  <a:srgbClr val="00B894"/>
                </a:solidFill>
                <a:latin typeface="Calibri"/>
              </a:rPr>
              <a:t>72+ Hours</a:t>
            </a:r>
          </a:p>
        </p:txBody>
      </p:sp>
      <p:sp>
        <p:nvSpPr>
          <p:cNvPr id="22" name="TextBox 21"/>
          <p:cNvSpPr txBox="1"/>
          <p:nvPr/>
        </p:nvSpPr>
        <p:spPr>
          <a:xfrm>
            <a:off x="4855464" y="3520440"/>
            <a:ext cx="3232404" cy="457200"/>
          </a:xfrm>
          <a:prstGeom prst="rect">
            <a:avLst/>
          </a:prstGeom>
          <a:noFill/>
        </p:spPr>
        <p:txBody>
          <a:bodyPr wrap="square">
            <a:spAutoFit/>
          </a:bodyPr>
          <a:lstStyle/>
          <a:p>
            <a:pPr algn="l"/>
            <a:r>
              <a:rPr sz="1100" b="0" i="0">
                <a:solidFill>
                  <a:srgbClr val="F0F4F8"/>
                </a:solidFill>
                <a:latin typeface="Calibri"/>
              </a:rPr>
              <a:t>of training</a:t>
            </a:r>
          </a:p>
        </p:txBody>
      </p:sp>
      <p:sp>
        <p:nvSpPr>
          <p:cNvPr id="23" name="Rectangle 22"/>
          <p:cNvSpPr/>
          <p:nvPr/>
        </p:nvSpPr>
        <p:spPr>
          <a:xfrm>
            <a:off x="8407908" y="2743200"/>
            <a:ext cx="3415284" cy="141732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07908" y="2743200"/>
            <a:ext cx="50292" cy="1417320"/>
          </a:xfrm>
          <a:prstGeom prst="rect">
            <a:avLst/>
          </a:prstGeom>
          <a:solidFill>
            <a:srgbClr val="8BA5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45068" y="2880360"/>
            <a:ext cx="3232404" cy="640080"/>
          </a:xfrm>
          <a:prstGeom prst="rect">
            <a:avLst/>
          </a:prstGeom>
          <a:noFill/>
        </p:spPr>
        <p:txBody>
          <a:bodyPr wrap="square">
            <a:spAutoFit/>
          </a:bodyPr>
          <a:lstStyle/>
          <a:p>
            <a:pPr algn="l"/>
            <a:r>
              <a:rPr sz="2000" b="1" i="0">
                <a:solidFill>
                  <a:srgbClr val="8BA5BE"/>
                </a:solidFill>
                <a:latin typeface="Calibri"/>
              </a:rPr>
              <a:t>Blockchain</a:t>
            </a:r>
          </a:p>
        </p:txBody>
      </p:sp>
      <p:sp>
        <p:nvSpPr>
          <p:cNvPr id="26" name="TextBox 25"/>
          <p:cNvSpPr txBox="1"/>
          <p:nvPr/>
        </p:nvSpPr>
        <p:spPr>
          <a:xfrm>
            <a:off x="8545068" y="3520440"/>
            <a:ext cx="3232404" cy="457200"/>
          </a:xfrm>
          <a:prstGeom prst="rect">
            <a:avLst/>
          </a:prstGeom>
          <a:noFill/>
        </p:spPr>
        <p:txBody>
          <a:bodyPr wrap="square">
            <a:spAutoFit/>
          </a:bodyPr>
          <a:lstStyle/>
          <a:p>
            <a:pPr algn="l"/>
            <a:r>
              <a:rPr sz="1100" b="0" i="0">
                <a:solidFill>
                  <a:srgbClr val="F0F4F8"/>
                </a:solidFill>
                <a:latin typeface="Calibri"/>
              </a:rPr>
              <a:t>Certificate</a:t>
            </a:r>
          </a:p>
        </p:txBody>
      </p:sp>
      <p:sp>
        <p:nvSpPr>
          <p:cNvPr id="27" name="Rectangle 26"/>
          <p:cNvSpPr/>
          <p:nvPr/>
        </p:nvSpPr>
        <p:spPr>
          <a:xfrm>
            <a:off x="4352544" y="6062472"/>
            <a:ext cx="7836408" cy="45720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35424" y="6062472"/>
            <a:ext cx="7470648" cy="457200"/>
          </a:xfrm>
          <a:prstGeom prst="rect">
            <a:avLst/>
          </a:prstGeom>
          <a:noFill/>
        </p:spPr>
        <p:txBody>
          <a:bodyPr wrap="square">
            <a:spAutoFit/>
          </a:bodyPr>
          <a:lstStyle/>
          <a:p>
            <a:pPr algn="ctr"/>
            <a:r>
              <a:rPr sz="950" b="0" i="0">
                <a:solidFill>
                  <a:srgbClr val="8BA5BE"/>
                </a:solidFill>
                <a:latin typeface="Calibri"/>
              </a:rPr>
              <a:t>12 Modules  ·  72+ Hours  ·  Hands-On Labs  ·  CompTIA S+ Aligned  ·  Blockchain Certificate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a:t>
            </a:r>
          </a:p>
        </p:txBody>
      </p:sp>
      <p:sp>
        <p:nvSpPr>
          <p:cNvPr id="8" name="TextBox 7"/>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9" name="TextBox 8"/>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Split screen</a:t>
            </a:r>
          </a:p>
        </p:txBody>
      </p:sp>
      <p:sp>
        <p:nvSpPr>
          <p:cNvPr id="10" name="TextBox 9"/>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DATA ECONOMY</a:t>
            </a:r>
          </a:p>
        </p:txBody>
      </p:sp>
      <p:sp>
        <p:nvSpPr>
          <p:cNvPr id="11" name="Rectangle 10"/>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THE DATA ECONOMY</a:t>
            </a:r>
          </a:p>
          <a:p>
            <a:r>
              <a:rPr sz="600">
                <a:latin typeface="Calibri"/>
              </a:rPr>
              <a:t/>
            </a:r>
          </a:p>
          <a:p>
            <a:r>
              <a:rPr sz="1050">
                <a:solidFill>
                  <a:srgbClr val="F0F4F8"/>
                </a:solidFill>
                <a:latin typeface="Calibri"/>
              </a:rPr>
              <a:t>Every second in Nigeria:</a:t>
            </a:r>
          </a:p>
          <a:p>
            <a:r>
              <a:rPr sz="1000">
                <a:solidFill>
                  <a:srgbClr val="8BA5BE"/>
                </a:solidFill>
                <a:latin typeface="Calibri"/>
              </a:rPr>
              <a:t>      ◦  ₦6.2B    in electronic transactions</a:t>
            </a:r>
          </a:p>
          <a:p>
            <a:r>
              <a:rPr sz="1000">
                <a:solidFill>
                  <a:srgbClr val="8BA5BE"/>
                </a:solidFill>
                <a:latin typeface="Calibri"/>
              </a:rPr>
              <a:t>      ◦  2.3M     USSD transactions</a:t>
            </a:r>
          </a:p>
          <a:p>
            <a:r>
              <a:rPr sz="1000">
                <a:solidFill>
                  <a:srgbClr val="8BA5BE"/>
                </a:solidFill>
                <a:latin typeface="Calibri"/>
              </a:rPr>
              <a:t>      ◦  180K     mobile banking sessions</a:t>
            </a:r>
          </a:p>
          <a:p>
            <a:r>
              <a:rPr sz="600">
                <a:latin typeface="Calibri"/>
              </a:rPr>
              <a:t/>
            </a:r>
          </a:p>
          <a:p>
            <a:r>
              <a:rPr sz="1050">
                <a:solidFill>
                  <a:srgbClr val="F0F4F8"/>
                </a:solidFill>
                <a:latin typeface="Calibri"/>
              </a:rPr>
              <a:t>Companies that use data well grow 3× faster</a:t>
            </a:r>
          </a:p>
          <a:p>
            <a:r>
              <a:rPr sz="1050">
                <a:solidFill>
                  <a:srgbClr val="F0F4F8"/>
                </a:solidFill>
                <a:latin typeface="Calibri"/>
              </a:rPr>
              <a:t>than those that don't.</a:t>
            </a:r>
          </a:p>
          <a:p>
            <a:r>
              <a:rPr sz="600">
                <a:latin typeface="Calibri"/>
              </a:rPr>
              <a:t/>
            </a:r>
          </a:p>
          <a:p>
            <a:r>
              <a:rPr sz="1200" b="1">
                <a:solidFill>
                  <a:srgbClr val="00C2D4"/>
                </a:solidFill>
                <a:latin typeface="Calibri"/>
              </a:rPr>
              <a:t>DATA ANALYSTS ARE THE TRANSLATORS</a:t>
            </a:r>
          </a:p>
          <a:p>
            <a:r>
              <a:rPr sz="1050">
                <a:solidFill>
                  <a:srgbClr val="F0F4F8"/>
                </a:solidFill>
                <a:latin typeface="Calibri"/>
              </a:rPr>
              <a:t>between raw numbers and business 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a:t>
            </a:r>
          </a:p>
        </p:txBody>
      </p:sp>
      <p:sp>
        <p:nvSpPr>
          <p:cNvPr id="8" name="TextBox 7"/>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9" name="TextBox 8"/>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12-cell grid</a:t>
            </a:r>
          </a:p>
        </p:txBody>
      </p:sp>
      <p:sp>
        <p:nvSpPr>
          <p:cNvPr id="10" name="TextBox 9"/>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COURSE OVERVIEW</a:t>
            </a:r>
          </a:p>
        </p:txBody>
      </p:sp>
      <p:sp>
        <p:nvSpPr>
          <p:cNvPr id="11" name="Rectangle 10"/>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YOUR 12-MODULE JOURNEY</a:t>
            </a:r>
          </a:p>
          <a:p>
            <a:r>
              <a:rPr sz="600">
                <a:latin typeface="Calibri"/>
              </a:rPr>
              <a:t/>
            </a:r>
          </a:p>
          <a:p>
            <a:r>
              <a:rPr sz="1050">
                <a:solidFill>
                  <a:srgbClr val="F0F4F8"/>
                </a:solidFill>
                <a:latin typeface="Calibri"/>
              </a:rPr>
              <a:t>FOUNDATION (Modules 1–3)        TECHNICAL (Modules 4–7)</a:t>
            </a:r>
          </a:p>
          <a:p>
            <a:r>
              <a:rPr sz="1050">
                <a:solidFill>
                  <a:srgbClr val="F0F4F8"/>
                </a:solidFill>
                <a:latin typeface="Calibri"/>
              </a:rPr>
              <a:t>  1. Introduction to Analytics     4. Excel Fundamentals</a:t>
            </a:r>
          </a:p>
          <a:p>
            <a:r>
              <a:rPr sz="1050">
                <a:solidFill>
                  <a:srgbClr val="F0F4F8"/>
                </a:solidFill>
                <a:latin typeface="Calibri"/>
              </a:rPr>
              <a:t>  2. Data Collection &amp; Sources     5. Advanced Excel</a:t>
            </a:r>
          </a:p>
          <a:p>
            <a:r>
              <a:rPr sz="1050">
                <a:solidFill>
                  <a:srgbClr val="F0F4F8"/>
                </a:solidFill>
                <a:latin typeface="Calibri"/>
              </a:rPr>
              <a:t>  3. Data Cleaning &amp; Quality       6. SQL Foundations</a:t>
            </a:r>
          </a:p>
          <a:p>
            <a:r>
              <a:rPr sz="1050">
                <a:solidFill>
                  <a:srgbClr val="F0F4F8"/>
                </a:solidFill>
                <a:latin typeface="Calibri"/>
              </a:rPr>
              <a:t>  7. Advanced SQL</a:t>
            </a:r>
          </a:p>
          <a:p>
            <a:r>
              <a:rPr sz="600">
                <a:latin typeface="Calibri"/>
              </a:rPr>
              <a:t/>
            </a:r>
          </a:p>
          <a:p>
            <a:r>
              <a:rPr sz="1050">
                <a:solidFill>
                  <a:srgbClr val="F0F4F8"/>
                </a:solidFill>
                <a:latin typeface="Calibri"/>
              </a:rPr>
              <a:t>VISUALISATION (Modules 8–10)    ADVANCED (Modules 11–12)</a:t>
            </a:r>
          </a:p>
          <a:p>
            <a:r>
              <a:rPr sz="1050">
                <a:solidFill>
                  <a:srgbClr val="F0F4F8"/>
                </a:solidFill>
                <a:latin typeface="Calibri"/>
              </a:rPr>
              <a:t>  8. Visualisation Principles      11. Statistics &amp; Prediction</a:t>
            </a:r>
          </a:p>
          <a:p>
            <a:r>
              <a:rPr sz="1050">
                <a:solidFill>
                  <a:srgbClr val="F0F4F8"/>
                </a:solidFill>
                <a:latin typeface="Calibri"/>
              </a:rPr>
              <a:t>  9. Power BI Part I               12. Analytics in Practice</a:t>
            </a:r>
          </a:p>
          <a:p>
            <a:r>
              <a:rPr sz="1050">
                <a:solidFill>
                  <a:srgbClr val="F0F4F8"/>
                </a:solidFill>
                <a:latin typeface="Calibri"/>
              </a:rPr>
              <a:t>  10. Power BI Part II</a:t>
            </a:r>
          </a:p>
          <a:p>
            <a:r>
              <a:rPr sz="1000">
                <a:solidFill>
                  <a:srgbClr val="8BA5BE"/>
                </a:solidFill>
                <a:latin typeface="Calibri"/>
              </a:rPr>
              <a:t>      ◦  + CAPSTONE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a:t>
            </a:r>
          </a:p>
        </p:txBody>
      </p:sp>
      <p:sp>
        <p:nvSpPr>
          <p:cNvPr id="8" name="TextBox 7"/>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9" name="TextBox 8"/>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Four horizontal bands stacked vertically, each in a distinct colour: blue (Beginner), cyan (Intermediate), gold (Advance</a:t>
            </a:r>
          </a:p>
        </p:txBody>
      </p:sp>
      <p:sp>
        <p:nvSpPr>
          <p:cNvPr id="10" name="TextBox 9"/>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DIFFICULTY LEVEL OVERVIEW</a:t>
            </a:r>
          </a:p>
        </p:txBody>
      </p:sp>
      <p:sp>
        <p:nvSpPr>
          <p:cNvPr id="11" name="Rectangle 10"/>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YOUR LEARNING JOURNEY — 4 LEVELS OF MASTERY</a:t>
            </a:r>
          </a:p>
          <a:p>
            <a:r>
              <a:rPr sz="600">
                <a:latin typeface="Calibri"/>
              </a:rPr>
              <a:t/>
            </a:r>
          </a:p>
          <a:p>
            <a:r>
              <a:rPr sz="1050">
                <a:solidFill>
                  <a:srgbClr val="F0F4F8"/>
                </a:solidFill>
                <a:latin typeface="Calibri"/>
              </a:rPr>
              <a:t>BEGINNER        M1–M3    Analytics concepts · Data collection · Data cleaning</a:t>
            </a:r>
          </a:p>
          <a:p>
            <a:r>
              <a:rPr sz="1050">
                <a:solidFill>
                  <a:srgbClr val="F0F4F8"/>
                </a:solidFill>
                <a:latin typeface="Calibri"/>
              </a:rPr>
              <a:t>INTERMEDIATE    M4–M6    Excel foundations &amp; advanced · SQL basics</a:t>
            </a:r>
          </a:p>
          <a:p>
            <a:r>
              <a:rPr sz="1050">
                <a:solidFill>
                  <a:srgbClr val="F0F4F8"/>
                </a:solidFill>
                <a:latin typeface="Calibri"/>
              </a:rPr>
              <a:t>ADVANCED        M7–M9    Advanced SQL · Visualisation · Power BI dashboards</a:t>
            </a:r>
          </a:p>
          <a:p>
            <a:r>
              <a:rPr sz="1050">
                <a:solidFill>
                  <a:srgbClr val="F0F4F8"/>
                </a:solidFill>
                <a:latin typeface="Calibri"/>
              </a:rPr>
              <a:t>PROFESSIONAL   M10–M12   Power BI DAX · Statistics · Capstone project</a:t>
            </a:r>
          </a:p>
          <a:p>
            <a:r>
              <a:rPr sz="600">
                <a:latin typeface="Calibri"/>
              </a:rPr>
              <a:t/>
            </a:r>
          </a:p>
          <a:p>
            <a:r>
              <a:rPr sz="1050">
                <a:solidFill>
                  <a:srgbClr val="F0F4F8"/>
                </a:solidFill>
                <a:latin typeface="Calibri"/>
              </a:rPr>
              <a:t>Complete each level before advancing to the next.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1</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00C2D4"/>
                </a:solidFill>
                <a:latin typeface="Calibri"/>
              </a:rPr>
              <a:t>MOD 1</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1 OPENER: INTRODUCTION TO DATA ANALYTICS</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00C2D4"/>
                </a:solidFill>
                <a:latin typeface="Calibri"/>
              </a:rPr>
              <a:t>LEVEL: BEGINNER</a:t>
            </a:r>
          </a:p>
          <a:p>
            <a:r>
              <a:rPr sz="1300" b="1">
                <a:solidFill>
                  <a:srgbClr val="00C2D4"/>
                </a:solidFill>
                <a:latin typeface="Calibri"/>
              </a:rPr>
              <a:t>MODULE 01</a:t>
            </a:r>
          </a:p>
          <a:p>
            <a:r>
              <a:rPr sz="1300" b="1">
                <a:solidFill>
                  <a:srgbClr val="00C2D4"/>
                </a:solidFill>
                <a:latin typeface="Calibri"/>
              </a:rPr>
              <a:t>INTRODUCTION TO</a:t>
            </a:r>
          </a:p>
          <a:p>
            <a:r>
              <a:rPr sz="1300" b="1">
                <a:solidFill>
                  <a:srgbClr val="00C2D4"/>
                </a:solidFill>
                <a:latin typeface="Calibri"/>
              </a:rPr>
              <a:t>DATA ANALYTICS</a:t>
            </a:r>
          </a:p>
          <a:p>
            <a:r>
              <a:rPr sz="1100">
                <a:solidFill>
                  <a:srgbClr val="F0F4F8"/>
                </a:solidFill>
                <a:latin typeface="Calibri"/>
              </a:rPr>
              <a:t>What is it · Why it matters · Who does it</a:t>
            </a:r>
          </a:p>
          <a:p>
            <a:r>
              <a:rPr sz="1100">
                <a:solidFill>
                  <a:srgbClr val="F0F4F8"/>
                </a:solidFill>
                <a:latin typeface="Calibri"/>
              </a:rPr>
              <a:t>Career paths · The Nigerian data ecosystem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INTRODUCTION TO DATA ANALYTICS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Pyramid diagram, four levels from bottom to top: Descriptive (blue, widest), Diagnostic (cyan), Predictive (gold), Presc</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FOUR TYPES OF ANALYTICS</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THE ANALYTICS PYRAMID</a:t>
            </a:r>
          </a:p>
          <a:p>
            <a:r>
              <a:rPr sz="600">
                <a:latin typeface="Calibri"/>
              </a:rPr>
              <a:t/>
            </a:r>
          </a:p>
          <a:p>
            <a:r>
              <a:rPr sz="1050">
                <a:solidFill>
                  <a:srgbClr val="F0F4F8"/>
                </a:solidFill>
                <a:latin typeface="Calibri"/>
              </a:rPr>
              <a:t>PRESCRIPTIVE     "Do this to increase profit by 8%"</a:t>
            </a:r>
          </a:p>
          <a:p>
            <a:r>
              <a:rPr sz="1000">
                <a:solidFill>
                  <a:srgbClr val="8BA5BE"/>
                </a:solidFill>
                <a:latin typeface="Calibri"/>
              </a:rPr>
              <a:t>      ◦  ▲             Recommends action</a:t>
            </a:r>
          </a:p>
          <a:p>
            <a:r>
              <a:rPr sz="1000">
                <a:solidFill>
                  <a:srgbClr val="8BA5BE"/>
                </a:solidFill>
                <a:latin typeface="Calibri"/>
              </a:rPr>
              <a:t>      ◦  │</a:t>
            </a:r>
          </a:p>
          <a:p>
            <a:r>
              <a:rPr sz="1050">
                <a:solidFill>
                  <a:srgbClr val="F0F4F8"/>
                </a:solidFill>
                <a:latin typeface="Calibri"/>
              </a:rPr>
              <a:t>PREDICTIVE       "Next week's sales will be ₦4.2M"</a:t>
            </a:r>
          </a:p>
          <a:p>
            <a:r>
              <a:rPr sz="1000">
                <a:solidFill>
                  <a:srgbClr val="8BA5BE"/>
                </a:solidFill>
                <a:latin typeface="Calibri"/>
              </a:rPr>
              <a:t>      ◦  │             Forecasts the future</a:t>
            </a:r>
          </a:p>
          <a:p>
            <a:r>
              <a:rPr sz="1000">
                <a:solidFill>
                  <a:srgbClr val="8BA5BE"/>
                </a:solidFill>
                <a:latin typeface="Calibri"/>
              </a:rPr>
              <a:t>      ◦  │</a:t>
            </a:r>
          </a:p>
          <a:p>
            <a:r>
              <a:rPr sz="1050">
                <a:solidFill>
                  <a:srgbClr val="F0F4F8"/>
                </a:solidFill>
                <a:latin typeface="Calibri"/>
              </a:rPr>
              <a:t>DIAGNOSTIC       "Friday sales are higher because..."</a:t>
            </a:r>
          </a:p>
          <a:p>
            <a:r>
              <a:rPr sz="1000">
                <a:solidFill>
                  <a:srgbClr val="8BA5BE"/>
                </a:solidFill>
                <a:latin typeface="Calibri"/>
              </a:rPr>
              <a:t>      ◦  │             Finds causes</a:t>
            </a:r>
          </a:p>
          <a:p>
            <a:r>
              <a:rPr sz="1000">
                <a:solidFill>
                  <a:srgbClr val="8BA5BE"/>
                </a:solidFill>
                <a:latin typeface="Calibri"/>
              </a:rPr>
              <a:t>      ◦  │</a:t>
            </a:r>
          </a:p>
          <a:p>
            <a:r>
              <a:rPr sz="1050">
                <a:solidFill>
                  <a:srgbClr val="F0F4F8"/>
                </a:solidFill>
                <a:latin typeface="Calibri"/>
              </a:rPr>
              <a:t>DESCRIPTIVE      "We sold 2,000 units this month"</a:t>
            </a:r>
          </a:p>
          <a:p>
            <a:r>
              <a:rPr sz="1000">
                <a:solidFill>
                  <a:srgbClr val="8BA5BE"/>
                </a:solidFill>
                <a:latin typeface="Calibri"/>
              </a:rPr>
              <a:t>      ◦  Describes what happened</a:t>
            </a:r>
          </a:p>
          <a:p>
            <a:r>
              <a:rPr sz="600">
                <a:latin typeface="Calibri"/>
              </a:rPr>
              <a:t/>
            </a:r>
          </a:p>
          <a:p>
            <a:r>
              <a:rPr sz="1050">
                <a:solidFill>
                  <a:srgbClr val="F0F4F8"/>
                </a:solidFill>
                <a:latin typeface="Calibri"/>
              </a:rPr>
              <a:t>Most organisations today: Level 1–2</a:t>
            </a:r>
          </a:p>
          <a:p>
            <a:r>
              <a:rPr sz="1050">
                <a:solidFill>
                  <a:srgbClr val="F0F4F8"/>
                </a:solidFill>
                <a:latin typeface="Calibri"/>
              </a:rPr>
              <a:t>Leaders (Flutterwave, Konga, MTN): Level 3–4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INTRODUCTION TO DATA ANALYTICS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Circular flow diagram with 6 nodes connected by arrows, like a clock</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ANALYTICS LIFECYCLE</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THE ANALYTICS LIFECYCLE</a:t>
            </a:r>
          </a:p>
          <a:p>
            <a:r>
              <a:rPr sz="600">
                <a:latin typeface="Calibri"/>
              </a:rPr>
              <a:t/>
            </a:r>
          </a:p>
          <a:p>
            <a:r>
              <a:rPr sz="1000">
                <a:solidFill>
                  <a:srgbClr val="8BA5BE"/>
                </a:solidFill>
                <a:latin typeface="Calibri"/>
              </a:rPr>
              <a:t>      ◦  ① DEFINE            ⑥ DECIDE</a:t>
            </a:r>
          </a:p>
          <a:p>
            <a:r>
              <a:rPr sz="1000">
                <a:solidFill>
                  <a:srgbClr val="8BA5BE"/>
                </a:solidFill>
                <a:latin typeface="Calibri"/>
              </a:rPr>
              <a:t>      ◦  The Question   ←   Make It Actionable</a:t>
            </a:r>
          </a:p>
          <a:p>
            <a:r>
              <a:rPr sz="1000">
                <a:solidFill>
                  <a:srgbClr val="8BA5BE"/>
                </a:solidFill>
                <a:latin typeface="Calibri"/>
              </a:rPr>
              <a:t>      ◦  ↓                    ↑</a:t>
            </a:r>
          </a:p>
          <a:p>
            <a:r>
              <a:rPr sz="1000">
                <a:solidFill>
                  <a:srgbClr val="8BA5BE"/>
                </a:solidFill>
                <a:latin typeface="Calibri"/>
              </a:rPr>
              <a:t>      ◦  ② COLLECT        ⑤ COMMUNICATE</a:t>
            </a:r>
          </a:p>
          <a:p>
            <a:r>
              <a:rPr sz="1000">
                <a:solidFill>
                  <a:srgbClr val="8BA5BE"/>
                </a:solidFill>
                <a:latin typeface="Calibri"/>
              </a:rPr>
              <a:t>      ◦  The Data       →   Tell the Story</a:t>
            </a:r>
          </a:p>
          <a:p>
            <a:r>
              <a:rPr sz="1000">
                <a:solidFill>
                  <a:srgbClr val="8BA5BE"/>
                </a:solidFill>
                <a:latin typeface="Calibri"/>
              </a:rPr>
              <a:t>      ◦  ↓                    ↑</a:t>
            </a:r>
          </a:p>
          <a:p>
            <a:r>
              <a:rPr sz="1000">
                <a:solidFill>
                  <a:srgbClr val="8BA5BE"/>
                </a:solidFill>
                <a:latin typeface="Calibri"/>
              </a:rPr>
              <a:t>      ◦  ③ CLEAN         ④ ANALYSE</a:t>
            </a:r>
          </a:p>
          <a:p>
            <a:r>
              <a:rPr sz="1000">
                <a:solidFill>
                  <a:srgbClr val="8BA5BE"/>
                </a:solidFill>
                <a:latin typeface="Calibri"/>
              </a:rPr>
              <a:t>      ◦  80% of Time    →   Find the Answer</a:t>
            </a:r>
          </a:p>
          <a:p>
            <a:r>
              <a:rPr sz="600">
                <a:latin typeface="Calibri"/>
              </a:rPr>
              <a:t/>
            </a:r>
          </a:p>
          <a:p>
            <a:r>
              <a:rPr sz="1000">
                <a:solidFill>
                  <a:srgbClr val="FF8080"/>
                </a:solidFill>
                <a:latin typeface="Calibri"/>
              </a:rPr>
              <a:t>⚠  Most projects die between ③ and ④</a:t>
            </a:r>
          </a:p>
          <a:p>
            <a:r>
              <a:rPr sz="1000">
                <a:solidFill>
                  <a:srgbClr val="8BA5BE"/>
                </a:solidFill>
                <a:latin typeface="Calibri"/>
              </a:rPr>
              <a:t>      ◦  (cleaning takes longer than expected)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INTRODUCTION TO DATA ANALYTICS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Network diagram</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NIGERIAN DATA ECOSYSTEM</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658112"/>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16" name="TextBox 15"/>
          <p:cNvSpPr txBox="1"/>
          <p:nvPr/>
        </p:nvSpPr>
        <p:spPr>
          <a:xfrm>
            <a:off x="5120640" y="1298448"/>
            <a:ext cx="3081528" cy="365760"/>
          </a:xfrm>
          <a:prstGeom prst="rect">
            <a:avLst/>
          </a:prstGeom>
          <a:noFill/>
        </p:spPr>
        <p:txBody>
          <a:bodyPr wrap="square">
            <a:spAutoFit/>
          </a:bodyPr>
          <a:lstStyle/>
          <a:p>
            <a:pPr algn="l"/>
            <a:r>
              <a:rPr sz="1100" b="1" i="0">
                <a:solidFill>
                  <a:srgbClr val="00C2D4"/>
                </a:solidFill>
                <a:latin typeface="Calibri"/>
              </a:rPr>
              <a:t>nigerianstat.gov.ng (free)</a:t>
            </a:r>
          </a:p>
        </p:txBody>
      </p:sp>
      <p:sp>
        <p:nvSpPr>
          <p:cNvPr id="17" name="TextBox 16"/>
          <p:cNvSpPr txBox="1"/>
          <p:nvPr/>
        </p:nvSpPr>
        <p:spPr>
          <a:xfrm>
            <a:off x="4736592" y="1664208"/>
            <a:ext cx="3465576" cy="1127760"/>
          </a:xfrm>
          <a:prstGeom prst="rect">
            <a:avLst/>
          </a:prstGeom>
          <a:noFill/>
        </p:spPr>
        <p:txBody>
          <a:bodyPr wrap="square">
            <a:spAutoFit/>
          </a:bodyPr>
          <a:lstStyle/>
          <a:p>
            <a:pPr algn="l"/>
            <a:r>
              <a:rPr sz="950" b="0" i="0">
                <a:solidFill>
                  <a:srgbClr val="F0F4F8"/>
                </a:solidFill>
                <a:latin typeface="Calibri"/>
              </a:rPr>
              <a:t>nigerianstat.gov.ng (free)</a:t>
            </a:r>
          </a:p>
        </p:txBody>
      </p:sp>
      <p:sp>
        <p:nvSpPr>
          <p:cNvPr id="18" name="Rectangle 17"/>
          <p:cNvSpPr/>
          <p:nvPr/>
        </p:nvSpPr>
        <p:spPr>
          <a:xfrm>
            <a:off x="8421624" y="1207008"/>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21624" y="1207008"/>
            <a:ext cx="50292" cy="165811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3135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1" name="TextBox 20"/>
          <p:cNvSpPr txBox="1"/>
          <p:nvPr/>
        </p:nvSpPr>
        <p:spPr>
          <a:xfrm>
            <a:off x="8915400" y="1298448"/>
            <a:ext cx="3081528" cy="365760"/>
          </a:xfrm>
          <a:prstGeom prst="rect">
            <a:avLst/>
          </a:prstGeom>
          <a:noFill/>
        </p:spPr>
        <p:txBody>
          <a:bodyPr wrap="square">
            <a:spAutoFit/>
          </a:bodyPr>
          <a:lstStyle/>
          <a:p>
            <a:pPr algn="l"/>
            <a:r>
              <a:rPr sz="1100" b="1" i="0">
                <a:solidFill>
                  <a:srgbClr val="F5A623"/>
                </a:solidFill>
                <a:latin typeface="Calibri"/>
              </a:rPr>
              <a:t>cbn.gov.ng/documents/statistics</a:t>
            </a:r>
          </a:p>
        </p:txBody>
      </p:sp>
      <p:sp>
        <p:nvSpPr>
          <p:cNvPr id="22" name="TextBox 21"/>
          <p:cNvSpPr txBox="1"/>
          <p:nvPr/>
        </p:nvSpPr>
        <p:spPr>
          <a:xfrm>
            <a:off x="8531352" y="1664208"/>
            <a:ext cx="3465576" cy="1127760"/>
          </a:xfrm>
          <a:prstGeom prst="rect">
            <a:avLst/>
          </a:prstGeom>
          <a:noFill/>
        </p:spPr>
        <p:txBody>
          <a:bodyPr wrap="square">
            <a:spAutoFit/>
          </a:bodyPr>
          <a:lstStyle/>
          <a:p>
            <a:pPr algn="l"/>
            <a:r>
              <a:rPr sz="950" b="0" i="0">
                <a:solidFill>
                  <a:srgbClr val="F0F4F8"/>
                </a:solidFill>
                <a:latin typeface="Calibri"/>
              </a:rPr>
              <a:t>cbn.gov.ng/documents/statistics</a:t>
            </a:r>
          </a:p>
        </p:txBody>
      </p:sp>
      <p:sp>
        <p:nvSpPr>
          <p:cNvPr id="23" name="Rectangle 22"/>
          <p:cNvSpPr/>
          <p:nvPr/>
        </p:nvSpPr>
        <p:spPr>
          <a:xfrm>
            <a:off x="4626864" y="3011424"/>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26864" y="3011424"/>
            <a:ext cx="50292" cy="1658112"/>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36592" y="3084576"/>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6" name="TextBox 25"/>
          <p:cNvSpPr txBox="1"/>
          <p:nvPr/>
        </p:nvSpPr>
        <p:spPr>
          <a:xfrm>
            <a:off x="5120640" y="3102864"/>
            <a:ext cx="3081528" cy="365760"/>
          </a:xfrm>
          <a:prstGeom prst="rect">
            <a:avLst/>
          </a:prstGeom>
          <a:noFill/>
        </p:spPr>
        <p:txBody>
          <a:bodyPr wrap="square">
            <a:spAutoFit/>
          </a:bodyPr>
          <a:lstStyle/>
          <a:p>
            <a:pPr algn="l"/>
            <a:r>
              <a:rPr sz="1100" b="1" i="0">
                <a:solidFill>
                  <a:srgbClr val="00B894"/>
                </a:solidFill>
                <a:latin typeface="Calibri"/>
              </a:rPr>
              <a:t>nibss-plc.com.ng</a:t>
            </a:r>
          </a:p>
        </p:txBody>
      </p:sp>
      <p:sp>
        <p:nvSpPr>
          <p:cNvPr id="27" name="TextBox 26"/>
          <p:cNvSpPr txBox="1"/>
          <p:nvPr/>
        </p:nvSpPr>
        <p:spPr>
          <a:xfrm>
            <a:off x="4736592" y="3468624"/>
            <a:ext cx="3465576" cy="1127760"/>
          </a:xfrm>
          <a:prstGeom prst="rect">
            <a:avLst/>
          </a:prstGeom>
          <a:noFill/>
        </p:spPr>
        <p:txBody>
          <a:bodyPr wrap="square">
            <a:spAutoFit/>
          </a:bodyPr>
          <a:lstStyle/>
          <a:p>
            <a:pPr algn="l"/>
            <a:r>
              <a:rPr sz="950" b="0" i="0">
                <a:solidFill>
                  <a:srgbClr val="F0F4F8"/>
                </a:solidFill>
                <a:latin typeface="Calibri"/>
              </a:rPr>
              <a:t>nibss-plc.com.ng</a:t>
            </a:r>
          </a:p>
        </p:txBody>
      </p:sp>
      <p:sp>
        <p:nvSpPr>
          <p:cNvPr id="28" name="Rectangle 27"/>
          <p:cNvSpPr/>
          <p:nvPr/>
        </p:nvSpPr>
        <p:spPr>
          <a:xfrm>
            <a:off x="8421624" y="3011424"/>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421624" y="3011424"/>
            <a:ext cx="50292" cy="165811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31352" y="3084576"/>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31" name="TextBox 30"/>
          <p:cNvSpPr txBox="1"/>
          <p:nvPr/>
        </p:nvSpPr>
        <p:spPr>
          <a:xfrm>
            <a:off x="8915400" y="3102864"/>
            <a:ext cx="3081528" cy="365760"/>
          </a:xfrm>
          <a:prstGeom prst="rect">
            <a:avLst/>
          </a:prstGeom>
          <a:noFill/>
        </p:spPr>
        <p:txBody>
          <a:bodyPr wrap="square">
            <a:spAutoFit/>
          </a:bodyPr>
          <a:lstStyle/>
          <a:p>
            <a:pPr algn="l"/>
            <a:r>
              <a:rPr sz="1100" b="1" i="0">
                <a:solidFill>
                  <a:srgbClr val="F5A623"/>
                </a:solidFill>
                <a:latin typeface="Calibri"/>
              </a:rPr>
              <a:t>inec.gov.ng</a:t>
            </a:r>
          </a:p>
        </p:txBody>
      </p:sp>
      <p:sp>
        <p:nvSpPr>
          <p:cNvPr id="32" name="TextBox 31"/>
          <p:cNvSpPr txBox="1"/>
          <p:nvPr/>
        </p:nvSpPr>
        <p:spPr>
          <a:xfrm>
            <a:off x="8531352" y="3468624"/>
            <a:ext cx="3465576" cy="1127760"/>
          </a:xfrm>
          <a:prstGeom prst="rect">
            <a:avLst/>
          </a:prstGeom>
          <a:noFill/>
        </p:spPr>
        <p:txBody>
          <a:bodyPr wrap="square">
            <a:spAutoFit/>
          </a:bodyPr>
          <a:lstStyle/>
          <a:p>
            <a:pPr algn="l"/>
            <a:r>
              <a:rPr sz="950" b="0" i="0">
                <a:solidFill>
                  <a:srgbClr val="F0F4F8"/>
                </a:solidFill>
                <a:latin typeface="Calibri"/>
              </a:rPr>
              <a:t>inec.gov.ng</a:t>
            </a:r>
          </a:p>
        </p:txBody>
      </p:sp>
      <p:sp>
        <p:nvSpPr>
          <p:cNvPr id="33" name="Rectangle 32"/>
          <p:cNvSpPr/>
          <p:nvPr/>
        </p:nvSpPr>
        <p:spPr>
          <a:xfrm>
            <a:off x="4626864" y="4815840"/>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26864" y="4815840"/>
            <a:ext cx="50292" cy="165811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36592" y="4888992"/>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36" name="TextBox 35"/>
          <p:cNvSpPr txBox="1"/>
          <p:nvPr/>
        </p:nvSpPr>
        <p:spPr>
          <a:xfrm>
            <a:off x="5120640" y="4907280"/>
            <a:ext cx="3081528" cy="365760"/>
          </a:xfrm>
          <a:prstGeom prst="rect">
            <a:avLst/>
          </a:prstGeom>
          <a:noFill/>
        </p:spPr>
        <p:txBody>
          <a:bodyPr wrap="square">
            <a:spAutoFit/>
          </a:bodyPr>
          <a:lstStyle/>
          <a:p>
            <a:pPr algn="l"/>
            <a:r>
              <a:rPr sz="1100" b="1" i="0">
                <a:solidFill>
                  <a:srgbClr val="E74C3C"/>
                </a:solidFill>
                <a:latin typeface="Calibri"/>
              </a:rPr>
              <a:t>Use for fintech market intelligence</a:t>
            </a:r>
          </a:p>
        </p:txBody>
      </p:sp>
      <p:sp>
        <p:nvSpPr>
          <p:cNvPr id="37" name="TextBox 36"/>
          <p:cNvSpPr txBox="1"/>
          <p:nvPr/>
        </p:nvSpPr>
        <p:spPr>
          <a:xfrm>
            <a:off x="4736592" y="5273040"/>
            <a:ext cx="3465576" cy="1127760"/>
          </a:xfrm>
          <a:prstGeom prst="rect">
            <a:avLst/>
          </a:prstGeom>
          <a:noFill/>
        </p:spPr>
        <p:txBody>
          <a:bodyPr wrap="square">
            <a:spAutoFit/>
          </a:bodyPr>
          <a:lstStyle/>
          <a:p>
            <a:pPr algn="l"/>
            <a:r>
              <a:rPr sz="950" b="0" i="0">
                <a:solidFill>
                  <a:srgbClr val="F0F4F8"/>
                </a:solidFill>
                <a:latin typeface="Calibri"/>
              </a:rPr>
              <a:t>Use for fintech market intelligence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INTRODUCTION TO DATA ANALYTICS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Career ladder diagram</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CAREER PATHS &amp; SALARIES</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DATA ANALYTICS CAREER MAP — NIGERIA 2024/25</a:t>
            </a:r>
          </a:p>
          <a:p>
            <a:r>
              <a:rPr sz="600">
                <a:latin typeface="Calibri"/>
              </a:rPr>
              <a:t/>
            </a:r>
          </a:p>
          <a:p>
            <a:r>
              <a:rPr sz="1050">
                <a:solidFill>
                  <a:srgbClr val="F0F4F8"/>
                </a:solidFill>
                <a:latin typeface="Calibri"/>
              </a:rPr>
              <a:t>Entry Analyst        ₦150K–₦300K/month</a:t>
            </a:r>
          </a:p>
          <a:p>
            <a:r>
              <a:rPr sz="1050">
                <a:solidFill>
                  <a:srgbClr val="F0F4F8"/>
                </a:solidFill>
                <a:latin typeface="Calibri"/>
              </a:rPr>
              <a:t>Mid-Level (2–4yr)    ₦400K–₦800K/month</a:t>
            </a:r>
          </a:p>
          <a:p>
            <a:r>
              <a:rPr sz="1050">
                <a:solidFill>
                  <a:srgbClr val="F0F4F8"/>
                </a:solidFill>
                <a:latin typeface="Calibri"/>
              </a:rPr>
              <a:t>Senior Analyst       ₦900K–₦1.5M/month</a:t>
            </a:r>
          </a:p>
          <a:p>
            <a:r>
              <a:rPr sz="1050">
                <a:solidFill>
                  <a:srgbClr val="F0F4F8"/>
                </a:solidFill>
                <a:latin typeface="Calibri"/>
              </a:rPr>
              <a:t>Analytics Manager    ₦1.5M–₦3M/month</a:t>
            </a:r>
          </a:p>
          <a:p>
            <a:r>
              <a:rPr sz="600">
                <a:latin typeface="Calibri"/>
              </a:rPr>
              <a:t/>
            </a:r>
          </a:p>
          <a:p>
            <a:r>
              <a:rPr sz="1050">
                <a:solidFill>
                  <a:srgbClr val="F0F4F8"/>
                </a:solidFill>
                <a:latin typeface="Calibri"/>
              </a:rPr>
              <a:t>🌍 REMOTE OPPORTUNITY</a:t>
            </a:r>
          </a:p>
          <a:p>
            <a:r>
              <a:rPr sz="1050">
                <a:solidFill>
                  <a:srgbClr val="F0F4F8"/>
                </a:solidFill>
                <a:latin typeface="Calibri"/>
              </a:rPr>
              <a:t>International companies hire Nigerian analysts</a:t>
            </a:r>
          </a:p>
          <a:p>
            <a:r>
              <a:rPr sz="950">
                <a:solidFill>
                  <a:srgbClr val="4ADE80"/>
                </a:solidFill>
                <a:latin typeface="Courier New"/>
              </a:rPr>
              <a:t>$2,000–$5,000/month — from anywhere in Nigeria</a:t>
            </a:r>
          </a:p>
          <a:p>
            <a:r>
              <a:rPr sz="600">
                <a:latin typeface="Calibri"/>
              </a:rPr>
              <a:t/>
            </a:r>
          </a:p>
          <a:p>
            <a:r>
              <a:rPr sz="1200" b="1">
                <a:solidFill>
                  <a:srgbClr val="00C2D4"/>
                </a:solidFill>
                <a:latin typeface="Calibri"/>
              </a:rPr>
              <a:t>TOP HIRING SECTORS:</a:t>
            </a:r>
          </a:p>
          <a:p>
            <a:r>
              <a:rPr sz="1050">
                <a:solidFill>
                  <a:srgbClr val="F0F4F8"/>
                </a:solidFill>
                <a:latin typeface="Calibri"/>
              </a:rPr>
              <a:t>Fintech  ·  Telecom  ·  Banking  ·  FMCG  ·  Consulting</a:t>
            </a:r>
          </a:p>
          <a:p>
            <a:r>
              <a:rPr sz="600">
                <a:latin typeface="Calibri"/>
              </a:rPr>
              <a:t/>
            </a:r>
          </a:p>
          <a:p>
            <a:r>
              <a:rPr sz="1050">
                <a:solidFill>
                  <a:srgbClr val="F0F4F8"/>
                </a:solidFill>
                <a:latin typeface="Calibri"/>
              </a:rPr>
              <a:t>Your MetaBridge certificate:</a:t>
            </a:r>
          </a:p>
          <a:p>
            <a:r>
              <a:rPr sz="1050">
                <a:solidFill>
                  <a:srgbClr val="F0F4F8"/>
                </a:solidFill>
                <a:latin typeface="Calibri"/>
              </a:rPr>
              <a:t>Blockchain-verified → instantly confirmedby any employer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2</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00C2D4"/>
                </a:solidFill>
                <a:latin typeface="Calibri"/>
              </a:rPr>
              <a:t>MOD 2</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2 OPENER: DATA COLLECTION &amp; SOURCES</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00C2D4"/>
                </a:solidFill>
                <a:latin typeface="Calibri"/>
              </a:rPr>
              <a:t>LEVEL: BEGINNER</a:t>
            </a:r>
          </a:p>
          <a:p>
            <a:r>
              <a:rPr sz="1300" b="1">
                <a:solidFill>
                  <a:srgbClr val="00C2D4"/>
                </a:solidFill>
                <a:latin typeface="Calibri"/>
              </a:rPr>
              <a:t>MODULE 02</a:t>
            </a:r>
          </a:p>
          <a:p>
            <a:r>
              <a:rPr sz="1300" b="1">
                <a:solidFill>
                  <a:srgbClr val="00C2D4"/>
                </a:solidFill>
                <a:latin typeface="Calibri"/>
              </a:rPr>
              <a:t>DATA COLLECTION</a:t>
            </a:r>
          </a:p>
          <a:p>
            <a:r>
              <a:rPr sz="1100">
                <a:solidFill>
                  <a:srgbClr val="F0F4F8"/>
                </a:solidFill>
                <a:latin typeface="Calibri"/>
              </a:rPr>
              <a:t>&amp; SOURCES</a:t>
            </a:r>
          </a:p>
          <a:p>
            <a:r>
              <a:rPr sz="1100">
                <a:solidFill>
                  <a:srgbClr val="F0F4F8"/>
                </a:solidFill>
                <a:latin typeface="Calibri"/>
              </a:rPr>
              <a:t>Where data comes from · Types of data</a:t>
            </a:r>
          </a:p>
          <a:p>
            <a:r>
              <a:rPr sz="1100">
                <a:solidFill>
                  <a:srgbClr val="F0F4F8"/>
                </a:solidFill>
                <a:latin typeface="Calibri"/>
              </a:rPr>
              <a:t>Survey design · APIs · NDPA 2023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DATA COLLECTION &amp; SOURCES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2×2 matrix</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DATA TYPES: THE FOUNDATION</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2200656" cy="365760"/>
          </a:xfrm>
          <a:prstGeom prst="rect">
            <a:avLst/>
          </a:prstGeom>
          <a:noFill/>
        </p:spPr>
        <p:txBody>
          <a:bodyPr wrap="square">
            <a:spAutoFit/>
          </a:bodyPr>
          <a:lstStyle/>
          <a:p>
            <a:pPr algn="l"/>
            <a:r>
              <a:rPr sz="1100" b="1" i="0">
                <a:solidFill>
                  <a:srgbClr val="00C2D4"/>
                </a:solidFill>
                <a:latin typeface="Calibri"/>
              </a:rPr>
              <a:t>DISCRETE          CONTINUOUS    NOMINAL         ORDINAL</a:t>
            </a:r>
          </a:p>
        </p:txBody>
      </p:sp>
      <p:sp>
        <p:nvSpPr>
          <p:cNvPr id="16" name="TextBox 15"/>
          <p:cNvSpPr txBox="1"/>
          <p:nvPr/>
        </p:nvSpPr>
        <p:spPr>
          <a:xfrm>
            <a:off x="4736592" y="1664208"/>
            <a:ext cx="2200656" cy="1207008"/>
          </a:xfrm>
          <a:prstGeom prst="rect">
            <a:avLst/>
          </a:prstGeom>
          <a:noFill/>
        </p:spPr>
        <p:txBody>
          <a:bodyPr wrap="square">
            <a:spAutoFit/>
          </a:bodyPr>
          <a:lstStyle/>
          <a:p>
            <a:pPr algn="l"/>
            <a:r>
              <a:rPr sz="950" b="0" i="0">
                <a:solidFill>
                  <a:srgbClr val="F0F4F8"/>
                </a:solidFill>
                <a:latin typeface="Calibri"/>
              </a:rPr>
              <a:t>Whole numbers     Any value     No order        Has order</a:t>
            </a:r>
          </a:p>
        </p:txBody>
      </p:sp>
      <p:sp>
        <p:nvSpPr>
          <p:cNvPr id="17" name="Rectangle 16"/>
          <p:cNvSpPr/>
          <p:nvPr/>
        </p:nvSpPr>
        <p:spPr>
          <a:xfrm>
            <a:off x="715670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5670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643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0" name="TextBox 19"/>
          <p:cNvSpPr txBox="1"/>
          <p:nvPr/>
        </p:nvSpPr>
        <p:spPr>
          <a:xfrm>
            <a:off x="7650480" y="1298448"/>
            <a:ext cx="1816608" cy="365760"/>
          </a:xfrm>
          <a:prstGeom prst="rect">
            <a:avLst/>
          </a:prstGeom>
          <a:noFill/>
        </p:spPr>
        <p:txBody>
          <a:bodyPr wrap="square">
            <a:spAutoFit/>
          </a:bodyPr>
          <a:lstStyle/>
          <a:p>
            <a:pPr algn="l"/>
            <a:r>
              <a:rPr sz="1100" b="1" i="0">
                <a:solidFill>
                  <a:srgbClr val="F5A623"/>
                </a:solidFill>
                <a:latin typeface="Calibri"/>
              </a:rPr>
              <a:t>No. of branches • Revenue     • Payment type  • Satisfaction</a:t>
            </a:r>
          </a:p>
        </p:txBody>
      </p:sp>
      <p:sp>
        <p:nvSpPr>
          <p:cNvPr id="21" name="TextBox 20"/>
          <p:cNvSpPr txBox="1"/>
          <p:nvPr/>
        </p:nvSpPr>
        <p:spPr>
          <a:xfrm>
            <a:off x="7266432" y="1664208"/>
            <a:ext cx="2200656" cy="1207008"/>
          </a:xfrm>
          <a:prstGeom prst="rect">
            <a:avLst/>
          </a:prstGeom>
          <a:noFill/>
        </p:spPr>
        <p:txBody>
          <a:bodyPr wrap="square">
            <a:spAutoFit/>
          </a:bodyPr>
          <a:lstStyle/>
          <a:p>
            <a:pPr algn="l"/>
            <a:r>
              <a:rPr sz="950" b="0" i="0">
                <a:solidFill>
                  <a:srgbClr val="F0F4F8"/>
                </a:solidFill>
                <a:latin typeface="Calibri"/>
              </a:rPr>
              <a:t>No. of branches • Revenue     • Payment type  • Satisfaction</a:t>
            </a:r>
          </a:p>
        </p:txBody>
      </p:sp>
      <p:sp>
        <p:nvSpPr>
          <p:cNvPr id="22" name="Rectangle 21"/>
          <p:cNvSpPr/>
          <p:nvPr/>
        </p:nvSpPr>
        <p:spPr>
          <a:xfrm>
            <a:off x="968654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86544" y="1207008"/>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9627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5" name="TextBox 24"/>
          <p:cNvSpPr txBox="1"/>
          <p:nvPr/>
        </p:nvSpPr>
        <p:spPr>
          <a:xfrm>
            <a:off x="10180320" y="1298448"/>
            <a:ext cx="1816608" cy="365760"/>
          </a:xfrm>
          <a:prstGeom prst="rect">
            <a:avLst/>
          </a:prstGeom>
          <a:noFill/>
        </p:spPr>
        <p:txBody>
          <a:bodyPr wrap="square">
            <a:spAutoFit/>
          </a:bodyPr>
          <a:lstStyle/>
          <a:p>
            <a:pPr algn="l"/>
            <a:r>
              <a:rPr sz="1100" b="1" i="0">
                <a:solidFill>
                  <a:srgbClr val="00B894"/>
                </a:solidFill>
                <a:latin typeface="Calibri"/>
              </a:rPr>
              <a:t>Transaction     • Time        • State         • Education</a:t>
            </a:r>
          </a:p>
        </p:txBody>
      </p:sp>
      <p:sp>
        <p:nvSpPr>
          <p:cNvPr id="26" name="TextBox 25"/>
          <p:cNvSpPr txBox="1"/>
          <p:nvPr/>
        </p:nvSpPr>
        <p:spPr>
          <a:xfrm>
            <a:off x="9796272" y="1664208"/>
            <a:ext cx="2200656" cy="1207008"/>
          </a:xfrm>
          <a:prstGeom prst="rect">
            <a:avLst/>
          </a:prstGeom>
          <a:noFill/>
        </p:spPr>
        <p:txBody>
          <a:bodyPr wrap="square">
            <a:spAutoFit/>
          </a:bodyPr>
          <a:lstStyle/>
          <a:p>
            <a:pPr algn="l"/>
            <a:r>
              <a:rPr sz="950" b="0" i="0">
                <a:solidFill>
                  <a:srgbClr val="F0F4F8"/>
                </a:solidFill>
                <a:latin typeface="Calibri"/>
              </a:rPr>
              <a:t>Transaction     • Time        • State         • Education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DATA COLLECTION &amp; SOURCES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Two-column layout</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SURVEY DESIGN RULES</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SURVEY DESIGN — THE RULES</a:t>
            </a:r>
          </a:p>
          <a:p>
            <a:r>
              <a:rPr sz="600">
                <a:latin typeface="Calibri"/>
              </a:rPr>
              <a:t/>
            </a:r>
          </a:p>
          <a:p>
            <a:r>
              <a:rPr sz="1050">
                <a:solidFill>
                  <a:srgbClr val="F0F4F8"/>
                </a:solidFill>
                <a:latin typeface="Calibri"/>
              </a:rPr>
              <a:t>✗ BAD                           ✓ GOOD</a:t>
            </a:r>
          </a:p>
          <a:p>
            <a:r>
              <a:rPr sz="600">
                <a:latin typeface="Calibri"/>
              </a:rPr>
              <a:t/>
            </a:r>
          </a:p>
          <a:p>
            <a:r>
              <a:rPr sz="1050">
                <a:solidFill>
                  <a:srgbClr val="F0F4F8"/>
                </a:solidFill>
                <a:latin typeface="Calibri"/>
              </a:rPr>
              <a:t>"Are you satisfied with our     "How would you rate our pricing</a:t>
            </a:r>
          </a:p>
          <a:p>
            <a:r>
              <a:rPr sz="1050">
                <a:solidFill>
                  <a:srgbClr val="F0F4F8"/>
                </a:solidFill>
                <a:latin typeface="Calibri"/>
              </a:rPr>
              <a:t>pricing and delivery speed?"    on a scale of 1–5?"</a:t>
            </a:r>
          </a:p>
          <a:p>
            <a:r>
              <a:rPr sz="1050">
                <a:solidFill>
                  <a:srgbClr val="F0F4F8"/>
                </a:solidFill>
                <a:latin typeface="Calibri"/>
              </a:rPr>
              <a:t>(Two questions in one)          "How would you rate delivery speed?"</a:t>
            </a:r>
          </a:p>
          <a:p>
            <a:r>
              <a:rPr sz="600">
                <a:latin typeface="Calibri"/>
              </a:rPr>
              <a:t/>
            </a:r>
          </a:p>
          <a:p>
            <a:r>
              <a:rPr sz="1050">
                <a:solidFill>
                  <a:srgbClr val="F0F4F8"/>
                </a:solidFill>
                <a:latin typeface="Calibri"/>
              </a:rPr>
              <a:t>"Don't you agree our service    "Overall, how satisfied are you</a:t>
            </a:r>
          </a:p>
          <a:p>
            <a:r>
              <a:rPr sz="1050">
                <a:solidFill>
                  <a:srgbClr val="F0F4F8"/>
                </a:solidFill>
                <a:latin typeface="Calibri"/>
              </a:rPr>
              <a:t>is excellent?"                  with our service?"</a:t>
            </a:r>
          </a:p>
          <a:p>
            <a:r>
              <a:rPr sz="1050">
                <a:solidFill>
                  <a:srgbClr val="F0F4F8"/>
                </a:solidFill>
                <a:latin typeface="Calibri"/>
              </a:rPr>
              <a:t>(Leading question)              (Neutral wording)</a:t>
            </a:r>
          </a:p>
          <a:p>
            <a:r>
              <a:rPr sz="600">
                <a:latin typeface="Calibri"/>
              </a:rPr>
              <a:t/>
            </a:r>
          </a:p>
          <a:p>
            <a:r>
              <a:rPr sz="1050">
                <a:solidFill>
                  <a:srgbClr val="F0F4F8"/>
                </a:solidFill>
                <a:latin typeface="Calibri"/>
              </a:rPr>
              <a:t>"Rate us" (No scale given)      "Rate us: 1=Very Poor, 5=Excellent"</a:t>
            </a:r>
          </a:p>
          <a:p>
            <a:r>
              <a:rPr sz="1000">
                <a:solidFill>
                  <a:srgbClr val="8BA5BE"/>
                </a:solidFill>
                <a:latin typeface="Calibri"/>
              </a:rPr>
              <a:t>      ◦  (Defined scale)</a:t>
            </a:r>
          </a:p>
          <a:p>
            <a:r>
              <a:rPr sz="600">
                <a:latin typeface="Calibri"/>
              </a:rPr>
              <a:t/>
            </a:r>
          </a:p>
          <a:p>
            <a:r>
              <a:rPr sz="1050">
                <a:solidFill>
                  <a:srgbClr val="F0F4F8"/>
                </a:solidFill>
                <a:latin typeface="Calibri"/>
              </a:rPr>
              <a:t>NIGERIAN CONTEXT: Share surveys via WhatsApp, not email.</a:t>
            </a:r>
          </a:p>
          <a:p>
            <a:r>
              <a:rPr sz="1050">
                <a:solidFill>
                  <a:srgbClr val="F0F4F8"/>
                </a:solidFill>
                <a:latin typeface="Calibri"/>
              </a:rPr>
              <a:t>Response rates 3–5× higher on WhatsApp links.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DATA COLLECTION &amp; SOURCES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Shield icon in gold with "NDPA 2023" inside</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NDPA 2023: DATA PROTECTION IN NIGERIA</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NIGERIA DATA PROTECTION ACT 2023</a:t>
            </a:r>
          </a:p>
          <a:p>
            <a:r>
              <a:rPr sz="1050">
                <a:solidFill>
                  <a:srgbClr val="F0F4F8"/>
                </a:solidFill>
                <a:latin typeface="Calibri"/>
              </a:rPr>
              <a:t>Signed June 14, 2023 | Enforced by NDPC</a:t>
            </a:r>
          </a:p>
          <a:p>
            <a:r>
              <a:rPr sz="600">
                <a:latin typeface="Calibri"/>
              </a:rPr>
              <a:t/>
            </a:r>
          </a:p>
          <a:p>
            <a:r>
              <a:rPr sz="1200" b="1">
                <a:solidFill>
                  <a:srgbClr val="00C2D4"/>
                </a:solidFill>
                <a:latin typeface="Calibri"/>
              </a:rPr>
              <a:t>YOUR OBLIGATIONS AS A DATA ANALYST:</a:t>
            </a:r>
          </a:p>
          <a:p>
            <a:r>
              <a:rPr sz="600">
                <a:latin typeface="Calibri"/>
              </a:rPr>
              <a:t/>
            </a:r>
          </a:p>
          <a:p>
            <a:r>
              <a:rPr sz="1050">
                <a:solidFill>
                  <a:srgbClr val="F0F4F8"/>
                </a:solidFill>
                <a:latin typeface="Calibri"/>
              </a:rPr>
              <a:t>Lawful Basis    Get consent OR have a contractual/legal reason</a:t>
            </a:r>
          </a:p>
          <a:p>
            <a:r>
              <a:rPr sz="1000">
                <a:solidFill>
                  <a:srgbClr val="8BA5BE"/>
                </a:solidFill>
                <a:latin typeface="Calibri"/>
              </a:rPr>
              <a:t>      ◦  to hold personal data</a:t>
            </a:r>
          </a:p>
          <a:p>
            <a:r>
              <a:rPr sz="600">
                <a:latin typeface="Calibri"/>
              </a:rPr>
              <a:t/>
            </a:r>
          </a:p>
          <a:p>
            <a:r>
              <a:rPr sz="1050">
                <a:solidFill>
                  <a:srgbClr val="F0F4F8"/>
                </a:solidFill>
                <a:latin typeface="Calibri"/>
              </a:rPr>
              <a:t>Data Rights     Subjects can access, correct, delete, port their data</a:t>
            </a:r>
          </a:p>
          <a:p>
            <a:r>
              <a:rPr sz="1000">
                <a:solidFill>
                  <a:srgbClr val="8BA5BE"/>
                </a:solidFill>
                <a:latin typeface="Calibri"/>
              </a:rPr>
              <a:t>      ◦  You must facilitate these requests</a:t>
            </a:r>
          </a:p>
          <a:p>
            <a:r>
              <a:rPr sz="600">
                <a:latin typeface="Calibri"/>
              </a:rPr>
              <a:t/>
            </a:r>
          </a:p>
          <a:p>
            <a:r>
              <a:rPr sz="1050">
                <a:solidFill>
                  <a:srgbClr val="F0F4F8"/>
                </a:solidFill>
                <a:latin typeface="Calibri"/>
              </a:rPr>
              <a:t>Minimisation    Collect only what you need for the stated purpose</a:t>
            </a:r>
          </a:p>
          <a:p>
            <a:r>
              <a:rPr sz="600">
                <a:latin typeface="Calibri"/>
              </a:rPr>
              <a:t/>
            </a:r>
          </a:p>
          <a:p>
            <a:r>
              <a:rPr sz="1050">
                <a:solidFill>
                  <a:srgbClr val="F0F4F8"/>
                </a:solidFill>
                <a:latin typeface="Calibri"/>
              </a:rPr>
              <a:t>Security        Encrypt personal data. No customer files on WhatsApp.</a:t>
            </a:r>
          </a:p>
          <a:p>
            <a:r>
              <a:rPr sz="600">
                <a:latin typeface="Calibri"/>
              </a:rPr>
              <a:t/>
            </a:r>
          </a:p>
          <a:p>
            <a:r>
              <a:rPr sz="1050">
                <a:solidFill>
                  <a:srgbClr val="F0F4F8"/>
                </a:solidFill>
                <a:latin typeface="Calibri"/>
              </a:rPr>
              <a:t>Breach           Report to NDPC within 72 hours</a:t>
            </a:r>
          </a:p>
          <a:p>
            <a:r>
              <a:rPr sz="600">
                <a:latin typeface="Calibri"/>
              </a:rPr>
              <a:t/>
            </a:r>
          </a:p>
          <a:p>
            <a:r>
              <a:rPr sz="1050">
                <a:solidFill>
                  <a:srgbClr val="F0F4F8"/>
                </a:solidFill>
                <a:latin typeface="Calibri"/>
              </a:rPr>
              <a:t>PENALTY: ₦10M or 2% of annual revenue — whichever is higher</a:t>
            </a:r>
          </a:p>
          <a:p>
            <a:r>
              <a:rPr sz="600">
                <a:latin typeface="Calibri"/>
              </a:rPr>
              <a:t/>
            </a:r>
          </a:p>
          <a:p>
            <a:r>
              <a:rPr sz="1050">
                <a:solidFill>
                  <a:srgbClr val="F0F4F8"/>
                </a:solidFill>
                <a:latin typeface="Calibri"/>
              </a:rPr>
              <a:t>This is not optional. This is professional responsibility.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3</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00C2D4"/>
                </a:solidFill>
                <a:latin typeface="Calibri"/>
              </a:rPr>
              <a:t>MOD 3</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3 OPENER: DATA CLEANING &amp; QUALITY</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00C2D4"/>
                </a:solidFill>
                <a:latin typeface="Calibri"/>
              </a:rPr>
              <a:t>LEVEL: BEGINNER</a:t>
            </a:r>
          </a:p>
          <a:p>
            <a:r>
              <a:rPr sz="1300" b="1">
                <a:solidFill>
                  <a:srgbClr val="00C2D4"/>
                </a:solidFill>
                <a:latin typeface="Calibri"/>
              </a:rPr>
              <a:t>MODULE 03</a:t>
            </a:r>
          </a:p>
          <a:p>
            <a:r>
              <a:rPr sz="1300" b="1">
                <a:solidFill>
                  <a:srgbClr val="00C2D4"/>
                </a:solidFill>
                <a:latin typeface="Calibri"/>
              </a:rPr>
              <a:t>DATA CLEANING</a:t>
            </a:r>
          </a:p>
          <a:p>
            <a:r>
              <a:rPr sz="1100">
                <a:solidFill>
                  <a:srgbClr val="F0F4F8"/>
                </a:solidFill>
                <a:latin typeface="Calibri"/>
              </a:rPr>
              <a:t>&amp; QUALITY</a:t>
            </a:r>
          </a:p>
          <a:p>
            <a:r>
              <a:rPr sz="1100">
                <a:solidFill>
                  <a:srgbClr val="F0F4F8"/>
                </a:solidFill>
                <a:latin typeface="Calibri"/>
              </a:rPr>
              <a:t>"80% of a data analyst's time is cleaning data.</a:t>
            </a:r>
          </a:p>
          <a:p>
            <a:r>
              <a:rPr sz="1100">
                <a:solidFill>
                  <a:srgbClr val="F0F4F8"/>
                </a:solidFill>
                <a:latin typeface="Calibri"/>
              </a:rPr>
              <a:t>The other 20% is complaining about it."</a:t>
            </a:r>
          </a:p>
          <a:p>
            <a:r>
              <a:rPr sz="1100">
                <a:solidFill>
                  <a:srgbClr val="F0F4F8"/>
                </a:solidFill>
                <a:latin typeface="Calibri"/>
              </a:rPr>
              <a:t>— Every data analyst ever</a:t>
            </a:r>
          </a:p>
          <a:p>
            <a:r>
              <a:rPr sz="1100">
                <a:solidFill>
                  <a:srgbClr val="F0F4F8"/>
                </a:solidFill>
                <a:latin typeface="Calibri"/>
              </a:rPr>
              <a:t>Diagnosing quality · Missing data types</a:t>
            </a:r>
          </a:p>
          <a:p>
            <a:r>
              <a:rPr sz="1100">
                <a:solidFill>
                  <a:srgbClr val="F0F4F8"/>
                </a:solidFill>
                <a:latin typeface="Calibri"/>
              </a:rPr>
              <a:t>Cleaning techniques · Validation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3</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DATA CLEANING &amp; QUALITY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Seven hexagons arranged in a honeycomb pattern, each labelled with one quality dimension and coloured on a spectrum from</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DATA QUALITY DIMENSIONS: FACT+CVR</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7 DIMENSIONS OF DATA QUALITY</a:t>
            </a:r>
          </a:p>
          <a:p>
            <a:r>
              <a:rPr sz="600">
                <a:latin typeface="Calibri"/>
              </a:rPr>
              <a:t/>
            </a:r>
          </a:p>
          <a:p>
            <a:r>
              <a:rPr sz="1050">
                <a:solidFill>
                  <a:srgbClr val="F0F4F8"/>
                </a:solidFill>
                <a:latin typeface="Calibri"/>
              </a:rPr>
              <a:t>F  FRESHNESS       Is the data current? Pre-COVID data ≠ 2024 reality</a:t>
            </a:r>
          </a:p>
          <a:p>
            <a:r>
              <a:rPr sz="600">
                <a:latin typeface="Calibri"/>
              </a:rPr>
              <a:t/>
            </a:r>
          </a:p>
          <a:p>
            <a:r>
              <a:rPr sz="1050">
                <a:solidFill>
                  <a:srgbClr val="F0F4F8"/>
                </a:solidFill>
                <a:latin typeface="Calibri"/>
              </a:rPr>
              <a:t>A  ACCURACY        Are values correct? Age=150 is inaccurate.</a:t>
            </a:r>
          </a:p>
          <a:p>
            <a:r>
              <a:rPr sz="600">
                <a:latin typeface="Calibri"/>
              </a:rPr>
              <a:t/>
            </a:r>
          </a:p>
          <a:p>
            <a:r>
              <a:rPr sz="1050">
                <a:solidFill>
                  <a:srgbClr val="F0F4F8"/>
                </a:solidFill>
                <a:latin typeface="Calibri"/>
              </a:rPr>
              <a:t>C  COMPLETENESS    Are required fields populated? Missing ≠ zero.</a:t>
            </a:r>
          </a:p>
          <a:p>
            <a:r>
              <a:rPr sz="600">
                <a:latin typeface="Calibri"/>
              </a:rPr>
              <a:t/>
            </a:r>
          </a:p>
          <a:p>
            <a:r>
              <a:rPr sz="1050">
                <a:solidFill>
                  <a:srgbClr val="F0F4F8"/>
                </a:solidFill>
                <a:latin typeface="Calibri"/>
              </a:rPr>
              <a:t>T  TIMELINESS      Did data arrive when needed?</a:t>
            </a:r>
          </a:p>
          <a:p>
            <a:r>
              <a:rPr sz="600">
                <a:latin typeface="Calibri"/>
              </a:rPr>
              <a:t/>
            </a:r>
          </a:p>
          <a:p>
            <a:r>
              <a:rPr sz="1050">
                <a:solidFill>
                  <a:srgbClr val="F0F4F8"/>
                </a:solidFill>
                <a:latin typeface="Calibri"/>
              </a:rPr>
              <a:t>C  CONSISTENCY     Same fact, same format across all systems?</a:t>
            </a:r>
          </a:p>
          <a:p>
            <a:r>
              <a:rPr sz="1000">
                <a:solidFill>
                  <a:srgbClr val="8BA5BE"/>
                </a:solidFill>
                <a:latin typeface="Calibri"/>
              </a:rPr>
              <a:t>      ◦  'Lagos' vs 'LG' vs 'Lagos State' = inconsistent</a:t>
            </a:r>
          </a:p>
          <a:p>
            <a:r>
              <a:rPr sz="600">
                <a:latin typeface="Calibri"/>
              </a:rPr>
              <a:t/>
            </a:r>
          </a:p>
          <a:p>
            <a:r>
              <a:rPr sz="1050">
                <a:solidFill>
                  <a:srgbClr val="F0F4F8"/>
                </a:solidFill>
                <a:latin typeface="Calibri"/>
              </a:rPr>
              <a:t>V  VALIDITY        Does data conform to rules? No negative salaries.</a:t>
            </a:r>
          </a:p>
          <a:p>
            <a:r>
              <a:rPr sz="600">
                <a:latin typeface="Calibri"/>
              </a:rPr>
              <a:t/>
            </a:r>
          </a:p>
          <a:p>
            <a:r>
              <a:rPr sz="1050">
                <a:solidFill>
                  <a:srgbClr val="F0F4F8"/>
                </a:solidFill>
                <a:latin typeface="Calibri"/>
              </a:rPr>
              <a:t>R  RELIABILITY     Is the collection process trustworthy &amp; repeatable?</a:t>
            </a:r>
          </a:p>
          <a:p>
            <a:r>
              <a:rPr sz="600">
                <a:latin typeface="Calibri"/>
              </a:rPr>
              <a:t/>
            </a:r>
          </a:p>
          <a:p>
            <a:r>
              <a:rPr sz="1050">
                <a:solidFill>
                  <a:srgbClr val="F0F4F8"/>
                </a:solidFill>
                <a:latin typeface="Calibri"/>
              </a:rPr>
              <a:t>Diagnose first. Then clean.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3</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DATA CLEANING &amp; QUALITY</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Three side-by-side columns with icons representing each type</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THREE TYPES OF MISSING DATA</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MISSING DATA — THREE TYPES, THREE SOLUTIONS</a:t>
            </a:r>
          </a:p>
          <a:p>
            <a:r>
              <a:rPr sz="600">
                <a:latin typeface="Calibri"/>
              </a:rPr>
              <a:t/>
            </a:r>
          </a:p>
          <a:p>
            <a:r>
              <a:rPr sz="1200" b="1">
                <a:solidFill>
                  <a:srgbClr val="00C2D4"/>
                </a:solidFill>
                <a:latin typeface="Calibri"/>
              </a:rPr>
              <a:t>MCAR                    MAR                     MNAR</a:t>
            </a:r>
          </a:p>
          <a:p>
            <a:r>
              <a:rPr sz="1050">
                <a:solidFill>
                  <a:srgbClr val="F0F4F8"/>
                </a:solidFill>
                <a:latin typeface="Calibri"/>
              </a:rPr>
              <a:t>Missing Completely      Missing At Random       Missing Not At Random</a:t>
            </a:r>
          </a:p>
          <a:p>
            <a:r>
              <a:rPr sz="1050">
                <a:solidFill>
                  <a:srgbClr val="F0F4F8"/>
                </a:solidFill>
                <a:latin typeface="Calibri"/>
              </a:rPr>
              <a:t>At Random               (conditioned on         (conditioned on the</a:t>
            </a:r>
          </a:p>
          <a:p>
            <a:r>
              <a:rPr sz="1000">
                <a:solidFill>
                  <a:srgbClr val="8BA5BE"/>
                </a:solidFill>
                <a:latin typeface="Calibri"/>
              </a:rPr>
              <a:t>      ◦  observed variables)     missing value itself)</a:t>
            </a:r>
          </a:p>
          <a:p>
            <a:r>
              <a:rPr sz="600">
                <a:latin typeface="Calibri"/>
              </a:rPr>
              <a:t/>
            </a:r>
          </a:p>
          <a:p>
            <a:r>
              <a:rPr sz="1050">
                <a:solidFill>
                  <a:srgbClr val="F0F4F8"/>
                </a:solidFill>
                <a:latin typeface="Calibri"/>
              </a:rPr>
              <a:t>"Random server error    "Older customers        "High earners refuse</a:t>
            </a:r>
          </a:p>
          <a:p>
            <a:r>
              <a:rPr sz="1050">
                <a:solidFill>
                  <a:srgbClr val="F0F4F8"/>
                </a:solidFill>
                <a:latin typeface="Calibri"/>
              </a:rPr>
              <a:t>skipped some fields"   don't report income"    to report income"</a:t>
            </a:r>
          </a:p>
          <a:p>
            <a:r>
              <a:rPr sz="600">
                <a:latin typeface="Calibri"/>
              </a:rPr>
              <a:t/>
            </a:r>
          </a:p>
          <a:p>
            <a:r>
              <a:rPr sz="1050">
                <a:solidFill>
                  <a:srgbClr val="F0F4F8"/>
                </a:solidFill>
                <a:latin typeface="Calibri"/>
              </a:rPr>
              <a:t>Pattern: None           Pattern: Related to     Pattern: Related to</a:t>
            </a:r>
          </a:p>
          <a:p>
            <a:r>
              <a:rPr sz="1000">
                <a:solidFill>
                  <a:srgbClr val="8BA5BE"/>
                </a:solidFill>
                <a:latin typeface="Calibri"/>
              </a:rPr>
              <a:t>      ◦  other columns (Age)     missing value itself</a:t>
            </a:r>
          </a:p>
          <a:p>
            <a:r>
              <a:rPr sz="600">
                <a:latin typeface="Calibri"/>
              </a:rPr>
              <a:t/>
            </a:r>
          </a:p>
          <a:p>
            <a:r>
              <a:rPr sz="1050">
                <a:solidFill>
                  <a:srgbClr val="F0F4F8"/>
                </a:solidFill>
                <a:latin typeface="Calibri"/>
              </a:rPr>
              <a:t>Solution: Safe to       Solution: Use other     Solution: Acknowledge</a:t>
            </a:r>
          </a:p>
          <a:p>
            <a:r>
              <a:rPr sz="1050">
                <a:solidFill>
                  <a:srgbClr val="F0F4F8"/>
                </a:solidFill>
                <a:latin typeface="Calibri"/>
              </a:rPr>
              <a:t>delete or impute        variables to impute     limitation. No clean fix.</a:t>
            </a:r>
          </a:p>
          <a:p>
            <a:r>
              <a:rPr sz="1050">
                <a:solidFill>
                  <a:srgbClr val="F0F4F8"/>
                </a:solidFill>
                <a:latin typeface="Calibri"/>
              </a:rPr>
              <a:t>with mean/median</a:t>
            </a:r>
          </a:p>
          <a:p>
            <a:r>
              <a:rPr sz="600">
                <a:latin typeface="Calibri"/>
              </a:rPr>
              <a:t/>
            </a:r>
          </a:p>
          <a:p>
            <a:r>
              <a:rPr sz="1000">
                <a:solidFill>
                  <a:srgbClr val="FF8080"/>
                </a:solidFill>
                <a:latin typeface="Calibri"/>
              </a:rPr>
              <a:t>⚠ Replacing missing numbers with zero is ALWAYS wrong unless zero is actually the correct value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4</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00C2D4"/>
                </a:solidFill>
                <a:latin typeface="Calibri"/>
              </a:rPr>
              <a:t>MOD 4</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4 OPENER: EXCEL FUNDAMENTALS</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00C2D4"/>
                </a:solidFill>
                <a:latin typeface="Calibri"/>
              </a:rPr>
              <a:t>LEVEL: INTERMEDIATE</a:t>
            </a:r>
          </a:p>
          <a:p>
            <a:r>
              <a:rPr sz="1300" b="1">
                <a:solidFill>
                  <a:srgbClr val="00C2D4"/>
                </a:solidFill>
                <a:latin typeface="Calibri"/>
              </a:rPr>
              <a:t>MODULE 04</a:t>
            </a:r>
          </a:p>
          <a:p>
            <a:r>
              <a:rPr sz="1300" b="1">
                <a:solidFill>
                  <a:srgbClr val="00C2D4"/>
                </a:solidFill>
                <a:latin typeface="Calibri"/>
              </a:rPr>
              <a:t>EXCEL FUNDAMENTALS</a:t>
            </a:r>
          </a:p>
          <a:p>
            <a:r>
              <a:rPr sz="1100">
                <a:solidFill>
                  <a:srgbClr val="F0F4F8"/>
                </a:solidFill>
                <a:latin typeface="Calibri"/>
              </a:rPr>
              <a:t>"Most people are at Level 2.</a:t>
            </a:r>
          </a:p>
          <a:p>
            <a:r>
              <a:rPr sz="1100">
                <a:solidFill>
                  <a:srgbClr val="F0F4F8"/>
                </a:solidFill>
                <a:latin typeface="Calibri"/>
              </a:rPr>
              <a:t>After today, you're at Level 4.</a:t>
            </a:r>
          </a:p>
          <a:p>
            <a:r>
              <a:rPr sz="1100">
                <a:solidFill>
                  <a:srgbClr val="F0F4F8"/>
                </a:solidFill>
                <a:latin typeface="Calibri"/>
              </a:rPr>
              <a:t>Professionals work at Level 6.</a:t>
            </a:r>
          </a:p>
          <a:p>
            <a:r>
              <a:rPr sz="1100">
                <a:solidFill>
                  <a:srgbClr val="F0F4F8"/>
                </a:solidFill>
                <a:latin typeface="Calibri"/>
              </a:rPr>
              <a:t>This course gets you to Level 6."</a:t>
            </a:r>
          </a:p>
          <a:p>
            <a:r>
              <a:rPr sz="1100">
                <a:solidFill>
                  <a:srgbClr val="F0F4F8"/>
                </a:solidFill>
                <a:latin typeface="Calibri"/>
              </a:rPr>
              <a:t>Logical · Text · Date · Math · Statistical · Financial functions</a:t>
            </a:r>
          </a:p>
          <a:p>
            <a:r>
              <a:rPr sz="1100">
                <a:solidFill>
                  <a:srgbClr val="F0F4F8"/>
                </a:solidFill>
                <a:latin typeface="Calibri"/>
              </a:rPr>
              <a:t>Lookup functions (VLOOKUP · INDEX-MATCH · XLOOKUP)</a:t>
            </a:r>
          </a:p>
          <a:p>
            <a:r>
              <a:rPr sz="1100">
                <a:solidFill>
                  <a:srgbClr val="F0F4F8"/>
                </a:solidFill>
                <a:latin typeface="Calibri"/>
              </a:rPr>
              <a:t>Pivot Tables · Professional chart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4</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EXCEL FUNDAMENTALS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Three-column comparison table with colour coding</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THREE LOOKUP FUNCTIONS</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THREE WAYS TO LOOK UP DATA</a:t>
            </a:r>
          </a:p>
          <a:p>
            <a:r>
              <a:rPr sz="600">
                <a:latin typeface="Calibri"/>
              </a:rPr>
              <a:t/>
            </a:r>
          </a:p>
          <a:p>
            <a:r>
              <a:rPr sz="1200" b="1">
                <a:solidFill>
                  <a:srgbClr val="00C2D4"/>
                </a:solidFill>
                <a:latin typeface="Calibri"/>
              </a:rPr>
              <a:t>VLOOKUP      INDEX-MATCH    XLOOKUP</a:t>
            </a:r>
          </a:p>
          <a:p>
            <a:r>
              <a:rPr sz="1000">
                <a:solidFill>
                  <a:srgbClr val="8BA5BE"/>
                </a:solidFill>
                <a:latin typeface="Calibri"/>
              </a:rPr>
              <a:t>      ◦  (Excel 365)</a:t>
            </a:r>
          </a:p>
          <a:p>
            <a:r>
              <a:rPr sz="1050">
                <a:solidFill>
                  <a:srgbClr val="F0F4F8"/>
                </a:solidFill>
                <a:latin typeface="Calibri"/>
              </a:rPr>
              <a:t>━━━━━━━━━━━━━━━━━━━━━━━━━━━━━━━━━━━━━━━━━━━━━━━━━━━</a:t>
            </a:r>
          </a:p>
          <a:p>
            <a:r>
              <a:rPr sz="1050">
                <a:solidFill>
                  <a:srgbClr val="F0F4F8"/>
                </a:solidFill>
                <a:latin typeface="Calibri"/>
              </a:rPr>
              <a:t>Syntax           Simple       Moderate       Simplest</a:t>
            </a:r>
          </a:p>
          <a:p>
            <a:r>
              <a:rPr sz="1050">
                <a:solidFill>
                  <a:srgbClr val="F0F4F8"/>
                </a:solidFill>
                <a:latin typeface="Calibri"/>
              </a:rPr>
              <a:t>Lookup Left      ✗ No        ✓ Yes          ✓ Yes</a:t>
            </a:r>
          </a:p>
          <a:p>
            <a:r>
              <a:rPr sz="1050">
                <a:solidFill>
                  <a:srgbClr val="F0F4F8"/>
                </a:solidFill>
                <a:latin typeface="Calibri"/>
              </a:rPr>
              <a:t>Column Add-safe  ✗ No        ✓ Yes          ✓ Yes</a:t>
            </a:r>
          </a:p>
          <a:p>
            <a:r>
              <a:rPr sz="1050">
                <a:solidFill>
                  <a:srgbClr val="F0F4F8"/>
                </a:solidFill>
                <a:latin typeface="Calibri"/>
              </a:rPr>
              <a:t>Built-in errors  ✗ No        ✗ No           ✓ Yes</a:t>
            </a:r>
          </a:p>
          <a:p>
            <a:r>
              <a:rPr sz="1050">
                <a:solidFill>
                  <a:srgbClr val="F0F4F8"/>
                </a:solidFill>
                <a:latin typeface="Calibri"/>
              </a:rPr>
              <a:t>Multi-column     ✗ No        Possible       ✓ Yes</a:t>
            </a:r>
          </a:p>
          <a:p>
            <a:r>
              <a:rPr sz="600">
                <a:latin typeface="Calibri"/>
              </a:rPr>
              <a:t/>
            </a:r>
          </a:p>
          <a:p>
            <a:r>
              <a:rPr sz="950">
                <a:solidFill>
                  <a:srgbClr val="4ADE80"/>
                </a:solidFill>
                <a:latin typeface="Courier New"/>
              </a:rPr>
              <a:t>=VLOOKUP(A2,$E$2:$G$100,2,FALSE)</a:t>
            </a:r>
          </a:p>
          <a:p>
            <a:r>
              <a:rPr sz="950">
                <a:solidFill>
                  <a:srgbClr val="4ADE80"/>
                </a:solidFill>
                <a:latin typeface="Courier New"/>
              </a:rPr>
              <a:t>=INDEX($G$2:$G$100,MATCH(A2,$E$2:$E$100,0))</a:t>
            </a:r>
          </a:p>
          <a:p>
            <a:r>
              <a:rPr sz="950">
                <a:solidFill>
                  <a:srgbClr val="4ADE80"/>
                </a:solidFill>
                <a:latin typeface="Courier New"/>
              </a:rPr>
              <a:t>=XLOOKUP(A2,$E$2:$E$100,$G$2:$G$100,"Not found")</a:t>
            </a:r>
          </a:p>
          <a:p>
            <a:r>
              <a:rPr sz="600">
                <a:latin typeface="Calibri"/>
              </a:rPr>
              <a:t/>
            </a:r>
          </a:p>
          <a:p>
            <a:r>
              <a:rPr sz="1050">
                <a:solidFill>
                  <a:srgbClr val="F0F4F8"/>
                </a:solidFill>
                <a:latin typeface="Calibri"/>
              </a:rPr>
              <a:t>RULE: Learn VLOOKUP. Master INDEX-MATCH. Use XLOOKUP when available.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4</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EXCEL FUNDAMENTALS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Left side: a sample data table (500+ rows implied)</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PIVOT TABLES: QUESTIONS TO ANSWERS IN SECONDS</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PIVOT TABLES — INSTANT INSIGHT</a:t>
            </a:r>
          </a:p>
          <a:p>
            <a:r>
              <a:rPr sz="600">
                <a:latin typeface="Calibri"/>
              </a:rPr>
              <a:t/>
            </a:r>
          </a:p>
          <a:p>
            <a:r>
              <a:rPr sz="1200" b="1">
                <a:solidFill>
                  <a:srgbClr val="00C2D4"/>
                </a:solidFill>
                <a:latin typeface="Calibri"/>
              </a:rPr>
              <a:t>FROM THIS DATA:                 TO THIS ANSWER:</a:t>
            </a:r>
          </a:p>
          <a:p>
            <a:r>
              <a:rPr sz="1050">
                <a:solidFill>
                  <a:srgbClr val="F0F4F8"/>
                </a:solidFill>
                <a:latin typeface="Calibri"/>
              </a:rPr>
              <a:t>Date | Product | Region         Total Revenue by Region</a:t>
            </a:r>
          </a:p>
          <a:p>
            <a:r>
              <a:rPr sz="1000">
                <a:solidFill>
                  <a:srgbClr val="8BA5BE"/>
                </a:solidFill>
                <a:latin typeface="Calibri"/>
              </a:rPr>
              <a:t>      ◦  | Salesperson | Revenue</a:t>
            </a:r>
          </a:p>
          <a:p>
            <a:r>
              <a:rPr sz="1000">
                <a:solidFill>
                  <a:srgbClr val="8BA5BE"/>
                </a:solidFill>
                <a:latin typeface="Calibri"/>
              </a:rPr>
              <a:t>      ◦  | Quantity</a:t>
            </a:r>
          </a:p>
          <a:p>
            <a:r>
              <a:rPr sz="1000">
                <a:solidFill>
                  <a:srgbClr val="8BA5BE"/>
                </a:solidFill>
                <a:latin typeface="Calibri"/>
              </a:rPr>
              <a:t>      ◦  ──────────────────────</a:t>
            </a:r>
          </a:p>
          <a:p>
            <a:r>
              <a:rPr sz="1000">
                <a:solidFill>
                  <a:srgbClr val="8BA5BE"/>
                </a:solidFill>
                <a:latin typeface="Calibri"/>
              </a:rPr>
              <a:t>      ◦  Lagos      ₦14.2M  ████████</a:t>
            </a:r>
          </a:p>
          <a:p>
            <a:r>
              <a:rPr sz="1000">
                <a:solidFill>
                  <a:srgbClr val="8BA5BE"/>
                </a:solidFill>
                <a:latin typeface="Calibri"/>
              </a:rPr>
              <a:t>      ◦  Abuja      ₦8.7M   ██████</a:t>
            </a:r>
          </a:p>
          <a:p>
            <a:r>
              <a:rPr sz="1000">
                <a:solidFill>
                  <a:srgbClr val="8BA5BE"/>
                </a:solidFill>
                <a:latin typeface="Calibri"/>
              </a:rPr>
              <a:t>      ◦  Kano       ₦5.1M   ████</a:t>
            </a:r>
          </a:p>
          <a:p>
            <a:r>
              <a:rPr sz="1000">
                <a:solidFill>
                  <a:srgbClr val="8BA5BE"/>
                </a:solidFill>
                <a:latin typeface="Calibri"/>
              </a:rPr>
              <a:t>      ◦  Others     ₦4.9M   ███</a:t>
            </a:r>
          </a:p>
          <a:p>
            <a:r>
              <a:rPr sz="600">
                <a:latin typeface="Calibri"/>
              </a:rPr>
              <a:t/>
            </a:r>
          </a:p>
          <a:p>
            <a:r>
              <a:rPr sz="1050">
                <a:solidFill>
                  <a:srgbClr val="F0F4F8"/>
                </a:solidFill>
                <a:latin typeface="Calibri"/>
              </a:rPr>
              <a:t>No formulas. No code.</a:t>
            </a:r>
          </a:p>
          <a:p>
            <a:r>
              <a:rPr sz="1050">
                <a:solidFill>
                  <a:srgbClr val="F0F4F8"/>
                </a:solidFill>
                <a:latin typeface="Calibri"/>
              </a:rPr>
              <a:t>Click, drag, done.</a:t>
            </a:r>
          </a:p>
          <a:p>
            <a:r>
              <a:rPr sz="600">
                <a:latin typeface="Calibri"/>
              </a:rPr>
              <a:t/>
            </a:r>
          </a:p>
          <a:p>
            <a:r>
              <a:rPr sz="1050">
                <a:solidFill>
                  <a:srgbClr val="F0F4F8"/>
                </a:solidFill>
                <a:latin typeface="Calibri"/>
              </a:rPr>
              <a:t>Then: Monthly trend · Product breakdown · Salesperson ranking</a:t>
            </a:r>
          </a:p>
          <a:p>
            <a:r>
              <a:rPr sz="1050">
                <a:solidFill>
                  <a:srgbClr val="F0F4F8"/>
                </a:solidFill>
                <a:latin typeface="Calibri"/>
              </a:rPr>
              <a:t>All from the same pivot table. Just drag different fields.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4</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EXCEL FUNDAMENTALS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Dark card with electric blue headers</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EXCEL FORMULA REFERENCE: MATH &amp; COUNTING</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00C2D4"/>
                </a:solidFill>
                <a:latin typeface="Calibri"/>
              </a:rPr>
              <a:t>AGGREGATION</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=SUM(range)                    → Total =SUMIF(range, criteria, sum)   → Total where one condition is met =SUMIFS(sum, r1, c1, r2, c2)  → Total where multiple conditions are met</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COUNTING</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=COUNT(range)                  → Count cells containing numbers =COUNTA(range)                 → Count non-empty cells (any type) =COUNTBLANK(range)             → Count empty cells</a:t>
            </a:r>
          </a:p>
        </p:txBody>
      </p:sp>
      <p:sp>
        <p:nvSpPr>
          <p:cNvPr id="21" name="Rectangle 20"/>
          <p:cNvSpPr/>
          <p:nvPr/>
        </p:nvSpPr>
        <p:spPr>
          <a:xfrm>
            <a:off x="462686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26864" y="3090672"/>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36592" y="3182112"/>
            <a:ext cx="3465576" cy="365760"/>
          </a:xfrm>
          <a:prstGeom prst="rect">
            <a:avLst/>
          </a:prstGeom>
          <a:noFill/>
        </p:spPr>
        <p:txBody>
          <a:bodyPr wrap="square">
            <a:spAutoFit/>
          </a:bodyPr>
          <a:lstStyle/>
          <a:p>
            <a:pPr algn="l"/>
            <a:r>
              <a:rPr sz="1100" b="1" i="0">
                <a:solidFill>
                  <a:srgbClr val="00B894"/>
                </a:solidFill>
                <a:latin typeface="Calibri"/>
              </a:rPr>
              <a:t>ROUNDING &amp; MATH</a:t>
            </a:r>
          </a:p>
        </p:txBody>
      </p:sp>
      <p:sp>
        <p:nvSpPr>
          <p:cNvPr id="24" name="TextBox 23"/>
          <p:cNvSpPr txBox="1"/>
          <p:nvPr/>
        </p:nvSpPr>
        <p:spPr>
          <a:xfrm>
            <a:off x="4736592" y="3547872"/>
            <a:ext cx="3465576" cy="1207008"/>
          </a:xfrm>
          <a:prstGeom prst="rect">
            <a:avLst/>
          </a:prstGeom>
          <a:noFill/>
        </p:spPr>
        <p:txBody>
          <a:bodyPr wrap="square">
            <a:spAutoFit/>
          </a:bodyPr>
          <a:lstStyle/>
          <a:p>
            <a:pPr algn="l"/>
            <a:r>
              <a:rPr sz="950" b="0" i="0">
                <a:solidFill>
                  <a:srgbClr val="F0F4F8"/>
                </a:solidFill>
                <a:latin typeface="Calibri"/>
              </a:rPr>
              <a:t>=ROUND(number, digits)         → Round to N decimal places =ROUNDUP(number, digits)       → Always round up =ROUNDDOWN(number, digits)     → Always round down</a:t>
            </a:r>
          </a:p>
        </p:txBody>
      </p:sp>
      <p:sp>
        <p:nvSpPr>
          <p:cNvPr id="25" name="Rectangle 24"/>
          <p:cNvSpPr/>
          <p:nvPr/>
        </p:nvSpPr>
        <p:spPr>
          <a:xfrm>
            <a:off x="842162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21624" y="3090672"/>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1352" y="3182112"/>
            <a:ext cx="3465576" cy="365760"/>
          </a:xfrm>
          <a:prstGeom prst="rect">
            <a:avLst/>
          </a:prstGeom>
          <a:noFill/>
        </p:spPr>
        <p:txBody>
          <a:bodyPr wrap="square">
            <a:spAutoFit/>
          </a:bodyPr>
          <a:lstStyle/>
          <a:p>
            <a:pPr algn="l"/>
            <a:r>
              <a:rPr sz="1100" b="1" i="0">
                <a:solidFill>
                  <a:srgbClr val="F5A623"/>
                </a:solidFill>
                <a:latin typeface="Calibri"/>
              </a:rPr>
              <a:t>AVERAGES</a:t>
            </a:r>
          </a:p>
        </p:txBody>
      </p:sp>
      <p:sp>
        <p:nvSpPr>
          <p:cNvPr id="28" name="TextBox 27"/>
          <p:cNvSpPr txBox="1"/>
          <p:nvPr/>
        </p:nvSpPr>
        <p:spPr>
          <a:xfrm>
            <a:off x="8531352" y="3547872"/>
            <a:ext cx="3465576" cy="1207008"/>
          </a:xfrm>
          <a:prstGeom prst="rect">
            <a:avLst/>
          </a:prstGeom>
          <a:noFill/>
        </p:spPr>
        <p:txBody>
          <a:bodyPr wrap="square">
            <a:spAutoFit/>
          </a:bodyPr>
          <a:lstStyle/>
          <a:p>
            <a:pPr algn="l"/>
            <a:r>
              <a:rPr sz="950" b="0" i="0">
                <a:solidFill>
                  <a:srgbClr val="F0F4F8"/>
                </a:solidFill>
                <a:latin typeface="Calibri"/>
              </a:rPr>
              <a:t>=AVERAGEIF(range,criteria,avg) → Average where condition is met =AVERAGEIFS(avg,r1,c1,r2,c2)  → Average with multiple conditions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4</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EXCEL FUNDAMENTALS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Two-panel card</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EXCEL FORMULA REFERENCE: TEXT &amp; DATE</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00C2D4"/>
                </a:solidFill>
                <a:latin typeface="Calibri"/>
              </a:rPr>
              <a:t>TEXT FUNCTIONS                          DATE FUNCTIONS</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      ──────────────────────────────────</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CLEANING                                GETTING DATES</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=TRIM(text)    Remove extra spaces      =TODAY()        Today's date =CLEAN(text)   Remove non-printables    =NOW()          Date + current time =UPPER(text)   ALL CAPS</a:t>
            </a:r>
          </a:p>
        </p:txBody>
      </p:sp>
      <p:sp>
        <p:nvSpPr>
          <p:cNvPr id="21" name="Rectangle 20"/>
          <p:cNvSpPr/>
          <p:nvPr/>
        </p:nvSpPr>
        <p:spPr>
          <a:xfrm>
            <a:off x="462686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26864" y="3090672"/>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36592" y="3182112"/>
            <a:ext cx="3465576" cy="365760"/>
          </a:xfrm>
          <a:prstGeom prst="rect">
            <a:avLst/>
          </a:prstGeom>
          <a:noFill/>
        </p:spPr>
        <p:txBody>
          <a:bodyPr wrap="square">
            <a:spAutoFit/>
          </a:bodyPr>
          <a:lstStyle/>
          <a:p>
            <a:pPr algn="l"/>
            <a:r>
              <a:rPr sz="1100" b="1" i="0">
                <a:solidFill>
                  <a:srgbClr val="00B894"/>
                </a:solidFill>
                <a:latin typeface="Calibri"/>
              </a:rPr>
              <a:t>COMBINING</a:t>
            </a:r>
          </a:p>
        </p:txBody>
      </p:sp>
      <p:sp>
        <p:nvSpPr>
          <p:cNvPr id="24" name="TextBox 23"/>
          <p:cNvSpPr txBox="1"/>
          <p:nvPr/>
        </p:nvSpPr>
        <p:spPr>
          <a:xfrm>
            <a:off x="4736592" y="3547872"/>
            <a:ext cx="3465576" cy="1207008"/>
          </a:xfrm>
          <a:prstGeom prst="rect">
            <a:avLst/>
          </a:prstGeom>
          <a:noFill/>
        </p:spPr>
        <p:txBody>
          <a:bodyPr wrap="square">
            <a:spAutoFit/>
          </a:bodyPr>
          <a:lstStyle/>
          <a:p>
            <a:pPr algn="l"/>
            <a:r>
              <a:rPr sz="950" b="0" i="0">
                <a:solidFill>
                  <a:srgbClr val="F0F4F8"/>
                </a:solidFill>
                <a:latin typeface="Calibri"/>
              </a:rPr>
              <a:t>=A2&amp;" "&amp;B2     Join with &amp;              DATE NAVIGATION =CONCAT(A:C)   Join a range             =EDATE(date, n)    N months forward =TEXTJOIN(     Join with separator,      =EOMONTH(date,0)  Last day of month</a:t>
            </a:r>
          </a:p>
        </p:txBody>
      </p:sp>
      <p:sp>
        <p:nvSpPr>
          <p:cNvPr id="25" name="Rectangle 24"/>
          <p:cNvSpPr/>
          <p:nvPr/>
        </p:nvSpPr>
        <p:spPr>
          <a:xfrm>
            <a:off x="842162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21624" y="3090672"/>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1352" y="3182112"/>
            <a:ext cx="3465576" cy="365760"/>
          </a:xfrm>
          <a:prstGeom prst="rect">
            <a:avLst/>
          </a:prstGeom>
          <a:noFill/>
        </p:spPr>
        <p:txBody>
          <a:bodyPr wrap="square">
            <a:spAutoFit/>
          </a:bodyPr>
          <a:lstStyle/>
          <a:p>
            <a:pPr algn="l"/>
            <a:r>
              <a:rPr sz="1100" b="1" i="0">
                <a:solidFill>
                  <a:srgbClr val="F5A623"/>
                </a:solidFill>
                <a:latin typeface="Calibri"/>
              </a:rPr>
              <a:t>BUILDING DATES</a:t>
            </a:r>
          </a:p>
        </p:txBody>
      </p:sp>
      <p:sp>
        <p:nvSpPr>
          <p:cNvPr id="28" name="TextBox 27"/>
          <p:cNvSpPr txBox="1"/>
          <p:nvPr/>
        </p:nvSpPr>
        <p:spPr>
          <a:xfrm>
            <a:off x="8531352" y="3547872"/>
            <a:ext cx="3465576" cy="1207008"/>
          </a:xfrm>
          <a:prstGeom prst="rect">
            <a:avLst/>
          </a:prstGeom>
          <a:noFill/>
        </p:spPr>
        <p:txBody>
          <a:bodyPr wrap="square">
            <a:spAutoFit/>
          </a:bodyPr>
          <a:lstStyle/>
          <a:p>
            <a:pPr algn="l"/>
            <a:r>
              <a:rPr sz="950" b="0" i="0">
                <a:solidFill>
                  <a:srgbClr val="F0F4F8"/>
                </a:solidFill>
                <a:latin typeface="Calibri"/>
              </a:rPr>
              <a:t>REPLACING                               =DATE(yr,mo,day)  From components =SUBSTITUTE(   Replace every text,"old",  occurrence of old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4</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EXCEL FUNDAMENTALS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Two-panel card</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EXCEL FORMULA REFERENCE: STATISTICAL &amp; FINANCIAL</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658112"/>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00C2D4"/>
                </a:solidFill>
                <a:latin typeface="Calibri"/>
              </a:rPr>
              <a:t>STATISTICAL FUNCTIONS                   FINANCIAL FUNCTIONS</a:t>
            </a:r>
          </a:p>
        </p:txBody>
      </p:sp>
      <p:sp>
        <p:nvSpPr>
          <p:cNvPr id="16" name="TextBox 15"/>
          <p:cNvSpPr txBox="1"/>
          <p:nvPr/>
        </p:nvSpPr>
        <p:spPr>
          <a:xfrm>
            <a:off x="4736592" y="1664208"/>
            <a:ext cx="3465576" cy="1127760"/>
          </a:xfrm>
          <a:prstGeom prst="rect">
            <a:avLst/>
          </a:prstGeom>
          <a:noFill/>
        </p:spPr>
        <p:txBody>
          <a:bodyPr wrap="square">
            <a:spAutoFit/>
          </a:bodyPr>
          <a:lstStyle/>
          <a:p>
            <a:pPr algn="l"/>
            <a:r>
              <a:rPr sz="950" b="0" i="0">
                <a:solidFill>
                  <a:srgbClr val="F0F4F8"/>
                </a:solidFill>
                <a:latin typeface="Calibri"/>
              </a:rPr>
              <a:t>──────────────────────────────────      ──────────────────────────────────</a:t>
            </a:r>
          </a:p>
        </p:txBody>
      </p:sp>
      <p:sp>
        <p:nvSpPr>
          <p:cNvPr id="17" name="Rectangle 16"/>
          <p:cNvSpPr/>
          <p:nvPr/>
        </p:nvSpPr>
        <p:spPr>
          <a:xfrm>
            <a:off x="8421624" y="1207008"/>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65811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DESCRIPTIVE STATS                       LOAN &amp; PAYMENT</a:t>
            </a:r>
          </a:p>
        </p:txBody>
      </p:sp>
      <p:sp>
        <p:nvSpPr>
          <p:cNvPr id="20" name="TextBox 19"/>
          <p:cNvSpPr txBox="1"/>
          <p:nvPr/>
        </p:nvSpPr>
        <p:spPr>
          <a:xfrm>
            <a:off x="8531352" y="1664208"/>
            <a:ext cx="3465576" cy="1127760"/>
          </a:xfrm>
          <a:prstGeom prst="rect">
            <a:avLst/>
          </a:prstGeom>
          <a:noFill/>
        </p:spPr>
        <p:txBody>
          <a:bodyPr wrap="square">
            <a:spAutoFit/>
          </a:bodyPr>
          <a:lstStyle/>
          <a:p>
            <a:pPr algn="l"/>
            <a:r>
              <a:rPr sz="950" b="0" i="0">
                <a:solidFill>
                  <a:srgbClr val="F0F4F8"/>
                </a:solidFill>
                <a:latin typeface="Calibri"/>
              </a:rPr>
              <a:t>=AVERAGE(range)    Mean                 =PMT(rate,nper,pv) =MEDIAN(range)     Middle value           Monthly payment on a loan =MODE(range)       Most frequent          =PMT(22%/12,36,-5000000)</a:t>
            </a:r>
          </a:p>
        </p:txBody>
      </p:sp>
      <p:sp>
        <p:nvSpPr>
          <p:cNvPr id="21" name="Rectangle 20"/>
          <p:cNvSpPr/>
          <p:nvPr/>
        </p:nvSpPr>
        <p:spPr>
          <a:xfrm>
            <a:off x="4626864" y="3011424"/>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26864" y="3011424"/>
            <a:ext cx="50292" cy="1658112"/>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36592" y="3102864"/>
            <a:ext cx="3465576" cy="365760"/>
          </a:xfrm>
          <a:prstGeom prst="rect">
            <a:avLst/>
          </a:prstGeom>
          <a:noFill/>
        </p:spPr>
        <p:txBody>
          <a:bodyPr wrap="square">
            <a:spAutoFit/>
          </a:bodyPr>
          <a:lstStyle/>
          <a:p>
            <a:pPr algn="l"/>
            <a:r>
              <a:rPr sz="1100" b="1" i="0">
                <a:solidFill>
                  <a:srgbClr val="00B894"/>
                </a:solidFill>
                <a:latin typeface="Calibri"/>
              </a:rPr>
              <a:t>SPREAD                                  FUTURE &amp; PRESENT VALUE</a:t>
            </a:r>
          </a:p>
        </p:txBody>
      </p:sp>
      <p:sp>
        <p:nvSpPr>
          <p:cNvPr id="24" name="TextBox 23"/>
          <p:cNvSpPr txBox="1"/>
          <p:nvPr/>
        </p:nvSpPr>
        <p:spPr>
          <a:xfrm>
            <a:off x="4736592" y="3468624"/>
            <a:ext cx="3465576" cy="1127760"/>
          </a:xfrm>
          <a:prstGeom prst="rect">
            <a:avLst/>
          </a:prstGeom>
          <a:noFill/>
        </p:spPr>
        <p:txBody>
          <a:bodyPr wrap="square">
            <a:spAutoFit/>
          </a:bodyPr>
          <a:lstStyle/>
          <a:p>
            <a:pPr algn="l"/>
            <a:r>
              <a:rPr sz="950" b="0" i="0">
                <a:solidFill>
                  <a:srgbClr val="F0F4F8"/>
                </a:solidFill>
                <a:latin typeface="Calibri"/>
              </a:rPr>
              <a:t>=STDEV(range)      Sample std deviation =FV(rate,nper,pmt) =VAR(range)        Sample variance        What is an investment worth later? =MAX()-MIN()       Simple range         =PV(rate,nper,pmt)</a:t>
            </a:r>
          </a:p>
        </p:txBody>
      </p:sp>
      <p:sp>
        <p:nvSpPr>
          <p:cNvPr id="25" name="Rectangle 24"/>
          <p:cNvSpPr/>
          <p:nvPr/>
        </p:nvSpPr>
        <p:spPr>
          <a:xfrm>
            <a:off x="8421624" y="3011424"/>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21624" y="3011424"/>
            <a:ext cx="50292" cy="165811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1352" y="3102864"/>
            <a:ext cx="3465576" cy="365760"/>
          </a:xfrm>
          <a:prstGeom prst="rect">
            <a:avLst/>
          </a:prstGeom>
          <a:noFill/>
        </p:spPr>
        <p:txBody>
          <a:bodyPr wrap="square">
            <a:spAutoFit/>
          </a:bodyPr>
          <a:lstStyle/>
          <a:p>
            <a:pPr algn="l"/>
            <a:r>
              <a:rPr sz="1100" b="1" i="0">
                <a:solidFill>
                  <a:srgbClr val="F5A623"/>
                </a:solidFill>
                <a:latin typeface="Calibri"/>
              </a:rPr>
              <a:t>PERCENTILES</a:t>
            </a:r>
          </a:p>
        </p:txBody>
      </p:sp>
      <p:sp>
        <p:nvSpPr>
          <p:cNvPr id="28" name="TextBox 27"/>
          <p:cNvSpPr txBox="1"/>
          <p:nvPr/>
        </p:nvSpPr>
        <p:spPr>
          <a:xfrm>
            <a:off x="8531352" y="3468624"/>
            <a:ext cx="3465576" cy="1127760"/>
          </a:xfrm>
          <a:prstGeom prst="rect">
            <a:avLst/>
          </a:prstGeom>
          <a:noFill/>
        </p:spPr>
        <p:txBody>
          <a:bodyPr wrap="square">
            <a:spAutoFit/>
          </a:bodyPr>
          <a:lstStyle/>
          <a:p>
            <a:pPr algn="l"/>
            <a:r>
              <a:rPr sz="950" b="0" i="0">
                <a:solidFill>
                  <a:srgbClr val="F0F4F8"/>
                </a:solidFill>
                <a:latin typeface="Calibri"/>
              </a:rPr>
              <a:t>=PERCENTILE(r,0.9) 90th percentile      INVESTMENT ANALYSIS =QUARTILE(r,1)     Q1 (25th pct)        =NPV(rate,cf1,cf2,...) =QUARTILE(r,3)     Q3 (75th pct)          Net Present Value of cash flows</a:t>
            </a:r>
          </a:p>
        </p:txBody>
      </p:sp>
      <p:sp>
        <p:nvSpPr>
          <p:cNvPr id="29" name="Rectangle 28"/>
          <p:cNvSpPr/>
          <p:nvPr/>
        </p:nvSpPr>
        <p:spPr>
          <a:xfrm>
            <a:off x="4626864" y="4815840"/>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626864" y="4815840"/>
            <a:ext cx="50292" cy="165811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36592" y="4907280"/>
            <a:ext cx="3465576" cy="365760"/>
          </a:xfrm>
          <a:prstGeom prst="rect">
            <a:avLst/>
          </a:prstGeom>
          <a:noFill/>
        </p:spPr>
        <p:txBody>
          <a:bodyPr wrap="square">
            <a:spAutoFit/>
          </a:bodyPr>
          <a:lstStyle/>
          <a:p>
            <a:pPr algn="l"/>
            <a:r>
              <a:rPr sz="1100" b="1" i="0">
                <a:solidFill>
                  <a:srgbClr val="E74C3C"/>
                </a:solidFill>
                <a:latin typeface="Calibri"/>
              </a:rPr>
              <a:t>RANKING                                 EXAMPLE</a:t>
            </a:r>
          </a:p>
        </p:txBody>
      </p:sp>
      <p:sp>
        <p:nvSpPr>
          <p:cNvPr id="32" name="TextBox 31"/>
          <p:cNvSpPr txBox="1"/>
          <p:nvPr/>
        </p:nvSpPr>
        <p:spPr>
          <a:xfrm>
            <a:off x="4736592" y="5273040"/>
            <a:ext cx="3465576" cy="1127760"/>
          </a:xfrm>
          <a:prstGeom prst="rect">
            <a:avLst/>
          </a:prstGeom>
          <a:noFill/>
        </p:spPr>
        <p:txBody>
          <a:bodyPr wrap="square">
            <a:spAutoFit/>
          </a:bodyPr>
          <a:lstStyle/>
          <a:p>
            <a:pPr algn="l"/>
            <a:r>
              <a:rPr sz="950" b="0" i="0">
                <a:solidFill>
                  <a:srgbClr val="F0F4F8"/>
                </a:solidFill>
                <a:latin typeface="Calibri"/>
              </a:rPr>
              <a:t>=RANK(val,range,0) Rank descending      Invest ₦2M now, =LARGE(range, n)   Nth largest value    earn ₦600K,₦800K,₦900K,₦1M: =SMALL(range, n)   Nth smallest value   =IRR({-2000000,600000,800000,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5</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00C2D4"/>
                </a:solidFill>
                <a:latin typeface="Calibri"/>
              </a:rPr>
              <a:t>MOD 5</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5 OPENER: ADVANCED EXCEL</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00C2D4"/>
                </a:solidFill>
                <a:latin typeface="Calibri"/>
              </a:rPr>
              <a:t>LEVEL: INTERMEDIATE</a:t>
            </a:r>
          </a:p>
          <a:p>
            <a:r>
              <a:rPr sz="1300" b="1">
                <a:solidFill>
                  <a:srgbClr val="00C2D4"/>
                </a:solidFill>
                <a:latin typeface="Calibri"/>
              </a:rPr>
              <a:t>MODULE 05</a:t>
            </a:r>
          </a:p>
          <a:p>
            <a:r>
              <a:rPr sz="1300" b="1">
                <a:solidFill>
                  <a:srgbClr val="00C2D4"/>
                </a:solidFill>
                <a:latin typeface="Calibri"/>
              </a:rPr>
              <a:t>ADVANCED EXCEL</a:t>
            </a:r>
          </a:p>
          <a:p>
            <a:r>
              <a:rPr sz="1100">
                <a:solidFill>
                  <a:srgbClr val="F0F4F8"/>
                </a:solidFill>
                <a:latin typeface="Calibri"/>
              </a:rPr>
              <a:t>"This is where Excel stops being</a:t>
            </a:r>
          </a:p>
          <a:p>
            <a:r>
              <a:rPr sz="1100">
                <a:solidFill>
                  <a:srgbClr val="F0F4F8"/>
                </a:solidFill>
                <a:latin typeface="Calibri"/>
              </a:rPr>
              <a:t>a spreadsheet and starts being</a:t>
            </a:r>
          </a:p>
          <a:p>
            <a:r>
              <a:rPr sz="1100">
                <a:solidFill>
                  <a:srgbClr val="F0F4F8"/>
                </a:solidFill>
                <a:latin typeface="Calibri"/>
              </a:rPr>
              <a:t>an analytics platform."</a:t>
            </a:r>
          </a:p>
          <a:p>
            <a:r>
              <a:rPr sz="1100">
                <a:solidFill>
                  <a:srgbClr val="F0F4F8"/>
                </a:solidFill>
                <a:latin typeface="Calibri"/>
              </a:rPr>
              <a:t>Dynamic arrays · Power Query</a:t>
            </a:r>
          </a:p>
          <a:p>
            <a:r>
              <a:rPr sz="1100">
                <a:solidFill>
                  <a:srgbClr val="F0F4F8"/>
                </a:solidFill>
                <a:latin typeface="Calibri"/>
              </a:rPr>
              <a:t>Financial functions · What-If Analysis</a:t>
            </a:r>
          </a:p>
          <a:p>
            <a:r>
              <a:rPr sz="1100">
                <a:solidFill>
                  <a:srgbClr val="F0F4F8"/>
                </a:solidFill>
                <a:latin typeface="Calibri"/>
              </a:rPr>
              <a:t>Data Analysis ToolPak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5</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ADVANCED EXCEL</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Flow diagram</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POWER QUERY: THE PIPELINE</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2200656" cy="365760"/>
          </a:xfrm>
          <a:prstGeom prst="rect">
            <a:avLst/>
          </a:prstGeom>
          <a:noFill/>
        </p:spPr>
        <p:txBody>
          <a:bodyPr wrap="square">
            <a:spAutoFit/>
          </a:bodyPr>
          <a:lstStyle/>
          <a:p>
            <a:pPr algn="l"/>
            <a:r>
              <a:rPr sz="1100" b="1" i="0">
                <a:solidFill>
                  <a:srgbClr val="00C2D4"/>
                </a:solidFill>
                <a:latin typeface="Calibri"/>
              </a:rPr>
              <a:t>SOURCES                 TRANSFORMATIONS             OUTPUT</a:t>
            </a:r>
          </a:p>
        </p:txBody>
      </p:sp>
      <p:sp>
        <p:nvSpPr>
          <p:cNvPr id="16" name="TextBox 15"/>
          <p:cNvSpPr txBox="1"/>
          <p:nvPr/>
        </p:nvSpPr>
        <p:spPr>
          <a:xfrm>
            <a:off x="4736592" y="1664208"/>
            <a:ext cx="2200656" cy="1207008"/>
          </a:xfrm>
          <a:prstGeom prst="rect">
            <a:avLst/>
          </a:prstGeom>
          <a:noFill/>
        </p:spPr>
        <p:txBody>
          <a:bodyPr wrap="square">
            <a:spAutoFit/>
          </a:bodyPr>
          <a:lstStyle/>
          <a:p>
            <a:pPr algn="l"/>
            <a:r>
              <a:rPr sz="950" b="0" i="0">
                <a:solidFill>
                  <a:srgbClr val="F0F4F8"/>
                </a:solidFill>
                <a:latin typeface="Calibri"/>
              </a:rPr>
              <a:t>────────               ──────────────────          ───────── Excel file     →       Remove columns          →   Clean, CSV export     →       Rename columns          →   merged,</a:t>
            </a:r>
          </a:p>
        </p:txBody>
      </p:sp>
      <p:sp>
        <p:nvSpPr>
          <p:cNvPr id="17" name="Rectangle 16"/>
          <p:cNvSpPr/>
          <p:nvPr/>
        </p:nvSpPr>
        <p:spPr>
          <a:xfrm>
            <a:off x="715670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5670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643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0" name="TextBox 19"/>
          <p:cNvSpPr txBox="1"/>
          <p:nvPr/>
        </p:nvSpPr>
        <p:spPr>
          <a:xfrm>
            <a:off x="7650480" y="1298448"/>
            <a:ext cx="1816608" cy="365760"/>
          </a:xfrm>
          <a:prstGeom prst="rect">
            <a:avLst/>
          </a:prstGeom>
          <a:noFill/>
        </p:spPr>
        <p:txBody>
          <a:bodyPr wrap="square">
            <a:spAutoFit/>
          </a:bodyPr>
          <a:lstStyle/>
          <a:p>
            <a:pPr algn="l"/>
            <a:r>
              <a:rPr sz="1100" b="1" i="0">
                <a:solidFill>
                  <a:srgbClr val="F5A623"/>
                </a:solidFill>
                <a:latin typeface="Calibri"/>
              </a:rPr>
              <a:t>Group By                →   AUTO-UPDATES</a:t>
            </a:r>
          </a:p>
        </p:txBody>
      </p:sp>
      <p:sp>
        <p:nvSpPr>
          <p:cNvPr id="21" name="TextBox 20"/>
          <p:cNvSpPr txBox="1"/>
          <p:nvPr/>
        </p:nvSpPr>
        <p:spPr>
          <a:xfrm>
            <a:off x="7266432" y="1664208"/>
            <a:ext cx="2200656" cy="1207008"/>
          </a:xfrm>
          <a:prstGeom prst="rect">
            <a:avLst/>
          </a:prstGeom>
          <a:noFill/>
        </p:spPr>
        <p:txBody>
          <a:bodyPr wrap="square">
            <a:spAutoFit/>
          </a:bodyPr>
          <a:lstStyle/>
          <a:p>
            <a:pPr algn="l"/>
            <a:r>
              <a:rPr sz="950" b="0" i="0">
                <a:solidFill>
                  <a:srgbClr val="F0F4F8"/>
                </a:solidFill>
                <a:latin typeface="Calibri"/>
              </a:rPr>
              <a:t>      Group By                →   AUTO-UPDATES</a:t>
            </a:r>
          </a:p>
        </p:txBody>
      </p:sp>
      <p:sp>
        <p:nvSpPr>
          <p:cNvPr id="22" name="Rectangle 21"/>
          <p:cNvSpPr/>
          <p:nvPr/>
        </p:nvSpPr>
        <p:spPr>
          <a:xfrm>
            <a:off x="968654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686544" y="1207008"/>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9627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5" name="TextBox 24"/>
          <p:cNvSpPr txBox="1"/>
          <p:nvPr/>
        </p:nvSpPr>
        <p:spPr>
          <a:xfrm>
            <a:off x="10180320" y="1298448"/>
            <a:ext cx="1816608" cy="365760"/>
          </a:xfrm>
          <a:prstGeom prst="rect">
            <a:avLst/>
          </a:prstGeom>
          <a:noFill/>
        </p:spPr>
        <p:txBody>
          <a:bodyPr wrap="square">
            <a:spAutoFit/>
          </a:bodyPr>
          <a:lstStyle/>
          <a:p>
            <a:pPr algn="l"/>
            <a:r>
              <a:rPr sz="1100" b="1" i="0">
                <a:solidFill>
                  <a:srgbClr val="00B894"/>
                </a:solidFill>
                <a:latin typeface="Calibri"/>
              </a:rPr>
              <a:t>Unpivot columns         →   on Refresh</a:t>
            </a:r>
          </a:p>
        </p:txBody>
      </p:sp>
      <p:sp>
        <p:nvSpPr>
          <p:cNvPr id="26" name="TextBox 25"/>
          <p:cNvSpPr txBox="1"/>
          <p:nvPr/>
        </p:nvSpPr>
        <p:spPr>
          <a:xfrm>
            <a:off x="9796272" y="1664208"/>
            <a:ext cx="2200656" cy="1207008"/>
          </a:xfrm>
          <a:prstGeom prst="rect">
            <a:avLst/>
          </a:prstGeom>
          <a:noFill/>
        </p:spPr>
        <p:txBody>
          <a:bodyPr wrap="square">
            <a:spAutoFit/>
          </a:bodyPr>
          <a:lstStyle/>
          <a:p>
            <a:pPr algn="l"/>
            <a:r>
              <a:rPr sz="950" b="0" i="0">
                <a:solidFill>
                  <a:srgbClr val="F0F4F8"/>
                </a:solidFill>
                <a:latin typeface="Calibri"/>
              </a:rPr>
              <a:t>      Unpivot columns         →   on Refresh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6</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00C2D4"/>
                </a:solidFill>
                <a:latin typeface="Calibri"/>
              </a:rPr>
              <a:t>MOD 6</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6 OPENER: SQL FOUNDATIONS</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00C2D4"/>
                </a:solidFill>
                <a:latin typeface="Calibri"/>
              </a:rPr>
              <a:t>LEVEL: INTERMEDIATE</a:t>
            </a:r>
          </a:p>
          <a:p>
            <a:r>
              <a:rPr sz="1300" b="1">
                <a:solidFill>
                  <a:srgbClr val="00C2D4"/>
                </a:solidFill>
                <a:latin typeface="Calibri"/>
              </a:rPr>
              <a:t>MODULE 06</a:t>
            </a:r>
          </a:p>
          <a:p>
            <a:r>
              <a:rPr sz="1300" b="1">
                <a:solidFill>
                  <a:srgbClr val="00C2D4"/>
                </a:solidFill>
                <a:latin typeface="Calibri"/>
              </a:rPr>
              <a:t>SQL FOUNDATIONS</a:t>
            </a:r>
          </a:p>
          <a:p>
            <a:r>
              <a:rPr sz="1100">
                <a:solidFill>
                  <a:srgbClr val="F0F4F8"/>
                </a:solidFill>
                <a:latin typeface="Calibri"/>
              </a:rPr>
              <a:t>"SQL is not programming.</a:t>
            </a:r>
          </a:p>
          <a:p>
            <a:r>
              <a:rPr sz="1100">
                <a:solidFill>
                  <a:srgbClr val="F0F4F8"/>
                </a:solidFill>
                <a:latin typeface="Calibri"/>
              </a:rPr>
              <a:t>It's speaking the language of databases.</a:t>
            </a:r>
          </a:p>
          <a:p>
            <a:r>
              <a:rPr sz="1100">
                <a:solidFill>
                  <a:srgbClr val="F0F4F8"/>
                </a:solidFill>
                <a:latin typeface="Calibri"/>
              </a:rPr>
              <a:t>And databases speak for billions of rows."</a:t>
            </a:r>
          </a:p>
          <a:p>
            <a:r>
              <a:rPr sz="1300" b="1">
                <a:solidFill>
                  <a:srgbClr val="00C2D4"/>
                </a:solidFill>
                <a:latin typeface="Calibri"/>
              </a:rPr>
              <a:t>SELECT · WHERE · GROUP BY · HAVING</a:t>
            </a:r>
          </a:p>
          <a:p>
            <a:r>
              <a:rPr sz="1100">
                <a:solidFill>
                  <a:srgbClr val="F0F4F8"/>
                </a:solidFill>
                <a:latin typeface="Calibri"/>
              </a:rPr>
              <a:t>Aggregate functions · CASE statements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6</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SQL FOUNDATIONS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Single SQL query with each clause colour-coded and labelled with arrows on the right side</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SQL QUERY STRUCTURE</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READING YOUR FIRST SQL QUERY</a:t>
            </a:r>
          </a:p>
          <a:p>
            <a:r>
              <a:rPr sz="600">
                <a:latin typeface="Calibri"/>
              </a:rPr>
              <a:t/>
            </a:r>
          </a:p>
          <a:p>
            <a:r>
              <a:rPr sz="1050">
                <a:solidFill>
                  <a:srgbClr val="F0F4F8"/>
                </a:solidFill>
                <a:latin typeface="Calibri"/>
              </a:rPr>
              <a:t>SELECT                          ← Which columns?</a:t>
            </a:r>
          </a:p>
          <a:p>
            <a:r>
              <a:rPr sz="1000">
                <a:solidFill>
                  <a:srgbClr val="8BA5BE"/>
                </a:solidFill>
                <a:latin typeface="Calibri"/>
              </a:rPr>
              <a:t>      ◦  customer_name,</a:t>
            </a:r>
          </a:p>
          <a:p>
            <a:r>
              <a:rPr sz="1000">
                <a:solidFill>
                  <a:srgbClr val="8BA5BE"/>
                </a:solidFill>
                <a:latin typeface="Calibri"/>
              </a:rPr>
              <a:t>      ◦  state,</a:t>
            </a:r>
          </a:p>
          <a:p>
            <a:r>
              <a:rPr sz="1000">
                <a:solidFill>
                  <a:srgbClr val="8BA5BE"/>
                </a:solidFill>
                <a:latin typeface="Calibri"/>
              </a:rPr>
              <a:t>      ◦  account_balance</a:t>
            </a:r>
          </a:p>
          <a:p>
            <a:r>
              <a:rPr sz="600">
                <a:latin typeface="Calibri"/>
              </a:rPr>
              <a:t/>
            </a:r>
          </a:p>
          <a:p>
            <a:r>
              <a:rPr sz="1050">
                <a:solidFill>
                  <a:srgbClr val="F0F4F8"/>
                </a:solidFill>
                <a:latin typeface="Calibri"/>
              </a:rPr>
              <a:t>FROM customers                  ← Which table?</a:t>
            </a:r>
          </a:p>
          <a:p>
            <a:r>
              <a:rPr sz="600">
                <a:latin typeface="Calibri"/>
              </a:rPr>
              <a:t/>
            </a:r>
          </a:p>
          <a:p>
            <a:r>
              <a:rPr sz="1050">
                <a:solidFill>
                  <a:srgbClr val="F0F4F8"/>
                </a:solidFill>
                <a:latin typeface="Calibri"/>
              </a:rPr>
              <a:t>WHERE state = 'Lagos'           ← Which rows?</a:t>
            </a:r>
          </a:p>
          <a:p>
            <a:r>
              <a:rPr sz="1000">
                <a:solidFill>
                  <a:srgbClr val="8BA5BE"/>
                </a:solidFill>
                <a:latin typeface="Calibri"/>
              </a:rPr>
              <a:t>      ◦  AND account_balance &gt; 100000</a:t>
            </a:r>
          </a:p>
          <a:p>
            <a:r>
              <a:rPr sz="600">
                <a:latin typeface="Calibri"/>
              </a:rPr>
              <a:t/>
            </a:r>
          </a:p>
          <a:p>
            <a:r>
              <a:rPr sz="1050">
                <a:solidFill>
                  <a:srgbClr val="F0F4F8"/>
                </a:solidFill>
                <a:latin typeface="Calibri"/>
              </a:rPr>
              <a:t>ORDER BY account_balance DESC   ← In what order?</a:t>
            </a:r>
          </a:p>
          <a:p>
            <a:r>
              <a:rPr sz="600">
                <a:latin typeface="Calibri"/>
              </a:rPr>
              <a:t/>
            </a:r>
          </a:p>
          <a:p>
            <a:r>
              <a:rPr sz="1050">
                <a:solidFill>
                  <a:srgbClr val="F0F4F8"/>
                </a:solidFill>
                <a:latin typeface="Calibri"/>
              </a:rPr>
              <a:t>LIMIT 10;                       ← How many results?</a:t>
            </a:r>
          </a:p>
          <a:p>
            <a:r>
              <a:rPr sz="600">
                <a:latin typeface="Calibri"/>
              </a:rPr>
              <a:t/>
            </a:r>
          </a:p>
          <a:p>
            <a:r>
              <a:rPr sz="1050">
                <a:solidFill>
                  <a:srgbClr val="F0F4F8"/>
                </a:solidFill>
                <a:latin typeface="Calibri"/>
              </a:rPr>
              <a:t>── ── ── ── ── ── ── ── ── ──</a:t>
            </a:r>
          </a:p>
          <a:p>
            <a:r>
              <a:rPr sz="1050">
                <a:solidFill>
                  <a:srgbClr val="F0F4F8"/>
                </a:solidFill>
                <a:latin typeface="Calibri"/>
              </a:rPr>
              <a:t>READS AS: "Give me the name, state, and balance</a:t>
            </a:r>
          </a:p>
          <a:p>
            <a:r>
              <a:rPr sz="1050">
                <a:solidFill>
                  <a:srgbClr val="F0F4F8"/>
                </a:solidFill>
                <a:latin typeface="Calibri"/>
              </a:rPr>
              <a:t>of customers from Lagos with over ₦100K,</a:t>
            </a:r>
          </a:p>
          <a:p>
            <a:r>
              <a:rPr sz="1050">
                <a:solidFill>
                  <a:srgbClr val="F0F4F8"/>
                </a:solidFill>
                <a:latin typeface="Calibri"/>
              </a:rPr>
              <a:t>ranked highest to lowest, top 10 only."</a:t>
            </a:r>
          </a:p>
          <a:p>
            <a:r>
              <a:rPr sz="600">
                <a:latin typeface="Calibri"/>
              </a:rPr>
              <a:t/>
            </a:r>
          </a:p>
          <a:p>
            <a:r>
              <a:rPr sz="1050">
                <a:solidFill>
                  <a:srgbClr val="F0F4F8"/>
                </a:solidFill>
                <a:latin typeface="Calibri"/>
              </a:rPr>
              <a:t>Doesn't that read almost like English?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6</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SQL FOUNDATIONS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Table on the left (raw data)</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AGGREGATE FUNCTIONS</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16" name="TextBox 15"/>
          <p:cNvSpPr txBox="1"/>
          <p:nvPr/>
        </p:nvSpPr>
        <p:spPr>
          <a:xfrm>
            <a:off x="5120640" y="1298448"/>
            <a:ext cx="3081528" cy="365760"/>
          </a:xfrm>
          <a:prstGeom prst="rect">
            <a:avLst/>
          </a:prstGeom>
          <a:noFill/>
        </p:spPr>
        <p:txBody>
          <a:bodyPr wrap="square">
            <a:spAutoFit/>
          </a:bodyPr>
          <a:lstStyle/>
          <a:p>
            <a:pPr algn="l"/>
            <a:r>
              <a:rPr sz="1100" b="1" i="0">
                <a:solidFill>
                  <a:srgbClr val="00C2D4"/>
                </a:solidFill>
                <a:latin typeface="Calibri"/>
              </a:rPr>
              <a:t>Lagos</a:t>
            </a:r>
          </a:p>
        </p:txBody>
      </p:sp>
      <p:sp>
        <p:nvSpPr>
          <p:cNvPr id="17" name="TextBox 16"/>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Lagos: 89,000 customers | ₦7.4B total</a:t>
            </a:r>
          </a:p>
        </p:txBody>
      </p:sp>
      <p:sp>
        <p:nvSpPr>
          <p:cNvPr id="18" name="Rectangle 17"/>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3135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1" name="TextBox 20"/>
          <p:cNvSpPr txBox="1"/>
          <p:nvPr/>
        </p:nvSpPr>
        <p:spPr>
          <a:xfrm>
            <a:off x="8915400" y="1298448"/>
            <a:ext cx="3081528" cy="365760"/>
          </a:xfrm>
          <a:prstGeom prst="rect">
            <a:avLst/>
          </a:prstGeom>
          <a:noFill/>
        </p:spPr>
        <p:txBody>
          <a:bodyPr wrap="square">
            <a:spAutoFit/>
          </a:bodyPr>
          <a:lstStyle/>
          <a:p>
            <a:pPr algn="l"/>
            <a:r>
              <a:rPr sz="1100" b="1" i="0">
                <a:solidFill>
                  <a:srgbClr val="F5A623"/>
                </a:solidFill>
                <a:latin typeface="Calibri"/>
              </a:rPr>
              <a:t>Abuja</a:t>
            </a:r>
          </a:p>
        </p:txBody>
      </p:sp>
      <p:sp>
        <p:nvSpPr>
          <p:cNvPr id="22" name="TextBox 21"/>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Abuja: 43,000 customers | ₦5.1B total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7</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00C2D4"/>
                </a:solidFill>
                <a:latin typeface="Calibri"/>
              </a:rPr>
              <a:t>MOD 7</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7 OPENER: ADVANCED SQL</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00C2D4"/>
                </a:solidFill>
                <a:latin typeface="Calibri"/>
              </a:rPr>
              <a:t>LEVEL: ADVANCED</a:t>
            </a:r>
          </a:p>
          <a:p>
            <a:r>
              <a:rPr sz="1300" b="1">
                <a:solidFill>
                  <a:srgbClr val="00C2D4"/>
                </a:solidFill>
                <a:latin typeface="Calibri"/>
              </a:rPr>
              <a:t>MODULE 07</a:t>
            </a:r>
          </a:p>
          <a:p>
            <a:r>
              <a:rPr sz="1300" b="1">
                <a:solidFill>
                  <a:srgbClr val="00C2D4"/>
                </a:solidFill>
                <a:latin typeface="Calibri"/>
              </a:rPr>
              <a:t>ADVANCED SQL</a:t>
            </a:r>
          </a:p>
          <a:p>
            <a:r>
              <a:rPr sz="1100">
                <a:solidFill>
                  <a:srgbClr val="F0F4F8"/>
                </a:solidFill>
                <a:latin typeface="Calibri"/>
              </a:rPr>
              <a:t>"One table gives you data.</a:t>
            </a:r>
          </a:p>
          <a:p>
            <a:r>
              <a:rPr sz="1100">
                <a:solidFill>
                  <a:srgbClr val="F0F4F8"/>
                </a:solidFill>
                <a:latin typeface="Calibri"/>
              </a:rPr>
              <a:t>Multiple tables, joined correctly,</a:t>
            </a:r>
          </a:p>
          <a:p>
            <a:r>
              <a:rPr sz="1100">
                <a:solidFill>
                  <a:srgbClr val="F0F4F8"/>
                </a:solidFill>
                <a:latin typeface="Calibri"/>
              </a:rPr>
              <a:t>give you intelligence."</a:t>
            </a:r>
          </a:p>
          <a:p>
            <a:r>
              <a:rPr sz="1100">
                <a:solidFill>
                  <a:srgbClr val="F0F4F8"/>
                </a:solidFill>
                <a:latin typeface="Calibri"/>
              </a:rPr>
              <a:t>JOIN types · Multi-table queries</a:t>
            </a:r>
          </a:p>
          <a:p>
            <a:r>
              <a:rPr sz="1100">
                <a:solidFill>
                  <a:srgbClr val="F0F4F8"/>
                </a:solidFill>
                <a:latin typeface="Calibri"/>
              </a:rPr>
              <a:t>Subqueries · CTEs · Window functions</a:t>
            </a:r>
          </a:p>
          <a:p>
            <a:r>
              <a:rPr sz="1100">
                <a:solidFill>
                  <a:srgbClr val="F0F4F8"/>
                </a:solidFill>
                <a:latin typeface="Calibri"/>
              </a:rPr>
              <a:t>RFM Customer Segmentation in SQL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7</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ADVANCED SQL</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Four Venn diagrams side by side, labelled INNER JOIN, LEFT JOIN, RIGHT JOIN, FULL OUTER JOIN</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FOUR JOINS — VISUALISED</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THE FOUR JOIN TYPES</a:t>
            </a:r>
          </a:p>
          <a:p>
            <a:r>
              <a:rPr sz="600">
                <a:latin typeface="Calibri"/>
              </a:rPr>
              <a:t/>
            </a:r>
          </a:p>
          <a:p>
            <a:r>
              <a:rPr sz="1050">
                <a:solidFill>
                  <a:srgbClr val="F0F4F8"/>
                </a:solidFill>
                <a:latin typeface="Calibri"/>
              </a:rPr>
              <a:t>[INNER]          [LEFT]           [RIGHT]          [FULL OUTER]</a:t>
            </a:r>
          </a:p>
          <a:p>
            <a:r>
              <a:rPr sz="1050">
                <a:solidFill>
                  <a:srgbClr val="F0F4F8"/>
                </a:solidFill>
                <a:latin typeface="Calibri"/>
              </a:rPr>
              <a:t>A ∩ B            A + (A∩B)        B + (A∩B)        A ∪ B</a:t>
            </a:r>
          </a:p>
          <a:p>
            <a:r>
              <a:rPr sz="1000">
                <a:solidFill>
                  <a:srgbClr val="8BA5BE"/>
                </a:solidFill>
                <a:latin typeface="Calibri"/>
              </a:rPr>
              <a:t>      ◦  ●●               ●●●●              ●●●●              ●●●●●●●</a:t>
            </a:r>
          </a:p>
          <a:p>
            <a:r>
              <a:rPr sz="600">
                <a:latin typeface="Calibri"/>
              </a:rPr>
              <a:t/>
            </a:r>
          </a:p>
          <a:p>
            <a:r>
              <a:rPr sz="1050">
                <a:solidFill>
                  <a:srgbClr val="F0F4F8"/>
                </a:solidFill>
                <a:latin typeface="Calibri"/>
              </a:rPr>
              <a:t>Only matches    All left rows    All right rows    All rows both</a:t>
            </a:r>
          </a:p>
          <a:p>
            <a:r>
              <a:rPr sz="1000">
                <a:solidFill>
                  <a:srgbClr val="8BA5BE"/>
                </a:solidFill>
                <a:latin typeface="Calibri"/>
              </a:rPr>
              <a:t>      ◦  + matches        + matches         tables</a:t>
            </a:r>
          </a:p>
          <a:p>
            <a:r>
              <a:rPr sz="600">
                <a:latin typeface="Calibri"/>
              </a:rPr>
              <a:t/>
            </a:r>
          </a:p>
          <a:p>
            <a:r>
              <a:rPr sz="1050">
                <a:solidFill>
                  <a:srgbClr val="F0F4F8"/>
                </a:solidFill>
                <a:latin typeface="Calibri"/>
              </a:rPr>
              <a:t>Use when:       Use when:        Use when:         Use when:</a:t>
            </a:r>
          </a:p>
          <a:p>
            <a:r>
              <a:rPr sz="1050">
                <a:solidFill>
                  <a:srgbClr val="F0F4F8"/>
                </a:solidFill>
                <a:latin typeface="Calibri"/>
              </a:rPr>
              <a:t>Both sides      Include records  Same but          Find all</a:t>
            </a:r>
          </a:p>
          <a:p>
            <a:r>
              <a:rPr sz="1050">
                <a:solidFill>
                  <a:srgbClr val="F0F4F8"/>
                </a:solidFill>
                <a:latin typeface="Calibri"/>
              </a:rPr>
              <a:t>must match      without matches  flipped           discrepancies</a:t>
            </a:r>
          </a:p>
          <a:p>
            <a:r>
              <a:rPr sz="600">
                <a:latin typeface="Calibri"/>
              </a:rPr>
              <a:t/>
            </a:r>
          </a:p>
          <a:p>
            <a:r>
              <a:rPr sz="1050">
                <a:solidFill>
                  <a:srgbClr val="F0F4F8"/>
                </a:solidFill>
                <a:latin typeface="Calibri"/>
              </a:rPr>
              <a:t>MOST COMMON IN PRACTICE: INNER JOIN and LEFT JOIN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7</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ADVANCED SQL</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Two code blocks side by side</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CTEs — WRITE READABLE SQL</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CTEs — COMMON TABLE EXPRESSIONS</a:t>
            </a:r>
          </a:p>
          <a:p>
            <a:r>
              <a:rPr sz="600">
                <a:latin typeface="Calibri"/>
              </a:rPr>
              <a:t/>
            </a:r>
          </a:p>
          <a:p>
            <a:r>
              <a:rPr sz="1050">
                <a:solidFill>
                  <a:srgbClr val="F0F4F8"/>
                </a:solidFill>
                <a:latin typeface="Calibri"/>
              </a:rPr>
              <a:t>The Problem:                    The Solution:</a:t>
            </a:r>
          </a:p>
          <a:p>
            <a:r>
              <a:rPr sz="1050">
                <a:solidFill>
                  <a:srgbClr val="F0F4F8"/>
                </a:solidFill>
                <a:latin typeface="Calibri"/>
              </a:rPr>
              <a:t>Nested subqueries               Named, reusable query blocks</a:t>
            </a:r>
          </a:p>
          <a:p>
            <a:r>
              <a:rPr sz="1050">
                <a:solidFill>
                  <a:srgbClr val="F0F4F8"/>
                </a:solidFill>
                <a:latin typeface="Calibri"/>
              </a:rPr>
              <a:t>are unreadable</a:t>
            </a:r>
          </a:p>
          <a:p>
            <a:r>
              <a:rPr sz="600">
                <a:latin typeface="Calibri"/>
              </a:rPr>
              <a:t/>
            </a:r>
          </a:p>
          <a:p>
            <a:r>
              <a:rPr sz="1050">
                <a:solidFill>
                  <a:srgbClr val="F0F4F8"/>
                </a:solidFill>
                <a:latin typeface="Calibri"/>
              </a:rPr>
              <a:t>SELECT * FROM                   WITH clean_customers AS (</a:t>
            </a:r>
          </a:p>
          <a:p>
            <a:r>
              <a:rPr sz="1050">
                <a:solidFill>
                  <a:srgbClr val="F0F4F8"/>
                </a:solidFill>
                <a:latin typeface="Calibri"/>
              </a:rPr>
              <a:t>(SELECT customer_id,                SELECT customer_id,</a:t>
            </a:r>
          </a:p>
          <a:p>
            <a:r>
              <a:rPr sz="1000">
                <a:solidFill>
                  <a:srgbClr val="8BA5BE"/>
                </a:solidFill>
                <a:latin typeface="Calibri"/>
              </a:rPr>
              <a:t>      ◦  SUM(amount)                         SUM(amount) AS total</a:t>
            </a:r>
          </a:p>
          <a:p>
            <a:r>
              <a:rPr sz="1050">
                <a:solidFill>
                  <a:srgbClr val="F0F4F8"/>
                </a:solidFill>
                <a:latin typeface="Calibri"/>
              </a:rPr>
              <a:t>FROM (SELECT * FROM t              FROM transactions</a:t>
            </a:r>
          </a:p>
          <a:p>
            <a:r>
              <a:rPr sz="1000">
                <a:solidFill>
                  <a:srgbClr val="8BA5BE"/>
                </a:solidFill>
                <a:latin typeface="Calibri"/>
              </a:rPr>
              <a:t>      ◦  WHERE date &gt; '2024')         WHERE date &gt; '2024'</a:t>
            </a:r>
          </a:p>
          <a:p>
            <a:r>
              <a:rPr sz="1050">
                <a:solidFill>
                  <a:srgbClr val="F0F4F8"/>
                </a:solidFill>
                <a:latin typeface="Calibri"/>
              </a:rPr>
              <a:t>GROUP BY customer_id)              GROUP BY customer_id</a:t>
            </a:r>
          </a:p>
          <a:p>
            <a:r>
              <a:rPr sz="1050">
                <a:solidFill>
                  <a:srgbClr val="F0F4F8"/>
                </a:solidFill>
                <a:latin typeface="Calibri"/>
              </a:rPr>
              <a:t>WHERE total &gt; 100000            )</a:t>
            </a:r>
          </a:p>
          <a:p>
            <a:r>
              <a:rPr sz="1000">
                <a:solidFill>
                  <a:srgbClr val="8BA5BE"/>
                </a:solidFill>
                <a:latin typeface="Calibri"/>
              </a:rPr>
              <a:t>      ◦  SELECT * FROM clean_customers</a:t>
            </a:r>
          </a:p>
          <a:p>
            <a:r>
              <a:rPr sz="1000">
                <a:solidFill>
                  <a:srgbClr val="8BA5BE"/>
                </a:solidFill>
                <a:latin typeface="Calibri"/>
              </a:rPr>
              <a:t>      ◦  WHERE total &gt; 100000</a:t>
            </a:r>
          </a:p>
          <a:p>
            <a:r>
              <a:rPr sz="600">
                <a:latin typeface="Calibri"/>
              </a:rPr>
              <a:t/>
            </a:r>
          </a:p>
          <a:p>
            <a:r>
              <a:rPr sz="1050">
                <a:solidFill>
                  <a:srgbClr val="F0F4F8"/>
                </a:solidFill>
                <a:latin typeface="Calibri"/>
              </a:rPr>
              <a:t>SAME RESULT. Very different readability.</a:t>
            </a:r>
          </a:p>
          <a:p>
            <a:r>
              <a:rPr sz="600">
                <a:latin typeface="Calibri"/>
              </a:rPr>
              <a:t/>
            </a:r>
          </a:p>
          <a:p>
            <a:r>
              <a:rPr sz="1050">
                <a:solidFill>
                  <a:srgbClr val="F0F4F8"/>
                </a:solidFill>
                <a:latin typeface="Calibri"/>
              </a:rPr>
              <a:t>Rule: If your subquery runs more than 2 levels deep, use a CTE.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8</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00C2D4"/>
                </a:solidFill>
                <a:latin typeface="Calibri"/>
              </a:rPr>
              <a:t>MOD 8</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8 OPENER: VISUALISATION PRINCIPLES</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00C2D4"/>
                </a:solidFill>
                <a:latin typeface="Calibri"/>
              </a:rPr>
              <a:t>LEVEL: ADVANCED</a:t>
            </a:r>
          </a:p>
          <a:p>
            <a:r>
              <a:rPr sz="1300" b="1">
                <a:solidFill>
                  <a:srgbClr val="00C2D4"/>
                </a:solidFill>
                <a:latin typeface="Calibri"/>
              </a:rPr>
              <a:t>MODULE 08</a:t>
            </a:r>
          </a:p>
          <a:p>
            <a:r>
              <a:rPr sz="1300" b="1">
                <a:solidFill>
                  <a:srgbClr val="00C2D4"/>
                </a:solidFill>
                <a:latin typeface="Calibri"/>
              </a:rPr>
              <a:t>DATA VISUALISATION</a:t>
            </a:r>
          </a:p>
          <a:p>
            <a:r>
              <a:rPr sz="1300" b="1">
                <a:solidFill>
                  <a:srgbClr val="00C2D4"/>
                </a:solidFill>
                <a:latin typeface="Calibri"/>
              </a:rPr>
              <a:t>PRINCIPLES</a:t>
            </a:r>
          </a:p>
          <a:p>
            <a:r>
              <a:rPr sz="1100">
                <a:solidFill>
                  <a:srgbClr val="F0F4F8"/>
                </a:solidFill>
                <a:latin typeface="Calibri"/>
              </a:rPr>
              <a:t>"The difference between a report nobody reads</a:t>
            </a:r>
          </a:p>
          <a:p>
            <a:r>
              <a:rPr sz="1100">
                <a:solidFill>
                  <a:srgbClr val="F0F4F8"/>
                </a:solidFill>
                <a:latin typeface="Calibri"/>
              </a:rPr>
              <a:t>and a recommendation everyone acts on</a:t>
            </a:r>
          </a:p>
          <a:p>
            <a:r>
              <a:rPr sz="1100">
                <a:solidFill>
                  <a:srgbClr val="F0F4F8"/>
                </a:solidFill>
                <a:latin typeface="Calibri"/>
              </a:rPr>
              <a:t>is how the data is shown."</a:t>
            </a:r>
          </a:p>
          <a:p>
            <a:r>
              <a:rPr sz="1100">
                <a:solidFill>
                  <a:srgbClr val="F0F4F8"/>
                </a:solidFill>
                <a:latin typeface="Calibri"/>
              </a:rPr>
              <a:t>Chart selection · Pre-attentive attributes</a:t>
            </a:r>
          </a:p>
          <a:p>
            <a:r>
              <a:rPr sz="1100">
                <a:solidFill>
                  <a:srgbClr val="F0F4F8"/>
                </a:solidFill>
                <a:latin typeface="Calibri"/>
              </a:rPr>
              <a:t>Tufte's principles · Data storytelling</a:t>
            </a:r>
          </a:p>
          <a:p>
            <a:r>
              <a:rPr sz="1100">
                <a:solidFill>
                  <a:srgbClr val="F0F4F8"/>
                </a:solidFill>
                <a:latin typeface="Calibri"/>
              </a:rPr>
              <a:t>Datawrapper · Flourish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8</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VISUALISATION PRINCIPLES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5×4 matrix grid</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CHART SELECTION MATRIX</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CHOOSE THE RIGHT CHART</a:t>
            </a:r>
          </a:p>
          <a:p>
            <a:r>
              <a:rPr sz="600">
                <a:latin typeface="Calibri"/>
              </a:rPr>
              <a:t/>
            </a:r>
          </a:p>
          <a:p>
            <a:r>
              <a:rPr sz="1200" b="1">
                <a:solidFill>
                  <a:srgbClr val="00C2D4"/>
                </a:solidFill>
                <a:latin typeface="Calibri"/>
              </a:rPr>
              <a:t>GOAL              BEST CHART           WHEN TO USE</a:t>
            </a:r>
          </a:p>
          <a:p>
            <a:r>
              <a:rPr sz="1050">
                <a:solidFill>
                  <a:srgbClr val="F0F4F8"/>
                </a:solidFill>
                <a:latin typeface="Calibri"/>
              </a:rPr>
              <a:t>────────────────────────────────────────────────────</a:t>
            </a:r>
          </a:p>
          <a:p>
            <a:r>
              <a:rPr sz="1050">
                <a:solidFill>
                  <a:srgbClr val="F0F4F8"/>
                </a:solidFill>
                <a:latin typeface="Calibri"/>
              </a:rPr>
              <a:t>Compare           Bar chart (horiz.)   Rankings, ≤15 categories</a:t>
            </a:r>
          </a:p>
          <a:p>
            <a:r>
              <a:rPr sz="1050">
                <a:solidFill>
                  <a:srgbClr val="F0F4F8"/>
                </a:solidFill>
                <a:latin typeface="Calibri"/>
              </a:rPr>
              <a:t>categories        Dot plot             Precise values matter</a:t>
            </a:r>
          </a:p>
          <a:p>
            <a:r>
              <a:rPr sz="600">
                <a:latin typeface="Calibri"/>
              </a:rPr>
              <a:t/>
            </a:r>
          </a:p>
          <a:p>
            <a:r>
              <a:rPr sz="1050">
                <a:solidFill>
                  <a:srgbClr val="F0F4F8"/>
                </a:solidFill>
                <a:latin typeface="Calibri"/>
              </a:rPr>
              <a:t>Show trend        Line chart           Time series</a:t>
            </a:r>
          </a:p>
          <a:p>
            <a:r>
              <a:rPr sz="1050">
                <a:solidFill>
                  <a:srgbClr val="F0F4F8"/>
                </a:solidFill>
                <a:latin typeface="Calibri"/>
              </a:rPr>
              <a:t>over time         Area chart           Show volume + trend</a:t>
            </a:r>
          </a:p>
          <a:p>
            <a:r>
              <a:rPr sz="600">
                <a:latin typeface="Calibri"/>
              </a:rPr>
              <a:t/>
            </a:r>
          </a:p>
          <a:p>
            <a:r>
              <a:rPr sz="1050">
                <a:solidFill>
                  <a:srgbClr val="F0F4F8"/>
                </a:solidFill>
                <a:latin typeface="Calibri"/>
              </a:rPr>
              <a:t>Show              Histogram            Continuous data</a:t>
            </a:r>
          </a:p>
          <a:p>
            <a:r>
              <a:rPr sz="1050">
                <a:solidFill>
                  <a:srgbClr val="F0F4F8"/>
                </a:solidFill>
                <a:latin typeface="Calibri"/>
              </a:rPr>
              <a:t>distribution      Box plot             Compare distributions</a:t>
            </a:r>
          </a:p>
          <a:p>
            <a:r>
              <a:rPr sz="600">
                <a:latin typeface="Calibri"/>
              </a:rPr>
              <a:t/>
            </a:r>
          </a:p>
          <a:p>
            <a:r>
              <a:rPr sz="1050">
                <a:solidFill>
                  <a:srgbClr val="F0F4F8"/>
                </a:solidFill>
                <a:latin typeface="Calibri"/>
              </a:rPr>
              <a:t>Show              Pie / donut          ≤5 categories</a:t>
            </a:r>
          </a:p>
          <a:p>
            <a:r>
              <a:rPr sz="1050">
                <a:solidFill>
                  <a:srgbClr val="F0F4F8"/>
                </a:solidFill>
                <a:latin typeface="Calibri"/>
              </a:rPr>
              <a:t>composition       Stacked bar          Change over time</a:t>
            </a:r>
          </a:p>
          <a:p>
            <a:r>
              <a:rPr sz="600">
                <a:latin typeface="Calibri"/>
              </a:rPr>
              <a:t/>
            </a:r>
          </a:p>
          <a:p>
            <a:r>
              <a:rPr sz="1050">
                <a:solidFill>
                  <a:srgbClr val="F0F4F8"/>
                </a:solidFill>
                <a:latin typeface="Calibri"/>
              </a:rPr>
              <a:t>Show              Scatter plot         Two numeric variables</a:t>
            </a:r>
          </a:p>
          <a:p>
            <a:r>
              <a:rPr sz="1050">
                <a:solidFill>
                  <a:srgbClr val="F0F4F8"/>
                </a:solidFill>
                <a:latin typeface="Calibri"/>
              </a:rPr>
              <a:t>relationship      Bubble chart         + size dimension</a:t>
            </a:r>
          </a:p>
          <a:p>
            <a:r>
              <a:rPr sz="600">
                <a:latin typeface="Calibri"/>
              </a:rPr>
              <a:t/>
            </a:r>
          </a:p>
          <a:p>
            <a:r>
              <a:rPr sz="1050">
                <a:solidFill>
                  <a:srgbClr val="F0F4F8"/>
                </a:solidFill>
                <a:latin typeface="Calibri"/>
              </a:rPr>
              <a:t>GOLDEN RULE: If you're not sure — use a bar chart.</a:t>
            </a:r>
          </a:p>
          <a:p>
            <a:r>
              <a:rPr sz="1050">
                <a:solidFill>
                  <a:srgbClr val="F0F4F8"/>
                </a:solidFill>
                <a:latin typeface="Calibri"/>
              </a:rPr>
              <a:t>Bar charts are almost never wrong.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8</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VISUALISATION PRINCIPLES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Six demonstration panels</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PRE-ATTENTIVE ATTRIBUTES</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00C2D4"/>
                </a:solidFill>
                <a:latin typeface="Calibri"/>
              </a:rPr>
              <a:t>PRE-ATTENTIVE PROCESSING</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Your brain sees these in &lt;250 milliseconds</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HOW TO USE THIS:</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Want viewers to notice one bar? Make it RED. Rest GREY. Don't decorate with colour. DIRECT attention with it. One pre-attentive attribute per chart. More = confusion.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8</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VISUALISATION PRINCIPLES</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Horizontal flow with 5 nodes connected by arrows</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DATA STORY STRUCTURE</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THE DATA STORY STRUCTURE</a:t>
            </a:r>
          </a:p>
          <a:p>
            <a:r>
              <a:rPr sz="600">
                <a:latin typeface="Calibri"/>
              </a:rPr>
              <a:t/>
            </a:r>
          </a:p>
          <a:p>
            <a:r>
              <a:rPr sz="1200" b="1">
                <a:solidFill>
                  <a:srgbClr val="00C2D4"/>
                </a:solidFill>
                <a:latin typeface="Calibri"/>
              </a:rPr>
              <a:t>SETUP          CONTEXT        EVIDENCE       SO WHAT        ACTION</a:t>
            </a:r>
          </a:p>
          <a:p>
            <a:r>
              <a:rPr sz="1050">
                <a:solidFill>
                  <a:srgbClr val="F0F4F8"/>
                </a:solidFill>
                <a:latin typeface="Calibri"/>
              </a:rPr>
              <a:t>"Northern         "Target is     [Line chart:   "At current    "Launch Q4</a:t>
            </a:r>
          </a:p>
          <a:p>
            <a:r>
              <a:rPr sz="1050">
                <a:solidFill>
                  <a:srgbClr val="F0F4F8"/>
                </a:solidFill>
                <a:latin typeface="Calibri"/>
              </a:rPr>
              <a:t>region churn      &lt;5% churn.    Northern       rate: ₦4.2B    retention</a:t>
            </a:r>
          </a:p>
          <a:p>
            <a:r>
              <a:rPr sz="1050">
                <a:solidFill>
                  <a:srgbClr val="F0F4F8"/>
                </a:solidFill>
                <a:latin typeface="Calibri"/>
              </a:rPr>
              <a:t>up 23%"           We're at       churn at       revenue        campaign.</a:t>
            </a:r>
          </a:p>
          <a:p>
            <a:r>
              <a:rPr sz="1000">
                <a:solidFill>
                  <a:srgbClr val="8BA5BE"/>
                </a:solidFill>
                <a:latin typeface="Calibri"/>
              </a:rPr>
              <a:t>      ◦  10.4%"         10.4% since    at risk"       Network audit.</a:t>
            </a:r>
          </a:p>
          <a:p>
            <a:r>
              <a:rPr sz="1000">
                <a:solidFill>
                  <a:srgbClr val="8BA5BE"/>
                </a:solidFill>
                <a:latin typeface="Calibri"/>
              </a:rPr>
              <a:t>      ◦  August"                       Price review."</a:t>
            </a:r>
          </a:p>
          <a:p>
            <a:r>
              <a:rPr sz="1000">
                <a:solidFill>
                  <a:srgbClr val="8BA5BE"/>
                </a:solidFill>
                <a:latin typeface="Calibri"/>
              </a:rPr>
              <a:t>      ◦  ↑                  ↑              ↑              ↑              ↑</a:t>
            </a:r>
          </a:p>
          <a:p>
            <a:r>
              <a:rPr sz="1000">
                <a:solidFill>
                  <a:srgbClr val="8BA5BE"/>
                </a:solidFill>
                <a:latin typeface="Calibri"/>
              </a:rPr>
              <a:t>      ◦  Hook           Baseline       Proof          Impact         Decision</a:t>
            </a:r>
          </a:p>
          <a:p>
            <a:r>
              <a:rPr sz="600">
                <a:latin typeface="Calibri"/>
              </a:rPr>
              <a:t/>
            </a:r>
          </a:p>
          <a:p>
            <a:r>
              <a:rPr sz="1050">
                <a:solidFill>
                  <a:srgbClr val="F0F4F8"/>
                </a:solidFill>
                <a:latin typeface="Calibri"/>
              </a:rPr>
              <a:t>PYRAMID PRINCIPLE (McKinsey):</a:t>
            </a:r>
          </a:p>
          <a:p>
            <a:r>
              <a:rPr sz="1050">
                <a:solidFill>
                  <a:srgbClr val="F0F4F8"/>
                </a:solidFill>
                <a:latin typeface="Calibri"/>
              </a:rPr>
              <a:t>Answer first → Support with evidence → Don't make them wait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9</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00C2D4"/>
                </a:solidFill>
                <a:latin typeface="Calibri"/>
              </a:rPr>
              <a:t>MOD 9</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9 OPENER: POWER BI PART I</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00C2D4"/>
                </a:solidFill>
                <a:latin typeface="Calibri"/>
              </a:rPr>
              <a:t>LEVEL: ADVANCED</a:t>
            </a:r>
          </a:p>
          <a:p>
            <a:r>
              <a:rPr sz="1300" b="1">
                <a:solidFill>
                  <a:srgbClr val="00C2D4"/>
                </a:solidFill>
                <a:latin typeface="Calibri"/>
              </a:rPr>
              <a:t>MODULE 09</a:t>
            </a:r>
          </a:p>
          <a:p>
            <a:r>
              <a:rPr sz="1300" b="1">
                <a:solidFill>
                  <a:srgbClr val="00C2D4"/>
                </a:solidFill>
                <a:latin typeface="Calibri"/>
              </a:rPr>
              <a:t>POWER BI PART I</a:t>
            </a:r>
          </a:p>
          <a:p>
            <a:r>
              <a:rPr sz="1100">
                <a:solidFill>
                  <a:srgbClr val="F0F4F8"/>
                </a:solidFill>
                <a:latin typeface="Calibri"/>
              </a:rPr>
              <a:t>"Excel tells you what happened.</a:t>
            </a:r>
          </a:p>
          <a:p>
            <a:r>
              <a:rPr sz="1100">
                <a:solidFill>
                  <a:srgbClr val="F0F4F8"/>
                </a:solidFill>
                <a:latin typeface="Calibri"/>
              </a:rPr>
              <a:t>Power BI shows everyone in the</a:t>
            </a:r>
          </a:p>
          <a:p>
            <a:r>
              <a:rPr sz="1100">
                <a:solidFill>
                  <a:srgbClr val="F0F4F8"/>
                </a:solidFill>
                <a:latin typeface="Calibri"/>
              </a:rPr>
              <a:t>organisation what happened — live."</a:t>
            </a:r>
          </a:p>
          <a:p>
            <a:r>
              <a:rPr sz="1100">
                <a:solidFill>
                  <a:srgbClr val="F0F4F8"/>
                </a:solidFill>
                <a:latin typeface="Calibri"/>
              </a:rPr>
              <a:t>Power Query in Power BI · Star schema modelling</a:t>
            </a:r>
          </a:p>
          <a:p>
            <a:r>
              <a:rPr sz="1100">
                <a:solidFill>
                  <a:srgbClr val="F0F4F8"/>
                </a:solidFill>
                <a:latin typeface="Calibri"/>
              </a:rPr>
              <a:t>Core visuals · Slicers · Dashboard design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9</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POWER BI PART I</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Three-tier architecture diagram</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POWER BI ARCHITECTURE</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POWER BI ECOSYSTEM</a:t>
            </a:r>
          </a:p>
          <a:p>
            <a:r>
              <a:rPr sz="600">
                <a:latin typeface="Calibri"/>
              </a:rPr>
              <a:t/>
            </a:r>
          </a:p>
          <a:p>
            <a:r>
              <a:rPr sz="1050">
                <a:solidFill>
                  <a:srgbClr val="F0F4F8"/>
                </a:solidFill>
                <a:latin typeface="Calibri"/>
              </a:rPr>
              <a:t>┌──────────────────────────────────────────┐</a:t>
            </a:r>
          </a:p>
          <a:p>
            <a:r>
              <a:rPr sz="1050">
                <a:solidFill>
                  <a:srgbClr val="F0F4F8"/>
                </a:solidFill>
                <a:latin typeface="Calibri"/>
              </a:rPr>
              <a:t>│          POWER BI SERVICE (Cloud)         │</a:t>
            </a:r>
          </a:p>
          <a:p>
            <a:r>
              <a:rPr sz="1050">
                <a:solidFill>
                  <a:srgbClr val="F0F4F8"/>
                </a:solidFill>
                <a:latin typeface="Calibri"/>
              </a:rPr>
              <a:t>│      Share · Collaborate · Schedule       │</a:t>
            </a:r>
          </a:p>
          <a:p>
            <a:r>
              <a:rPr sz="1050">
                <a:solidFill>
                  <a:srgbClr val="F0F4F8"/>
                </a:solidFill>
                <a:latin typeface="Calibri"/>
              </a:rPr>
              <a:t>│       Dashboards · Mobile access          │</a:t>
            </a:r>
          </a:p>
          <a:p>
            <a:r>
              <a:rPr sz="1050">
                <a:solidFill>
                  <a:srgbClr val="F0F4F8"/>
                </a:solidFill>
                <a:latin typeface="Calibri"/>
              </a:rPr>
              <a:t>└───────────────────┬──────────────────────┘</a:t>
            </a:r>
          </a:p>
          <a:p>
            <a:r>
              <a:rPr sz="1000">
                <a:solidFill>
                  <a:srgbClr val="8BA5BE"/>
                </a:solidFill>
                <a:latin typeface="Calibri"/>
              </a:rPr>
              <a:t>      ◦  │ Publish</a:t>
            </a:r>
          </a:p>
          <a:p>
            <a:r>
              <a:rPr sz="1050">
                <a:solidFill>
                  <a:srgbClr val="F0F4F8"/>
                </a:solidFill>
                <a:latin typeface="Calibri"/>
              </a:rPr>
              <a:t>┌───────────────────▼──────────────────────┐</a:t>
            </a:r>
          </a:p>
          <a:p>
            <a:r>
              <a:rPr sz="1050">
                <a:solidFill>
                  <a:srgbClr val="F0F4F8"/>
                </a:solidFill>
                <a:latin typeface="Calibri"/>
              </a:rPr>
              <a:t>│          POWER BI DESKTOP                 │</a:t>
            </a:r>
          </a:p>
          <a:p>
            <a:r>
              <a:rPr sz="1050">
                <a:solidFill>
                  <a:srgbClr val="F0F4F8"/>
                </a:solidFill>
                <a:latin typeface="Calibri"/>
              </a:rPr>
              <a:t>│    Build reports · Write DAX              │</a:t>
            </a:r>
          </a:p>
          <a:p>
            <a:r>
              <a:rPr sz="1050">
                <a:solidFill>
                  <a:srgbClr val="F0F4F8"/>
                </a:solidFill>
                <a:latin typeface="Calibri"/>
              </a:rPr>
              <a:t>│    Model data · Create visuals            │</a:t>
            </a:r>
          </a:p>
          <a:p>
            <a:r>
              <a:rPr sz="1050">
                <a:solidFill>
                  <a:srgbClr val="F0F4F8"/>
                </a:solidFill>
                <a:latin typeface="Calibri"/>
              </a:rPr>
              <a:t>└───────────────────┬──────────────────────┘</a:t>
            </a:r>
          </a:p>
          <a:p>
            <a:r>
              <a:rPr sz="1000">
                <a:solidFill>
                  <a:srgbClr val="8BA5BE"/>
                </a:solidFill>
                <a:latin typeface="Calibri"/>
              </a:rPr>
              <a:t>      ◦  │ Connect</a:t>
            </a:r>
          </a:p>
          <a:p>
            <a:r>
              <a:rPr sz="1050">
                <a:solidFill>
                  <a:srgbClr val="F0F4F8"/>
                </a:solidFill>
                <a:latin typeface="Calibri"/>
              </a:rPr>
              <a:t>┌───────────────────▼──────────────────────┐</a:t>
            </a:r>
          </a:p>
          <a:p>
            <a:r>
              <a:rPr sz="1050">
                <a:solidFill>
                  <a:srgbClr val="F0F4F8"/>
                </a:solidFill>
                <a:latin typeface="Calibri"/>
              </a:rPr>
              <a:t>│             DATA SOURCES                  │</a:t>
            </a:r>
          </a:p>
          <a:p>
            <a:r>
              <a:rPr sz="1050">
                <a:solidFill>
                  <a:srgbClr val="F0F4F8"/>
                </a:solidFill>
                <a:latin typeface="Calibri"/>
              </a:rPr>
              <a:t>│  Excel · SQL DB · CSV · Web · SharePoint  │</a:t>
            </a:r>
          </a:p>
          <a:p>
            <a:r>
              <a:rPr sz="1050">
                <a:solidFill>
                  <a:srgbClr val="F0F4F8"/>
                </a:solidFill>
                <a:latin typeface="Calibri"/>
              </a:rPr>
              <a:t>│  Google Analytics · Salesforce · APIs     │</a:t>
            </a:r>
          </a:p>
          <a:p>
            <a:r>
              <a:rPr sz="1050">
                <a:solidFill>
                  <a:srgbClr val="F0F4F8"/>
                </a:solidFill>
                <a:latin typeface="Calibri"/>
              </a:rPr>
              <a:t>└──────────────────────────────────────────┘</a:t>
            </a:r>
          </a:p>
          <a:p>
            <a:r>
              <a:rPr sz="600">
                <a:latin typeface="Calibri"/>
              </a:rPr>
              <a:t/>
            </a:r>
          </a:p>
          <a:p>
            <a:r>
              <a:rPr sz="1050">
                <a:solidFill>
                  <a:srgbClr val="F0F4F8"/>
                </a:solidFill>
                <a:latin typeface="Calibri"/>
              </a:rPr>
              <a:t>Free: Power BI Desktop (full analytics)</a:t>
            </a:r>
          </a:p>
          <a:p>
            <a:r>
              <a:rPr sz="1050">
                <a:solidFill>
                  <a:srgbClr val="F0F4F8"/>
                </a:solidFill>
                <a:latin typeface="Calibri"/>
              </a:rPr>
              <a:t>Paid: Power BI Service Pro (sharing + collaboration)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9</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POWER BI PART I</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Visual star diagram</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STAR SCHEMA</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THE STAR SCHEMA — DATA MODELLING STANDARD</a:t>
            </a:r>
          </a:p>
          <a:p>
            <a:r>
              <a:rPr sz="600">
                <a:latin typeface="Calibri"/>
              </a:rPr>
              <a:t/>
            </a:r>
          </a:p>
          <a:p>
            <a:r>
              <a:rPr sz="1000">
                <a:solidFill>
                  <a:srgbClr val="8BA5BE"/>
                </a:solidFill>
                <a:latin typeface="Calibri"/>
              </a:rPr>
              <a:t>      ◦  DimDate             DimProduct</a:t>
            </a:r>
          </a:p>
          <a:p>
            <a:r>
              <a:rPr sz="1000">
                <a:solidFill>
                  <a:srgbClr val="8BA5BE"/>
                </a:solidFill>
                <a:latin typeface="Calibri"/>
              </a:rPr>
              <a:t>      ◦  (Date, Month,        (Product, Category,</a:t>
            </a:r>
          </a:p>
          <a:p>
            <a:r>
              <a:rPr sz="1000">
                <a:solidFill>
                  <a:srgbClr val="8BA5BE"/>
                </a:solidFill>
                <a:latin typeface="Calibri"/>
              </a:rPr>
              <a:t>      ◦  Year, Quarter)       Brand, Cost Price)</a:t>
            </a:r>
          </a:p>
          <a:p>
            <a:r>
              <a:rPr sz="1000">
                <a:solidFill>
                  <a:srgbClr val="8BA5BE"/>
                </a:solidFill>
                <a:latin typeface="Calibri"/>
              </a:rPr>
              <a:t>      ◦  \                   /</a:t>
            </a:r>
          </a:p>
          <a:p>
            <a:r>
              <a:rPr sz="1000">
                <a:solidFill>
                  <a:srgbClr val="8BA5BE"/>
                </a:solidFill>
                <a:latin typeface="Calibri"/>
              </a:rPr>
              <a:t>      ◦  \                 /</a:t>
            </a:r>
          </a:p>
          <a:p>
            <a:r>
              <a:rPr sz="1000">
                <a:solidFill>
                  <a:srgbClr val="8BA5BE"/>
                </a:solidFill>
                <a:latin typeface="Calibri"/>
              </a:rPr>
              <a:t>      ◦  DimCustomer ──── FactSales ──── DimStore</a:t>
            </a:r>
          </a:p>
          <a:p>
            <a:r>
              <a:rPr sz="1000">
                <a:solidFill>
                  <a:srgbClr val="8BA5BE"/>
                </a:solidFill>
                <a:latin typeface="Calibri"/>
              </a:rPr>
              <a:t>      ◦  (Name, State,   (date_key,     (Store, City,</a:t>
            </a:r>
          </a:p>
          <a:p>
            <a:r>
              <a:rPr sz="1000">
                <a:solidFill>
                  <a:srgbClr val="8BA5BE"/>
                </a:solidFill>
                <a:latin typeface="Calibri"/>
              </a:rPr>
              <a:t>      ◦  Tier, Source)   product_key,   Region)</a:t>
            </a:r>
          </a:p>
          <a:p>
            <a:r>
              <a:rPr sz="1000">
                <a:solidFill>
                  <a:srgbClr val="8BA5BE"/>
                </a:solidFill>
                <a:latin typeface="Calibri"/>
              </a:rPr>
              <a:t>      ◦  customer_key,</a:t>
            </a:r>
          </a:p>
          <a:p>
            <a:r>
              <a:rPr sz="1000">
                <a:solidFill>
                  <a:srgbClr val="8BA5BE"/>
                </a:solidFill>
                <a:latin typeface="Calibri"/>
              </a:rPr>
              <a:t>      ◦  revenue,        \</a:t>
            </a:r>
          </a:p>
          <a:p>
            <a:r>
              <a:rPr sz="1000">
                <a:solidFill>
                  <a:srgbClr val="8BA5BE"/>
                </a:solidFill>
                <a:latin typeface="Calibri"/>
              </a:rPr>
              <a:t>      ◦  quantity)   DimPromotion</a:t>
            </a:r>
          </a:p>
          <a:p>
            <a:r>
              <a:rPr sz="1000">
                <a:solidFill>
                  <a:srgbClr val="8BA5BE"/>
                </a:solidFill>
                <a:latin typeface="Calibri"/>
              </a:rPr>
              <a:t>      ◦  (Campaign, Type)</a:t>
            </a:r>
          </a:p>
          <a:p>
            <a:r>
              <a:rPr sz="600">
                <a:latin typeface="Calibri"/>
              </a:rPr>
              <a:t/>
            </a:r>
          </a:p>
          <a:p>
            <a:r>
              <a:rPr sz="1200" b="1">
                <a:solidFill>
                  <a:srgbClr val="00C2D4"/>
                </a:solidFill>
                <a:latin typeface="Calibri"/>
              </a:rPr>
              <a:t>WHY THIS MATTERS:</a:t>
            </a:r>
          </a:p>
          <a:p>
            <a:r>
              <a:rPr sz="1050">
                <a:solidFill>
                  <a:srgbClr val="F0F4F8"/>
                </a:solidFill>
                <a:latin typeface="Calibri"/>
              </a:rPr>
              <a:t>  •  Power BI is optimised for star schema</a:t>
            </a:r>
          </a:p>
          <a:p>
            <a:r>
              <a:rPr sz="1050">
                <a:solidFill>
                  <a:srgbClr val="F0F4F8"/>
                </a:solidFill>
                <a:latin typeface="Calibri"/>
              </a:rPr>
              <a:t>  •  Cleaner DAX formulas</a:t>
            </a:r>
          </a:p>
          <a:p>
            <a:r>
              <a:rPr sz="1050">
                <a:solidFill>
                  <a:srgbClr val="F0F4F8"/>
                </a:solidFill>
                <a:latin typeface="Calibri"/>
              </a:rPr>
              <a:t>  •  Faster queries on large data</a:t>
            </a:r>
          </a:p>
          <a:p>
            <a:r>
              <a:rPr sz="1050">
                <a:solidFill>
                  <a:srgbClr val="F0F4F8"/>
                </a:solidFill>
                <a:latin typeface="Calibri"/>
              </a:rPr>
              <a:t>  •  Every professional BI report uses this structure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9</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POWER BI PART I</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2×4 grid of visual thumbnails, each labelled with the visual type and when to use it</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8 ESSENTIAL POWER BI VISUALS</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8 VISUALS EVERY ANALYST MUST KNOW</a:t>
            </a:r>
          </a:p>
          <a:p>
            <a:r>
              <a:rPr sz="600">
                <a:latin typeface="Calibri"/>
              </a:rPr>
              <a:t/>
            </a:r>
          </a:p>
          <a:p>
            <a:r>
              <a:rPr sz="1050">
                <a:solidFill>
                  <a:srgbClr val="F0F4F8"/>
                </a:solidFill>
                <a:latin typeface="Calibri"/>
              </a:rPr>
              <a:t>[BAR/COLUMN]     [LINE CHART]     [CARD]          [TABLE]</a:t>
            </a:r>
          </a:p>
          <a:p>
            <a:r>
              <a:rPr sz="1050">
                <a:solidFill>
                  <a:srgbClr val="F0F4F8"/>
                </a:solidFill>
                <a:latin typeface="Calibri"/>
              </a:rPr>
              <a:t>Compare          Trend over       Single KPI      Detailed rows</a:t>
            </a:r>
          </a:p>
          <a:p>
            <a:r>
              <a:rPr sz="1050">
                <a:solidFill>
                  <a:srgbClr val="F0F4F8"/>
                </a:solidFill>
                <a:latin typeface="Calibri"/>
              </a:rPr>
              <a:t>categories       time             "₦4.2B"         with multiple</a:t>
            </a:r>
          </a:p>
          <a:p>
            <a:r>
              <a:rPr sz="1050">
                <a:solidFill>
                  <a:srgbClr val="F0F4F8"/>
                </a:solidFill>
                <a:latin typeface="Calibri"/>
              </a:rPr>
              <a:t>Ranking          Revenue          Total Revenue   columns</a:t>
            </a:r>
          </a:p>
          <a:p>
            <a:r>
              <a:rPr sz="1000">
                <a:solidFill>
                  <a:srgbClr val="8BA5BE"/>
                </a:solidFill>
                <a:latin typeface="Calibri"/>
              </a:rPr>
              <a:t>      ◦  growth</a:t>
            </a:r>
          </a:p>
          <a:p>
            <a:r>
              <a:rPr sz="600">
                <a:latin typeface="Calibri"/>
              </a:rPr>
              <a:t/>
            </a:r>
          </a:p>
          <a:p>
            <a:r>
              <a:rPr sz="1050">
                <a:solidFill>
                  <a:srgbClr val="F0F4F8"/>
                </a:solidFill>
                <a:latin typeface="Calibri"/>
              </a:rPr>
              <a:t>[MATRIX]         [SLICER]         [MAP]           [KPI]</a:t>
            </a:r>
          </a:p>
          <a:p>
            <a:r>
              <a:rPr sz="1050">
                <a:solidFill>
                  <a:srgbClr val="F0F4F8"/>
                </a:solidFill>
                <a:latin typeface="Calibri"/>
              </a:rPr>
              <a:t>Cross-tab        Filter control   Geographic      Actual vs</a:t>
            </a:r>
          </a:p>
          <a:p>
            <a:r>
              <a:rPr sz="1050">
                <a:solidFill>
                  <a:srgbClr val="F0F4F8"/>
                </a:solidFill>
                <a:latin typeface="Calibri"/>
              </a:rPr>
              <a:t>Product×Region   Users click      data by state   Target</a:t>
            </a:r>
          </a:p>
          <a:p>
            <a:r>
              <a:rPr sz="1050">
                <a:solidFill>
                  <a:srgbClr val="F0F4F8"/>
                </a:solidFill>
                <a:latin typeface="Calibri"/>
              </a:rPr>
              <a:t>Revenue          to filter                        ↑ Above goal</a:t>
            </a:r>
          </a:p>
          <a:p>
            <a:r>
              <a:rPr sz="1000">
                <a:solidFill>
                  <a:srgbClr val="8BA5BE"/>
                </a:solidFill>
                <a:latin typeface="Calibri"/>
              </a:rPr>
              <a:t>      ◦  the page                         ↓ Below goal</a:t>
            </a:r>
          </a:p>
          <a:p>
            <a:r>
              <a:rPr sz="600">
                <a:latin typeface="Calibri"/>
              </a:rPr>
              <a:t/>
            </a:r>
          </a:p>
          <a:p>
            <a:r>
              <a:rPr sz="1050">
                <a:solidFill>
                  <a:srgbClr val="F0F4F8"/>
                </a:solidFill>
                <a:latin typeface="Calibri"/>
              </a:rPr>
              <a:t>DESIGN RULE: One question per dashboard page.</a:t>
            </a:r>
          </a:p>
          <a:p>
            <a:r>
              <a:rPr sz="1050">
                <a:solidFill>
                  <a:srgbClr val="F0F4F8"/>
                </a:solidFill>
                <a:latin typeface="Calibri"/>
              </a:rPr>
              <a:t>Not twelve. One. What is the page answering?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10</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00C2D4"/>
                </a:solidFill>
                <a:latin typeface="Calibri"/>
              </a:rPr>
              <a:t>MOD 10</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10 OPENER: POWER BI PART II</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00C2D4"/>
                </a:solidFill>
                <a:latin typeface="Calibri"/>
              </a:rPr>
              <a:t>LEVEL: PROFESSIONAL</a:t>
            </a:r>
          </a:p>
          <a:p>
            <a:r>
              <a:rPr sz="1300" b="1">
                <a:solidFill>
                  <a:srgbClr val="00C2D4"/>
                </a:solidFill>
                <a:latin typeface="Calibri"/>
              </a:rPr>
              <a:t>MODULE 10</a:t>
            </a:r>
          </a:p>
          <a:p>
            <a:r>
              <a:rPr sz="1300" b="1">
                <a:solidFill>
                  <a:srgbClr val="00C2D4"/>
                </a:solidFill>
                <a:latin typeface="Calibri"/>
              </a:rPr>
              <a:t>POWER BI PART II</a:t>
            </a:r>
          </a:p>
          <a:p>
            <a:r>
              <a:rPr sz="1100">
                <a:solidFill>
                  <a:srgbClr val="F0F4F8"/>
                </a:solidFill>
                <a:latin typeface="Calibri"/>
              </a:rPr>
              <a:t>"CALCULATE is the most important function</a:t>
            </a:r>
          </a:p>
          <a:p>
            <a:r>
              <a:rPr sz="1100">
                <a:solidFill>
                  <a:srgbClr val="F0F4F8"/>
                </a:solidFill>
                <a:latin typeface="Calibri"/>
              </a:rPr>
              <a:t>in Power BI. Master it and you can</a:t>
            </a:r>
          </a:p>
          <a:p>
            <a:r>
              <a:rPr sz="1100">
                <a:solidFill>
                  <a:srgbClr val="F0F4F8"/>
                </a:solidFill>
                <a:latin typeface="Calibri"/>
              </a:rPr>
              <a:t>answer almost any business question."</a:t>
            </a:r>
          </a:p>
          <a:p>
            <a:r>
              <a:rPr sz="1100">
                <a:solidFill>
                  <a:srgbClr val="F0F4F8"/>
                </a:solidFill>
                <a:latin typeface="Calibri"/>
              </a:rPr>
              <a:t>Calculated columns vs measures</a:t>
            </a:r>
          </a:p>
          <a:p>
            <a:r>
              <a:rPr sz="1100">
                <a:solidFill>
                  <a:srgbClr val="F0F4F8"/>
                </a:solidFill>
                <a:latin typeface="Calibri"/>
              </a:rPr>
              <a:t>DAX measure library · CALCULATE</a:t>
            </a:r>
          </a:p>
          <a:p>
            <a:r>
              <a:rPr sz="1100">
                <a:solidFill>
                  <a:srgbClr val="F0F4F8"/>
                </a:solidFill>
                <a:latin typeface="Calibri"/>
              </a:rPr>
              <a:t>Time intelligence · Bookmarks · Drill-through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10</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POWER BI PART II</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Two-column comparison</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CALCULATED COLUMNS VS MEASURES</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2200656" cy="365760"/>
          </a:xfrm>
          <a:prstGeom prst="rect">
            <a:avLst/>
          </a:prstGeom>
          <a:noFill/>
        </p:spPr>
        <p:txBody>
          <a:bodyPr wrap="square">
            <a:spAutoFit/>
          </a:bodyPr>
          <a:lstStyle/>
          <a:p>
            <a:pPr algn="l"/>
            <a:r>
              <a:rPr sz="1100" b="1" i="0">
                <a:solidFill>
                  <a:srgbClr val="00C2D4"/>
                </a:solidFill>
                <a:latin typeface="Calibri"/>
              </a:rPr>
              <a:t>CALCULATED COLUMN              MEASURE</a:t>
            </a:r>
          </a:p>
        </p:txBody>
      </p:sp>
      <p:sp>
        <p:nvSpPr>
          <p:cNvPr id="16" name="TextBox 15"/>
          <p:cNvSpPr txBox="1"/>
          <p:nvPr/>
        </p:nvSpPr>
        <p:spPr>
          <a:xfrm>
            <a:off x="4736592" y="1664208"/>
            <a:ext cx="2200656" cy="1207008"/>
          </a:xfrm>
          <a:prstGeom prst="rect">
            <a:avLst/>
          </a:prstGeom>
          <a:noFill/>
        </p:spPr>
        <p:txBody>
          <a:bodyPr wrap="square">
            <a:spAutoFit/>
          </a:bodyPr>
          <a:lstStyle/>
          <a:p>
            <a:pPr algn="l"/>
            <a:r>
              <a:rPr sz="950" b="0" i="0">
                <a:solidFill>
                  <a:srgbClr val="F0F4F8"/>
                </a:solidFill>
                <a:latin typeface="Calibri"/>
              </a:rPr>
              <a:t>──────────────────────         ────────────────────── Computed row-by-row            Computed in context</a:t>
            </a:r>
          </a:p>
        </p:txBody>
      </p:sp>
      <p:sp>
        <p:nvSpPr>
          <p:cNvPr id="17" name="Rectangle 16"/>
          <p:cNvSpPr/>
          <p:nvPr/>
        </p:nvSpPr>
        <p:spPr>
          <a:xfrm>
            <a:off x="715670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5670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6432" y="1298448"/>
            <a:ext cx="2200656" cy="365760"/>
          </a:xfrm>
          <a:prstGeom prst="rect">
            <a:avLst/>
          </a:prstGeom>
          <a:noFill/>
        </p:spPr>
        <p:txBody>
          <a:bodyPr wrap="square">
            <a:spAutoFit/>
          </a:bodyPr>
          <a:lstStyle/>
          <a:p>
            <a:pPr algn="l"/>
            <a:r>
              <a:rPr sz="1100" b="1" i="0">
                <a:solidFill>
                  <a:srgbClr val="F5A623"/>
                </a:solidFill>
                <a:latin typeface="Calibri"/>
              </a:rPr>
              <a:t>EXAMPLE:                       EXAMPLE:</a:t>
            </a:r>
          </a:p>
        </p:txBody>
      </p:sp>
      <p:sp>
        <p:nvSpPr>
          <p:cNvPr id="20" name="TextBox 19"/>
          <p:cNvSpPr txBox="1"/>
          <p:nvPr/>
        </p:nvSpPr>
        <p:spPr>
          <a:xfrm>
            <a:off x="7266432" y="1664208"/>
            <a:ext cx="2200656" cy="1207008"/>
          </a:xfrm>
          <a:prstGeom prst="rect">
            <a:avLst/>
          </a:prstGeom>
          <a:noFill/>
        </p:spPr>
        <p:txBody>
          <a:bodyPr wrap="square">
            <a:spAutoFit/>
          </a:bodyPr>
          <a:lstStyle/>
          <a:p>
            <a:pPr algn="l"/>
            <a:r>
              <a:rPr sz="950" b="0" i="0">
                <a:solidFill>
                  <a:srgbClr val="F0F4F8"/>
                </a:solidFill>
                <a:latin typeface="Calibri"/>
              </a:rPr>
              <a:t>Customer Tier =                Total Revenue = SWITCH(TRUE(),                 SUM(FactSales[Revenue]) Revenue &gt;= 5M, "Premium",</a:t>
            </a:r>
          </a:p>
        </p:txBody>
      </p:sp>
      <p:sp>
        <p:nvSpPr>
          <p:cNvPr id="21" name="Rectangle 20"/>
          <p:cNvSpPr/>
          <p:nvPr/>
        </p:nvSpPr>
        <p:spPr>
          <a:xfrm>
            <a:off x="968654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86544" y="1207008"/>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6272" y="1298448"/>
            <a:ext cx="2200656" cy="365760"/>
          </a:xfrm>
          <a:prstGeom prst="rect">
            <a:avLst/>
          </a:prstGeom>
          <a:noFill/>
        </p:spPr>
        <p:txBody>
          <a:bodyPr wrap="square">
            <a:spAutoFit/>
          </a:bodyPr>
          <a:lstStyle/>
          <a:p>
            <a:pPr algn="l"/>
            <a:r>
              <a:rPr sz="1100" b="1" i="0">
                <a:solidFill>
                  <a:srgbClr val="00B894"/>
                </a:solidFill>
                <a:latin typeface="Calibri"/>
              </a:rPr>
              <a:t>USE WHEN:                      USE WHEN:</a:t>
            </a:r>
          </a:p>
        </p:txBody>
      </p:sp>
      <p:sp>
        <p:nvSpPr>
          <p:cNvPr id="24" name="TextBox 23"/>
          <p:cNvSpPr txBox="1"/>
          <p:nvPr/>
        </p:nvSpPr>
        <p:spPr>
          <a:xfrm>
            <a:off x="9796272" y="1664208"/>
            <a:ext cx="2200656" cy="1207008"/>
          </a:xfrm>
          <a:prstGeom prst="rect">
            <a:avLst/>
          </a:prstGeom>
          <a:noFill/>
        </p:spPr>
        <p:txBody>
          <a:bodyPr wrap="square">
            <a:spAutoFit/>
          </a:bodyPr>
          <a:lstStyle/>
          <a:p>
            <a:pPr algn="l"/>
            <a:r>
              <a:rPr sz="950" b="0" i="0">
                <a:solidFill>
                  <a:srgbClr val="F0F4F8"/>
                </a:solidFill>
                <a:latin typeface="Calibri"/>
              </a:rPr>
              <a:t>It's a property of a row       It's a summary or aggregation Classification, date parts     Almost everything else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10</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POWER BI PART II</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Six measure cards arranged in a 2×3 grid</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DAX MEASURE LIBRARY</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ESSENTIAL DAX MEASURES</a:t>
            </a:r>
          </a:p>
          <a:p>
            <a:r>
              <a:rPr sz="600">
                <a:latin typeface="Calibri"/>
              </a:rPr>
              <a:t/>
            </a:r>
          </a:p>
          <a:p>
            <a:r>
              <a:rPr sz="1050">
                <a:solidFill>
                  <a:srgbClr val="F0F4F8"/>
                </a:solidFill>
                <a:latin typeface="Calibri"/>
              </a:rPr>
              <a:t>┌──────────────────────┐  ┌──────────────────────┐</a:t>
            </a:r>
          </a:p>
          <a:p>
            <a:r>
              <a:rPr sz="1050">
                <a:solidFill>
                  <a:srgbClr val="F0F4F8"/>
                </a:solidFill>
                <a:latin typeface="Calibri"/>
              </a:rPr>
              <a:t>│ TOTAL REVENUE        │  │ ACTIVE CUSTOMERS      │</a:t>
            </a:r>
          </a:p>
          <a:p>
            <a:r>
              <a:rPr sz="1050">
                <a:solidFill>
                  <a:srgbClr val="F0F4F8"/>
                </a:solidFill>
                <a:latin typeface="Calibri"/>
              </a:rPr>
              <a:t>│ SUM(FactSales        │  │ DISTINCTCOUNT(        │</a:t>
            </a:r>
          </a:p>
          <a:p>
            <a:r>
              <a:rPr sz="1050">
                <a:solidFill>
                  <a:srgbClr val="F0F4F8"/>
                </a:solidFill>
                <a:latin typeface="Calibri"/>
              </a:rPr>
              <a:t>│  [Revenue])          │  │  FactSales[cust_id])  │</a:t>
            </a:r>
          </a:p>
          <a:p>
            <a:r>
              <a:rPr sz="1050">
                <a:solidFill>
                  <a:srgbClr val="F0F4F8"/>
                </a:solidFill>
                <a:latin typeface="Calibri"/>
              </a:rPr>
              <a:t>└──────────────────────┘  └──────────────────────┘</a:t>
            </a:r>
          </a:p>
          <a:p>
            <a:r>
              <a:rPr sz="600">
                <a:latin typeface="Calibri"/>
              </a:rPr>
              <a:t/>
            </a:r>
          </a:p>
          <a:p>
            <a:r>
              <a:rPr sz="1050">
                <a:solidFill>
                  <a:srgbClr val="F0F4F8"/>
                </a:solidFill>
                <a:latin typeface="Calibri"/>
              </a:rPr>
              <a:t>┌──────────────────────┐  ┌──────────────────────┐</a:t>
            </a:r>
          </a:p>
          <a:p>
            <a:r>
              <a:rPr sz="1050">
                <a:solidFill>
                  <a:srgbClr val="F0F4F8"/>
                </a:solidFill>
                <a:latin typeface="Calibri"/>
              </a:rPr>
              <a:t>│ AVG ORDER VALUE      │  │ REVENUE SPLY          │</a:t>
            </a:r>
          </a:p>
          <a:p>
            <a:r>
              <a:rPr sz="1050">
                <a:solidFill>
                  <a:srgbClr val="F0F4F8"/>
                </a:solidFill>
                <a:latin typeface="Calibri"/>
              </a:rPr>
              <a:t>│ DIVIDE([Revenue],    │  │ CALCULATE([Revenue],  │</a:t>
            </a:r>
          </a:p>
          <a:p>
            <a:r>
              <a:rPr sz="1050">
                <a:solidFill>
                  <a:srgbClr val="F0F4F8"/>
                </a:solidFill>
                <a:latin typeface="Calibri"/>
              </a:rPr>
              <a:t>│  [Total Orders])     │  │  SAMEPERIODLASTYEAR   │</a:t>
            </a:r>
          </a:p>
          <a:p>
            <a:r>
              <a:rPr sz="1050">
                <a:solidFill>
                  <a:srgbClr val="F0F4F8"/>
                </a:solidFill>
                <a:latin typeface="Calibri"/>
              </a:rPr>
              <a:t>│                      │  │   (DimDate[Date]))    │</a:t>
            </a:r>
          </a:p>
          <a:p>
            <a:r>
              <a:rPr sz="1050">
                <a:solidFill>
                  <a:srgbClr val="F0F4F8"/>
                </a:solidFill>
                <a:latin typeface="Calibri"/>
              </a:rPr>
              <a:t>└──────────────────────┘  └──────────────────────┘</a:t>
            </a:r>
          </a:p>
          <a:p>
            <a:r>
              <a:rPr sz="600">
                <a:latin typeface="Calibri"/>
              </a:rPr>
              <a:t/>
            </a:r>
          </a:p>
          <a:p>
            <a:r>
              <a:rPr sz="1050">
                <a:solidFill>
                  <a:srgbClr val="F0F4F8"/>
                </a:solidFill>
                <a:latin typeface="Calibri"/>
              </a:rPr>
              <a:t>┌──────────────────────┐  ┌──────────────────────┐</a:t>
            </a:r>
          </a:p>
          <a:p>
            <a:r>
              <a:rPr sz="1050">
                <a:solidFill>
                  <a:srgbClr val="F0F4F8"/>
                </a:solidFill>
                <a:latin typeface="Calibri"/>
              </a:rPr>
              <a:t>│ YoY GROWTH %         │  │ REVENUE YTD           │</a:t>
            </a:r>
          </a:p>
          <a:p>
            <a:r>
              <a:rPr sz="1050">
                <a:solidFill>
                  <a:srgbClr val="F0F4F8"/>
                </a:solidFill>
                <a:latin typeface="Calibri"/>
              </a:rPr>
              <a:t>│ DIVIDE(              │  │ TOTALYTD(             │</a:t>
            </a:r>
          </a:p>
          <a:p>
            <a:r>
              <a:rPr sz="1050">
                <a:solidFill>
                  <a:srgbClr val="F0F4F8"/>
                </a:solidFill>
                <a:latin typeface="Calibri"/>
              </a:rPr>
              <a:t>│  [Rev]-[SPLY],[SPLY])│  │  [Revenue],           │</a:t>
            </a:r>
          </a:p>
          <a:p>
            <a:r>
              <a:rPr sz="1050">
                <a:solidFill>
                  <a:srgbClr val="F0F4F8"/>
                </a:solidFill>
                <a:latin typeface="Calibri"/>
              </a:rPr>
              <a:t>│                      │  │  DimDate[Date])       │</a:t>
            </a:r>
          </a:p>
          <a:p>
            <a:r>
              <a:rPr sz="1050">
                <a:solidFill>
                  <a:srgbClr val="F0F4F8"/>
                </a:solidFill>
                <a:latin typeface="Calibri"/>
              </a:rPr>
              <a:t>└──────────────────────┘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10</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POWER BI PART II</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Line chart showing revenue over 24 months</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TIME INTELLIGENCE VISUALISED</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TIME INTELLIGENCE IN PRACTICE</a:t>
            </a:r>
          </a:p>
          <a:p>
            <a:r>
              <a:rPr sz="600">
                <a:latin typeface="Calibri"/>
              </a:rPr>
              <a:t/>
            </a:r>
          </a:p>
          <a:p>
            <a:r>
              <a:rPr sz="1050">
                <a:solidFill>
                  <a:srgbClr val="F0F4F8"/>
                </a:solidFill>
                <a:latin typeface="Calibri"/>
              </a:rPr>
              <a:t>The most common executive question:</a:t>
            </a:r>
          </a:p>
          <a:p>
            <a:r>
              <a:rPr sz="1050">
                <a:solidFill>
                  <a:srgbClr val="F0F4F8"/>
                </a:solidFill>
                <a:latin typeface="Calibri"/>
              </a:rPr>
              <a:t>"How are we tracking vs last year?"</a:t>
            </a:r>
          </a:p>
          <a:p>
            <a:r>
              <a:rPr sz="600">
                <a:latin typeface="Calibri"/>
              </a:rPr>
              <a:t/>
            </a:r>
          </a:p>
          <a:p>
            <a:r>
              <a:rPr sz="1050">
                <a:solidFill>
                  <a:srgbClr val="F0F4F8"/>
                </a:solidFill>
                <a:latin typeface="Calibri"/>
              </a:rPr>
              <a:t>TOTALYTD     → Revenue from Jan 1 to today (cumulative)</a:t>
            </a:r>
          </a:p>
          <a:p>
            <a:r>
              <a:rPr sz="1050">
                <a:solidFill>
                  <a:srgbClr val="F0F4F8"/>
                </a:solidFill>
                <a:latin typeface="Calibri"/>
              </a:rPr>
              <a:t>SPLY         → Same period last year (comparison line)</a:t>
            </a:r>
          </a:p>
          <a:p>
            <a:r>
              <a:rPr sz="1050">
                <a:solidFill>
                  <a:srgbClr val="F0F4F8"/>
                </a:solidFill>
                <a:latin typeface="Calibri"/>
              </a:rPr>
              <a:t>YoY Growth % → The gap between them as a percentage</a:t>
            </a:r>
          </a:p>
          <a:p>
            <a:r>
              <a:rPr sz="600">
                <a:latin typeface="Calibri"/>
              </a:rPr>
              <a:t/>
            </a:r>
          </a:p>
          <a:p>
            <a:r>
              <a:rPr sz="1050">
                <a:solidFill>
                  <a:srgbClr val="F0F4F8"/>
                </a:solidFill>
                <a:latin typeface="Calibri"/>
              </a:rPr>
              <a:t>DATEADD      → Flexible period shifting</a:t>
            </a:r>
          </a:p>
          <a:p>
            <a:r>
              <a:rPr sz="1000">
                <a:solidFill>
                  <a:srgbClr val="8BA5BE"/>
                </a:solidFill>
                <a:latin typeface="Calibri"/>
              </a:rPr>
              <a:t>      ◦  DATEADD(Date, -1, MONTH) = Last month</a:t>
            </a:r>
          </a:p>
          <a:p>
            <a:r>
              <a:rPr sz="1000">
                <a:solidFill>
                  <a:srgbClr val="8BA5BE"/>
                </a:solidFill>
                <a:latin typeface="Calibri"/>
              </a:rPr>
              <a:t>      ◦  DATEADD(Date, -1, YEAR) = Last year same day</a:t>
            </a:r>
          </a:p>
          <a:p>
            <a:r>
              <a:rPr sz="600">
                <a:latin typeface="Calibri"/>
              </a:rPr>
              <a:t/>
            </a:r>
          </a:p>
          <a:p>
            <a:r>
              <a:rPr sz="1050">
                <a:solidFill>
                  <a:srgbClr val="F0F4F8"/>
                </a:solidFill>
                <a:latin typeface="Calibri"/>
              </a:rPr>
              <a:t>Rolling 3M   → 3-month average smooths out seasonal spikes</a:t>
            </a:r>
          </a:p>
          <a:p>
            <a:r>
              <a:rPr sz="1000">
                <a:solidFill>
                  <a:srgbClr val="8BA5BE"/>
                </a:solidFill>
                <a:latin typeface="Calibri"/>
              </a:rPr>
              <a:t>      ◦  DATESINPERIOD(Date, LASTDATE(Date), -3, MONTH)</a:t>
            </a:r>
          </a:p>
          <a:p>
            <a:r>
              <a:rPr sz="600">
                <a:latin typeface="Calibri"/>
              </a:rPr>
              <a:t/>
            </a:r>
          </a:p>
          <a:p>
            <a:r>
              <a:rPr sz="1050">
                <a:solidFill>
                  <a:srgbClr val="F0F4F8"/>
                </a:solidFill>
                <a:latin typeface="Calibri"/>
              </a:rPr>
              <a:t>Every board-level dashboard has at least one of these.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11</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00C2D4"/>
                </a:solidFill>
                <a:latin typeface="Calibri"/>
              </a:rPr>
              <a:t>MOD 11</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11 OPENER: STATISTICS &amp; PREDICTION</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00C2D4"/>
                </a:solidFill>
                <a:latin typeface="Calibri"/>
              </a:rPr>
              <a:t>LEVEL: PROFESSIONAL</a:t>
            </a:r>
          </a:p>
          <a:p>
            <a:r>
              <a:rPr sz="1300" b="1">
                <a:solidFill>
                  <a:srgbClr val="00C2D4"/>
                </a:solidFill>
                <a:latin typeface="Calibri"/>
              </a:rPr>
              <a:t>MODULE 11</a:t>
            </a:r>
          </a:p>
          <a:p>
            <a:r>
              <a:rPr sz="1300" b="1">
                <a:solidFill>
                  <a:srgbClr val="00C2D4"/>
                </a:solidFill>
                <a:latin typeface="Calibri"/>
              </a:rPr>
              <a:t>STATISTICS &amp;</a:t>
            </a:r>
          </a:p>
          <a:p>
            <a:r>
              <a:rPr sz="1300" b="1">
                <a:solidFill>
                  <a:srgbClr val="00C2D4"/>
                </a:solidFill>
                <a:latin typeface="Calibri"/>
              </a:rPr>
              <a:t>PREDICTIVE ANALYTICS</a:t>
            </a:r>
          </a:p>
          <a:p>
            <a:r>
              <a:rPr sz="1100">
                <a:solidFill>
                  <a:srgbClr val="F0F4F8"/>
                </a:solidFill>
                <a:latin typeface="Calibri"/>
              </a:rPr>
              <a:t>"Statistics is the grammar of data.</a:t>
            </a:r>
          </a:p>
          <a:p>
            <a:r>
              <a:rPr sz="1100">
                <a:solidFill>
                  <a:srgbClr val="F0F4F8"/>
                </a:solidFill>
                <a:latin typeface="Calibri"/>
              </a:rPr>
              <a:t>Without it, you can describe.</a:t>
            </a:r>
          </a:p>
          <a:p>
            <a:r>
              <a:rPr sz="1100">
                <a:solidFill>
                  <a:srgbClr val="F0F4F8"/>
                </a:solidFill>
                <a:latin typeface="Calibri"/>
              </a:rPr>
              <a:t>With it, you can prove."</a:t>
            </a:r>
          </a:p>
          <a:p>
            <a:r>
              <a:rPr sz="1100">
                <a:solidFill>
                  <a:srgbClr val="F0F4F8"/>
                </a:solidFill>
                <a:latin typeface="Calibri"/>
              </a:rPr>
              <a:t>Descriptive stats · Distributions</a:t>
            </a:r>
          </a:p>
          <a:p>
            <a:r>
              <a:rPr sz="1100">
                <a:solidFill>
                  <a:srgbClr val="F0F4F8"/>
                </a:solidFill>
                <a:latin typeface="Calibri"/>
              </a:rPr>
              <a:t>Hypothesis testing · Correlation</a:t>
            </a:r>
          </a:p>
          <a:p>
            <a:r>
              <a:rPr sz="1100">
                <a:solidFill>
                  <a:srgbClr val="F0F4F8"/>
                </a:solidFill>
                <a:latin typeface="Calibri"/>
              </a:rPr>
              <a:t>Linear regression · RFM segmentation</a:t>
            </a:r>
          </a:p>
          <a:p>
            <a:r>
              <a:rPr sz="1100">
                <a:solidFill>
                  <a:srgbClr val="F0F4F8"/>
                </a:solidFill>
                <a:latin typeface="Calibri"/>
              </a:rPr>
              <a:t>Introduction to machine learning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STATISTICS &amp; PREDICTION</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Three scatter plots</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CORRELATION IS NOT CAUSATION</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2200656" cy="365760"/>
          </a:xfrm>
          <a:prstGeom prst="rect">
            <a:avLst/>
          </a:prstGeom>
          <a:noFill/>
        </p:spPr>
        <p:txBody>
          <a:bodyPr wrap="square">
            <a:spAutoFit/>
          </a:bodyPr>
          <a:lstStyle/>
          <a:p>
            <a:pPr algn="l"/>
            <a:r>
              <a:rPr sz="1100" b="1" i="0">
                <a:solidFill>
                  <a:srgbClr val="00C2D4"/>
                </a:solidFill>
                <a:latin typeface="Calibri"/>
              </a:rPr>
              <a:t>ICE CREAM SALES       DROWNING INCIDENTS</a:t>
            </a:r>
          </a:p>
        </p:txBody>
      </p:sp>
      <p:sp>
        <p:nvSpPr>
          <p:cNvPr id="16" name="TextBox 15"/>
          <p:cNvSpPr txBox="1"/>
          <p:nvPr/>
        </p:nvSpPr>
        <p:spPr>
          <a:xfrm>
            <a:off x="4736592" y="1664208"/>
            <a:ext cx="2200656" cy="1207008"/>
          </a:xfrm>
          <a:prstGeom prst="rect">
            <a:avLst/>
          </a:prstGeom>
          <a:noFill/>
        </p:spPr>
        <p:txBody>
          <a:bodyPr wrap="square">
            <a:spAutoFit/>
          </a:bodyPr>
          <a:lstStyle/>
          <a:p>
            <a:pPr algn="l"/>
            <a:r>
              <a:rPr sz="950" b="0" i="0">
                <a:solidFill>
                  <a:srgbClr val="F0F4F8"/>
                </a:solidFill>
                <a:latin typeface="Calibri"/>
              </a:rPr>
              <a:t>correlate with → in Nigerian coastal states R² = 0.74 (strong correlation!)</a:t>
            </a:r>
          </a:p>
        </p:txBody>
      </p:sp>
      <p:sp>
        <p:nvSpPr>
          <p:cNvPr id="17" name="Rectangle 16"/>
          <p:cNvSpPr/>
          <p:nvPr/>
        </p:nvSpPr>
        <p:spPr>
          <a:xfrm>
            <a:off x="715670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5670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6432" y="1298448"/>
            <a:ext cx="2200656" cy="365760"/>
          </a:xfrm>
          <a:prstGeom prst="rect">
            <a:avLst/>
          </a:prstGeom>
          <a:noFill/>
        </p:spPr>
        <p:txBody>
          <a:bodyPr wrap="square">
            <a:spAutoFit/>
          </a:bodyPr>
          <a:lstStyle/>
          <a:p>
            <a:pPr algn="l"/>
            <a:r>
              <a:rPr sz="1100" b="1" i="0">
                <a:solidFill>
                  <a:srgbClr val="F5A623"/>
                </a:solidFill>
                <a:latin typeface="Calibri"/>
              </a:rPr>
              <a:t>TO ESTABLISH CAUSATION YOU NEED:</a:t>
            </a:r>
          </a:p>
        </p:txBody>
      </p:sp>
      <p:sp>
        <p:nvSpPr>
          <p:cNvPr id="20" name="TextBox 19"/>
          <p:cNvSpPr txBox="1"/>
          <p:nvPr/>
        </p:nvSpPr>
        <p:spPr>
          <a:xfrm>
            <a:off x="7266432" y="1664208"/>
            <a:ext cx="2200656" cy="1207008"/>
          </a:xfrm>
          <a:prstGeom prst="rect">
            <a:avLst/>
          </a:prstGeom>
          <a:noFill/>
        </p:spPr>
        <p:txBody>
          <a:bodyPr wrap="square">
            <a:spAutoFit/>
          </a:bodyPr>
          <a:lstStyle/>
          <a:p>
            <a:pPr algn="l"/>
            <a:r>
              <a:rPr sz="950" b="0" i="0">
                <a:solidFill>
                  <a:srgbClr val="F0F4F8"/>
                </a:solidFill>
                <a:latin typeface="Calibri"/>
              </a:rPr>
              <a:t>1. Correlation (the numbers move together) 2. Time order (cause must come before effect) 3. Elimination of alternatives (rule out confounds)</a:t>
            </a:r>
          </a:p>
        </p:txBody>
      </p:sp>
      <p:sp>
        <p:nvSpPr>
          <p:cNvPr id="21" name="Rectangle 20"/>
          <p:cNvSpPr/>
          <p:nvPr/>
        </p:nvSpPr>
        <p:spPr>
          <a:xfrm>
            <a:off x="968654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86544" y="1207008"/>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627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4" name="TextBox 23"/>
          <p:cNvSpPr txBox="1"/>
          <p:nvPr/>
        </p:nvSpPr>
        <p:spPr>
          <a:xfrm>
            <a:off x="10180320" y="1298448"/>
            <a:ext cx="1816608" cy="365760"/>
          </a:xfrm>
          <a:prstGeom prst="rect">
            <a:avLst/>
          </a:prstGeom>
          <a:noFill/>
        </p:spPr>
        <p:txBody>
          <a:bodyPr wrap="square">
            <a:spAutoFit/>
          </a:bodyPr>
          <a:lstStyle/>
          <a:p>
            <a:pPr algn="l"/>
            <a:r>
              <a:rPr sz="1100" b="1" i="0">
                <a:solidFill>
                  <a:srgbClr val="00B894"/>
                </a:solidFill>
                <a:latin typeface="Calibri"/>
              </a:rPr>
              <a:t>You don't need causal proof to target those customers.</a:t>
            </a:r>
          </a:p>
        </p:txBody>
      </p:sp>
      <p:sp>
        <p:nvSpPr>
          <p:cNvPr id="25" name="TextBox 24"/>
          <p:cNvSpPr txBox="1"/>
          <p:nvPr/>
        </p:nvSpPr>
        <p:spPr>
          <a:xfrm>
            <a:off x="9796272" y="1664208"/>
            <a:ext cx="2200656" cy="1207008"/>
          </a:xfrm>
          <a:prstGeom prst="rect">
            <a:avLst/>
          </a:prstGeom>
          <a:noFill/>
        </p:spPr>
        <p:txBody>
          <a:bodyPr wrap="square">
            <a:spAutoFit/>
          </a:bodyPr>
          <a:lstStyle/>
          <a:p>
            <a:pPr algn="l"/>
            <a:r>
              <a:rPr sz="950" b="0" i="0">
                <a:solidFill>
                  <a:srgbClr val="F0F4F8"/>
                </a:solidFill>
                <a:latin typeface="Calibri"/>
              </a:rPr>
              <a:t>You don't need causal proof to target those customers.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11</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STATISTICS &amp; PREDICTION</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A/B test scenario</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HYPOTHESIS TESTING — SIMPLIFIED</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HYPOTHESIS TESTING — IS IT REAL OR RANDOM?</a:t>
            </a:r>
          </a:p>
          <a:p>
            <a:r>
              <a:rPr sz="600">
                <a:latin typeface="Calibri"/>
              </a:rPr>
              <a:t/>
            </a:r>
          </a:p>
          <a:p>
            <a:r>
              <a:rPr sz="1050">
                <a:solidFill>
                  <a:srgbClr val="F0F4F8"/>
                </a:solidFill>
                <a:latin typeface="Calibri"/>
              </a:rPr>
              <a:t>Scenario: We changed the app button from grey to green.</a:t>
            </a:r>
          </a:p>
          <a:p>
            <a:r>
              <a:rPr sz="1050">
                <a:solidFill>
                  <a:srgbClr val="F0F4F8"/>
                </a:solidFill>
                <a:latin typeface="Calibri"/>
              </a:rPr>
              <a:t>Conversion went from 3.2% → 3.8%.</a:t>
            </a:r>
          </a:p>
          <a:p>
            <a:r>
              <a:rPr sz="1050">
                <a:solidFill>
                  <a:srgbClr val="F0F4F8"/>
                </a:solidFill>
                <a:latin typeface="Calibri"/>
              </a:rPr>
              <a:t>Is this real? Or just luck?</a:t>
            </a:r>
          </a:p>
          <a:p>
            <a:r>
              <a:rPr sz="600">
                <a:latin typeface="Calibri"/>
              </a:rPr>
              <a:t/>
            </a:r>
          </a:p>
          <a:p>
            <a:r>
              <a:rPr sz="1050">
                <a:solidFill>
                  <a:srgbClr val="F0F4F8"/>
                </a:solidFill>
                <a:latin typeface="Calibri"/>
              </a:rPr>
              <a:t>H₀ (Null): Button colour has no effect. Difference is random.</a:t>
            </a:r>
          </a:p>
          <a:p>
            <a:r>
              <a:rPr sz="1050">
                <a:solidFill>
                  <a:srgbClr val="F0F4F8"/>
                </a:solidFill>
                <a:latin typeface="Calibri"/>
              </a:rPr>
              <a:t>H₁ (Alternative): Green button genuinely converts better.</a:t>
            </a:r>
          </a:p>
          <a:p>
            <a:r>
              <a:rPr sz="600">
                <a:latin typeface="Calibri"/>
              </a:rPr>
              <a:t/>
            </a:r>
          </a:p>
          <a:p>
            <a:r>
              <a:rPr sz="1050">
                <a:solidFill>
                  <a:srgbClr val="F0F4F8"/>
                </a:solidFill>
                <a:latin typeface="Calibri"/>
              </a:rPr>
              <a:t>Run a t-test. Result: p = 0.02</a:t>
            </a:r>
          </a:p>
          <a:p>
            <a:r>
              <a:rPr sz="600">
                <a:latin typeface="Calibri"/>
              </a:rPr>
              <a:t/>
            </a:r>
          </a:p>
          <a:p>
            <a:r>
              <a:rPr sz="1050">
                <a:solidFill>
                  <a:srgbClr val="F0F4F8"/>
                </a:solidFill>
                <a:latin typeface="Calibri"/>
              </a:rPr>
              <a:t>p &lt; 0.05 = Less than 5% chance this is random</a:t>
            </a:r>
          </a:p>
          <a:p>
            <a:r>
              <a:rPr sz="1050">
                <a:solidFill>
                  <a:srgbClr val="F0F4F8"/>
                </a:solidFill>
                <a:latin typeface="Calibri"/>
              </a:rPr>
              <a:t>  •  REJECT H₀ → The green button really works → Launch it</a:t>
            </a:r>
          </a:p>
          <a:p>
            <a:r>
              <a:rPr sz="600">
                <a:latin typeface="Calibri"/>
              </a:rPr>
              <a:t/>
            </a:r>
          </a:p>
          <a:p>
            <a:r>
              <a:rPr sz="1050">
                <a:solidFill>
                  <a:srgbClr val="F0F4F8"/>
                </a:solidFill>
                <a:latin typeface="Calibri"/>
              </a:rPr>
              <a:t>p &gt; 0.05 = Could be random → Don't launch yet → Get more data</a:t>
            </a:r>
          </a:p>
          <a:p>
            <a:r>
              <a:rPr sz="600">
                <a:latin typeface="Calibri"/>
              </a:rPr>
              <a:t/>
            </a:r>
          </a:p>
          <a:p>
            <a:r>
              <a:rPr sz="1000">
                <a:solidFill>
                  <a:srgbClr val="FF8080"/>
                </a:solidFill>
                <a:latin typeface="Calibri"/>
              </a:rPr>
              <a:t>⚠  STATISTICAL SIGNIFICANCE ≠ PRACTICAL SIGNIFICANCE</a:t>
            </a:r>
          </a:p>
          <a:p>
            <a:r>
              <a:rPr sz="1000">
                <a:solidFill>
                  <a:srgbClr val="8BA5BE"/>
                </a:solidFill>
                <a:latin typeface="Calibri"/>
              </a:rPr>
              <a:t>      ◦  p = 0.001 and a 0.01% improvement = significant but useless</a:t>
            </a:r>
          </a:p>
          <a:p>
            <a:r>
              <a:rPr sz="1000">
                <a:solidFill>
                  <a:srgbClr val="8BA5BE"/>
                </a:solidFill>
                <a:latin typeface="Calibri"/>
              </a:rPr>
              <a:t>      ◦  Business case matters as much as the p-value.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8" name="TextBox 7"/>
          <p:cNvSpPr txBox="1"/>
          <p:nvPr/>
        </p:nvSpPr>
        <p:spPr>
          <a:xfrm>
            <a:off x="0" y="0"/>
            <a:ext cx="4297680" cy="5029200"/>
          </a:xfrm>
          <a:prstGeom prst="rect">
            <a:avLst/>
          </a:prstGeom>
          <a:noFill/>
        </p:spPr>
        <p:txBody>
          <a:bodyPr wrap="square">
            <a:spAutoFit/>
          </a:bodyPr>
          <a:lstStyle/>
          <a:p>
            <a:pPr algn="l"/>
            <a:r>
              <a:rPr sz="16000" b="1" i="0">
                <a:solidFill>
                  <a:srgbClr val="1A3350"/>
                </a:solidFill>
                <a:latin typeface="Calibri"/>
              </a:rPr>
              <a:t>12</a:t>
            </a:r>
          </a:p>
        </p:txBody>
      </p:sp>
      <p:sp>
        <p:nvSpPr>
          <p:cNvPr id="9" name="TextBox 8"/>
          <p:cNvSpPr txBox="1"/>
          <p:nvPr/>
        </p:nvSpPr>
        <p:spPr>
          <a:xfrm>
            <a:off x="274320" y="1097280"/>
            <a:ext cx="3931920" cy="548640"/>
          </a:xfrm>
          <a:prstGeom prst="rect">
            <a:avLst/>
          </a:prstGeom>
          <a:noFill/>
        </p:spPr>
        <p:txBody>
          <a:bodyPr wrap="square">
            <a:spAutoFit/>
          </a:bodyPr>
          <a:lstStyle/>
          <a:p>
            <a:pPr algn="l"/>
            <a:r>
              <a:rPr sz="1600" b="1" i="0">
                <a:solidFill>
                  <a:srgbClr val="00C2D4"/>
                </a:solidFill>
                <a:latin typeface="Calibri"/>
              </a:rPr>
              <a:t>MOD 12</a:t>
            </a:r>
          </a:p>
        </p:txBody>
      </p:sp>
      <p:sp>
        <p:nvSpPr>
          <p:cNvPr id="10" name="TextBox 9"/>
          <p:cNvSpPr txBox="1"/>
          <p:nvPr/>
        </p:nvSpPr>
        <p:spPr>
          <a:xfrm>
            <a:off x="274320" y="1828800"/>
            <a:ext cx="3931920" cy="3657600"/>
          </a:xfrm>
          <a:prstGeom prst="rect">
            <a:avLst/>
          </a:prstGeom>
          <a:noFill/>
        </p:spPr>
        <p:txBody>
          <a:bodyPr wrap="square">
            <a:spAutoFit/>
          </a:bodyPr>
          <a:lstStyle/>
          <a:p>
            <a:pPr algn="l"/>
            <a:r>
              <a:rPr sz="3000" b="1" i="0">
                <a:solidFill>
                  <a:srgbClr val="FFFFFF"/>
                </a:solidFill>
                <a:latin typeface="Calibri"/>
              </a:rPr>
              <a:t>MODULE 12 OPENER: ANALYTICS IN PRACTICE</a:t>
            </a:r>
          </a:p>
        </p:txBody>
      </p:sp>
      <p:sp>
        <p:nvSpPr>
          <p:cNvPr id="11" name="TextBox 10"/>
          <p:cNvSpPr txBox="1"/>
          <p:nvPr/>
        </p:nvSpPr>
        <p:spPr>
          <a:xfrm>
            <a:off x="4672584" y="521208"/>
            <a:ext cx="7379208" cy="5303520"/>
          </a:xfrm>
          <a:prstGeom prst="rect">
            <a:avLst/>
          </a:prstGeom>
          <a:noFill/>
        </p:spPr>
        <p:txBody>
          <a:bodyPr wrap="square">
            <a:spAutoFit/>
          </a:bodyPr>
          <a:lstStyle/>
          <a:p>
            <a:r>
              <a:rPr sz="1300" b="1">
                <a:solidFill>
                  <a:srgbClr val="00C2D4"/>
                </a:solidFill>
                <a:latin typeface="Calibri"/>
              </a:rPr>
              <a:t>LEVEL: PROFESSIONAL</a:t>
            </a:r>
          </a:p>
          <a:p>
            <a:r>
              <a:rPr sz="1300" b="1">
                <a:solidFill>
                  <a:srgbClr val="00C2D4"/>
                </a:solidFill>
                <a:latin typeface="Calibri"/>
              </a:rPr>
              <a:t>MODULE 12</a:t>
            </a:r>
          </a:p>
          <a:p>
            <a:r>
              <a:rPr sz="1300" b="1">
                <a:solidFill>
                  <a:srgbClr val="00C2D4"/>
                </a:solidFill>
                <a:latin typeface="Calibri"/>
              </a:rPr>
              <a:t>ANALYTICS IN PRACTICE</a:t>
            </a:r>
          </a:p>
          <a:p>
            <a:r>
              <a:rPr sz="1100">
                <a:solidFill>
                  <a:srgbClr val="F0F4F8"/>
                </a:solidFill>
                <a:latin typeface="Calibri"/>
              </a:rPr>
              <a:t>"You now have the technical skills.</a:t>
            </a:r>
          </a:p>
          <a:p>
            <a:r>
              <a:rPr sz="1100">
                <a:solidFill>
                  <a:srgbClr val="F0F4F8"/>
                </a:solidFill>
                <a:latin typeface="Calibri"/>
              </a:rPr>
              <a:t>The final 20% — the part that determines</a:t>
            </a:r>
          </a:p>
          <a:p>
            <a:r>
              <a:rPr sz="1100">
                <a:solidFill>
                  <a:srgbClr val="F0F4F8"/>
                </a:solidFill>
                <a:latin typeface="Calibri"/>
              </a:rPr>
              <a:t>your salary ceiling — is everything else."</a:t>
            </a:r>
          </a:p>
          <a:p>
            <a:r>
              <a:rPr sz="1100">
                <a:solidFill>
                  <a:srgbClr val="F0F4F8"/>
                </a:solidFill>
                <a:latin typeface="Calibri"/>
              </a:rPr>
              <a:t>The realistic workflow · Stakeholder communication</a:t>
            </a:r>
          </a:p>
          <a:p>
            <a:r>
              <a:rPr sz="1100">
                <a:solidFill>
                  <a:srgbClr val="F0F4F8"/>
                </a:solidFill>
                <a:latin typeface="Calibri"/>
              </a:rPr>
              <a:t>Pyramid Principle · Data ethics · NDPA 2023</a:t>
            </a:r>
          </a:p>
          <a:p>
            <a:r>
              <a:rPr sz="1100">
                <a:solidFill>
                  <a:srgbClr val="F0F4F8"/>
                </a:solidFill>
                <a:latin typeface="Calibri"/>
              </a:rPr>
              <a:t>The analyst's professional responsibility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ANALYTICS IN PRACTICE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Pyramid diagram (Minto Pyramid)</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PYRAMID PRINCIPLE</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THE PYRAMID PRINCIPLE (McKinsey, Barbara Minto)</a:t>
            </a:r>
          </a:p>
          <a:p>
            <a:r>
              <a:rPr sz="600">
                <a:latin typeface="Calibri"/>
              </a:rPr>
              <a:t/>
            </a:r>
          </a:p>
          <a:p>
            <a:r>
              <a:rPr sz="1050">
                <a:solidFill>
                  <a:srgbClr val="F0F4F8"/>
                </a:solidFill>
                <a:latin typeface="Calibri"/>
              </a:rPr>
              <a:t>✗ WRONG ORDER:          ✓ RIGHT ORDER:</a:t>
            </a:r>
          </a:p>
          <a:p>
            <a:r>
              <a:rPr sz="1050">
                <a:solidFill>
                  <a:srgbClr val="F0F4F8"/>
                </a:solidFill>
                <a:latin typeface="Calibri"/>
              </a:rPr>
              <a:t>"We analysed data...    "Our churn problem is concentrated</a:t>
            </a:r>
          </a:p>
          <a:p>
            <a:r>
              <a:rPr sz="1050">
                <a:solidFill>
                  <a:srgbClr val="F0F4F8"/>
                </a:solidFill>
                <a:latin typeface="Calibri"/>
              </a:rPr>
              <a:t>We also looked at...    in 2022 promotion customers (15%</a:t>
            </a:r>
          </a:p>
          <a:p>
            <a:r>
              <a:rPr sz="1050">
                <a:solidFill>
                  <a:srgbClr val="F0F4F8"/>
                </a:solidFill>
                <a:latin typeface="Calibri"/>
              </a:rPr>
              <a:t>And then we found...    of base, 40% of churn)."</a:t>
            </a:r>
          </a:p>
          <a:p>
            <a:r>
              <a:rPr sz="1050">
                <a:solidFill>
                  <a:srgbClr val="F0F4F8"/>
                </a:solidFill>
                <a:latin typeface="Calibri"/>
              </a:rPr>
              <a:t>The insight is..."</a:t>
            </a:r>
          </a:p>
          <a:p>
            <a:r>
              <a:rPr sz="1000">
                <a:solidFill>
                  <a:srgbClr val="8BA5BE"/>
                </a:solidFill>
                <a:latin typeface="Calibri"/>
              </a:rPr>
              <a:t>      ◦  THEN: evidence, then: methodology</a:t>
            </a:r>
          </a:p>
          <a:p>
            <a:r>
              <a:rPr sz="1050">
                <a:solidFill>
                  <a:srgbClr val="F0F4F8"/>
                </a:solidFill>
                <a:latin typeface="Calibri"/>
              </a:rPr>
              <a:t>Build-up → insight       Insight → evidence → method</a:t>
            </a:r>
          </a:p>
          <a:p>
            <a:r>
              <a:rPr sz="600">
                <a:latin typeface="Calibri"/>
              </a:rPr>
              <a:t/>
            </a:r>
          </a:p>
          <a:p>
            <a:r>
              <a:rPr sz="1200" b="1">
                <a:solidFill>
                  <a:srgbClr val="00C2D4"/>
                </a:solidFill>
                <a:latin typeface="Calibri"/>
              </a:rPr>
              <a:t>STRUCTURE YOUR PRESENTATION:</a:t>
            </a:r>
          </a:p>
          <a:p>
            <a:r>
              <a:rPr sz="1050">
                <a:solidFill>
                  <a:srgbClr val="F0F4F8"/>
                </a:solidFill>
                <a:latin typeface="Calibri"/>
              </a:rPr>
              <a:t>① ANSWER: What is the finding? (one sentence)</a:t>
            </a:r>
          </a:p>
          <a:p>
            <a:r>
              <a:rPr sz="1050">
                <a:solidFill>
                  <a:srgbClr val="F0F4F8"/>
                </a:solidFill>
                <a:latin typeface="Calibri"/>
              </a:rPr>
              <a:t>② SO WHAT: Why does this matter? (business impact)</a:t>
            </a:r>
          </a:p>
          <a:p>
            <a:r>
              <a:rPr sz="1050">
                <a:solidFill>
                  <a:srgbClr val="F0F4F8"/>
                </a:solidFill>
                <a:latin typeface="Calibri"/>
              </a:rPr>
              <a:t>③ EVIDENCE: What does the data show? (charts + numbers)</a:t>
            </a:r>
          </a:p>
          <a:p>
            <a:r>
              <a:rPr sz="1050">
                <a:solidFill>
                  <a:srgbClr val="F0F4F8"/>
                </a:solidFill>
                <a:latin typeface="Calibri"/>
              </a:rPr>
              <a:t>④ RECOMMENDATION: What should we do? (actionable)</a:t>
            </a:r>
          </a:p>
          <a:p>
            <a:r>
              <a:rPr sz="600">
                <a:latin typeface="Calibri"/>
              </a:rPr>
              <a:t/>
            </a:r>
          </a:p>
          <a:p>
            <a:r>
              <a:rPr sz="1050">
                <a:solidFill>
                  <a:srgbClr val="F0F4F8"/>
                </a:solidFill>
                <a:latin typeface="Calibri"/>
              </a:rPr>
              <a:t>Executives don't have time for the journey. Give them the destination.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ANALYTICS IN PRACTICE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Three warning sign icons in a row: Algorithmic Bias (balance scale tilted), Confirmation Bias (person seeing only what t</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DATA ETHICS</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2200656" cy="365760"/>
          </a:xfrm>
          <a:prstGeom prst="rect">
            <a:avLst/>
          </a:prstGeom>
          <a:noFill/>
        </p:spPr>
        <p:txBody>
          <a:bodyPr wrap="square">
            <a:spAutoFit/>
          </a:bodyPr>
          <a:lstStyle/>
          <a:p>
            <a:pPr algn="l"/>
            <a:r>
              <a:rPr sz="1100" b="1" i="0">
                <a:solidFill>
                  <a:srgbClr val="00C2D4"/>
                </a:solidFill>
                <a:latin typeface="Calibri"/>
              </a:rPr>
              <a:t>ALGORITHMIC FAIRNESS</a:t>
            </a:r>
          </a:p>
        </p:txBody>
      </p:sp>
      <p:sp>
        <p:nvSpPr>
          <p:cNvPr id="16" name="TextBox 15"/>
          <p:cNvSpPr txBox="1"/>
          <p:nvPr/>
        </p:nvSpPr>
        <p:spPr>
          <a:xfrm>
            <a:off x="4736592" y="1664208"/>
            <a:ext cx="2200656" cy="1207008"/>
          </a:xfrm>
          <a:prstGeom prst="rect">
            <a:avLst/>
          </a:prstGeom>
          <a:noFill/>
        </p:spPr>
        <p:txBody>
          <a:bodyPr wrap="square">
            <a:spAutoFit/>
          </a:bodyPr>
          <a:lstStyle/>
          <a:p>
            <a:pPr algn="l"/>
            <a:r>
              <a:rPr sz="950" b="0" i="0">
                <a:solidFill>
                  <a:srgbClr val="F0F4F8"/>
                </a:solidFill>
                <a:latin typeface="Calibri"/>
              </a:rPr>
              <a:t>If your model uses postcode/neighbourhood as a variable, it may discriminate by ethnicity indirectly. Always ask: what is this model actually selecting for?</a:t>
            </a:r>
          </a:p>
        </p:txBody>
      </p:sp>
      <p:sp>
        <p:nvSpPr>
          <p:cNvPr id="17" name="Rectangle 16"/>
          <p:cNvSpPr/>
          <p:nvPr/>
        </p:nvSpPr>
        <p:spPr>
          <a:xfrm>
            <a:off x="715670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5670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6432" y="1298448"/>
            <a:ext cx="2200656" cy="365760"/>
          </a:xfrm>
          <a:prstGeom prst="rect">
            <a:avLst/>
          </a:prstGeom>
          <a:noFill/>
        </p:spPr>
        <p:txBody>
          <a:bodyPr wrap="square">
            <a:spAutoFit/>
          </a:bodyPr>
          <a:lstStyle/>
          <a:p>
            <a:pPr algn="l"/>
            <a:r>
              <a:rPr sz="1100" b="1" i="0">
                <a:solidFill>
                  <a:srgbClr val="F5A623"/>
                </a:solidFill>
                <a:latin typeface="Calibri"/>
              </a:rPr>
              <a:t>CONFIRMATION BIAS</a:t>
            </a:r>
          </a:p>
        </p:txBody>
      </p:sp>
      <p:sp>
        <p:nvSpPr>
          <p:cNvPr id="20" name="TextBox 19"/>
          <p:cNvSpPr txBox="1"/>
          <p:nvPr/>
        </p:nvSpPr>
        <p:spPr>
          <a:xfrm>
            <a:off x="7266432" y="1664208"/>
            <a:ext cx="2200656" cy="1207008"/>
          </a:xfrm>
          <a:prstGeom prst="rect">
            <a:avLst/>
          </a:prstGeom>
          <a:noFill/>
        </p:spPr>
        <p:txBody>
          <a:bodyPr wrap="square">
            <a:spAutoFit/>
          </a:bodyPr>
          <a:lstStyle/>
          <a:p>
            <a:pPr algn="l"/>
            <a:r>
              <a:rPr sz="950" b="0" i="0">
                <a:solidFill>
                  <a:srgbClr val="F0F4F8"/>
                </a:solidFill>
                <a:latin typeface="Calibri"/>
              </a:rPr>
              <a:t>You expect to find X. You find data that supports X. You present X. You didn't look for evidence against X. Actively try to disprove your hypothesis before confirming it.</a:t>
            </a:r>
          </a:p>
        </p:txBody>
      </p:sp>
      <p:sp>
        <p:nvSpPr>
          <p:cNvPr id="21" name="Rectangle 20"/>
          <p:cNvSpPr/>
          <p:nvPr/>
        </p:nvSpPr>
        <p:spPr>
          <a:xfrm>
            <a:off x="968654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86544" y="1207008"/>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6272" y="1298448"/>
            <a:ext cx="2200656" cy="365760"/>
          </a:xfrm>
          <a:prstGeom prst="rect">
            <a:avLst/>
          </a:prstGeom>
          <a:noFill/>
        </p:spPr>
        <p:txBody>
          <a:bodyPr wrap="square">
            <a:spAutoFit/>
          </a:bodyPr>
          <a:lstStyle/>
          <a:p>
            <a:pPr algn="l"/>
            <a:r>
              <a:rPr sz="1100" b="1" i="0">
                <a:solidFill>
                  <a:srgbClr val="00B894"/>
                </a:solidFill>
                <a:latin typeface="Calibri"/>
              </a:rPr>
              <a:t>FRAMING</a:t>
            </a:r>
          </a:p>
        </p:txBody>
      </p:sp>
      <p:sp>
        <p:nvSpPr>
          <p:cNvPr id="24" name="TextBox 23"/>
          <p:cNvSpPr txBox="1"/>
          <p:nvPr/>
        </p:nvSpPr>
        <p:spPr>
          <a:xfrm>
            <a:off x="9796272" y="1664208"/>
            <a:ext cx="2200656" cy="1207008"/>
          </a:xfrm>
          <a:prstGeom prst="rect">
            <a:avLst/>
          </a:prstGeom>
          <a:noFill/>
        </p:spPr>
        <p:txBody>
          <a:bodyPr wrap="square">
            <a:spAutoFit/>
          </a:bodyPr>
          <a:lstStyle/>
          <a:p>
            <a:pPr algn="l"/>
            <a:r>
              <a:rPr sz="950" b="0" i="0">
                <a:solidFill>
                  <a:srgbClr val="F0F4F8"/>
                </a:solidFill>
                <a:latin typeface="Calibri"/>
              </a:rPr>
              <a:t>Same revenue data: "Record growth of ₦4.2B this quarter" "Growth fell 18% below our ₦5.1B quarterly target"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ANALYTICS IN PRACTICE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Five project tiles in a 1×5 horizontal strip, each with a number (A–E), title, and brief description</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CAPSTONE PROJECT OPTIONS</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CAPSTONE PROJECT — CHOOSE YOUR PATH</a:t>
            </a:r>
          </a:p>
          <a:p>
            <a:r>
              <a:rPr sz="600">
                <a:latin typeface="Calibri"/>
              </a:rPr>
              <a:t/>
            </a:r>
          </a:p>
          <a:p>
            <a:r>
              <a:rPr sz="1050">
                <a:solidFill>
                  <a:srgbClr val="F0F4F8"/>
                </a:solidFill>
                <a:latin typeface="Calibri"/>
              </a:rPr>
              <a:t>A. BI DASHBOARD          B. END-TO-END ANALYSIS</a:t>
            </a:r>
          </a:p>
          <a:p>
            <a:r>
              <a:rPr sz="1000">
                <a:solidFill>
                  <a:srgbClr val="8BA5BE"/>
                </a:solidFill>
                <a:latin typeface="Calibri"/>
              </a:rPr>
              <a:t>      ◦  Power BI dashboard       Full pipeline:</a:t>
            </a:r>
          </a:p>
          <a:p>
            <a:r>
              <a:rPr sz="1000">
                <a:solidFill>
                  <a:srgbClr val="8BA5BE"/>
                </a:solidFill>
                <a:latin typeface="Calibri"/>
              </a:rPr>
              <a:t>      ◦  with live data,          collect → clean → analyse</a:t>
            </a:r>
          </a:p>
          <a:p>
            <a:r>
              <a:rPr sz="1000">
                <a:solidFill>
                  <a:srgbClr val="8BA5BE"/>
                </a:solidFill>
                <a:latin typeface="Calibri"/>
              </a:rPr>
              <a:t>      ◦  DAX, time intelligence   → visualise → present</a:t>
            </a:r>
          </a:p>
          <a:p>
            <a:r>
              <a:rPr sz="1000">
                <a:solidFill>
                  <a:srgbClr val="8BA5BE"/>
                </a:solidFill>
                <a:latin typeface="Calibri"/>
              </a:rPr>
              <a:t>      ◦  (Most popular)</a:t>
            </a:r>
          </a:p>
          <a:p>
            <a:r>
              <a:rPr sz="600">
                <a:latin typeface="Calibri"/>
              </a:rPr>
              <a:t/>
            </a:r>
          </a:p>
          <a:p>
            <a:r>
              <a:rPr sz="1050">
                <a:solidFill>
                  <a:srgbClr val="F0F4F8"/>
                </a:solidFill>
                <a:latin typeface="Calibri"/>
              </a:rPr>
              <a:t>C. PREDICTIVE MODEL      D. DATA JOURNALISM</a:t>
            </a:r>
          </a:p>
          <a:p>
            <a:r>
              <a:rPr sz="1000">
                <a:solidFill>
                  <a:srgbClr val="8BA5BE"/>
                </a:solidFill>
                <a:latin typeface="Calibri"/>
              </a:rPr>
              <a:t>      ◦  Regression analysis      Story using public data</a:t>
            </a:r>
          </a:p>
          <a:p>
            <a:r>
              <a:rPr sz="1000">
                <a:solidFill>
                  <a:srgbClr val="8BA5BE"/>
                </a:solidFill>
                <a:latin typeface="Calibri"/>
              </a:rPr>
              <a:t>      ◦  Hypothesis testing       Publish a data-driven article</a:t>
            </a:r>
          </a:p>
          <a:p>
            <a:r>
              <a:rPr sz="1000">
                <a:solidFill>
                  <a:srgbClr val="8BA5BE"/>
                </a:solidFill>
                <a:latin typeface="Calibri"/>
              </a:rPr>
              <a:t>      ◦  AI-assisted analysis     Datawrapper/Flourish charts</a:t>
            </a:r>
          </a:p>
          <a:p>
            <a:r>
              <a:rPr sz="600">
                <a:latin typeface="Calibri"/>
              </a:rPr>
              <a:t/>
            </a:r>
          </a:p>
          <a:p>
            <a:r>
              <a:rPr sz="1050">
                <a:solidFill>
                  <a:srgbClr val="F0F4F8"/>
                </a:solidFill>
                <a:latin typeface="Calibri"/>
              </a:rPr>
              <a:t>E. ORGANISATIONAL</a:t>
            </a:r>
          </a:p>
          <a:p>
            <a:r>
              <a:rPr sz="1200" b="1">
                <a:solidFill>
                  <a:srgbClr val="00C2D4"/>
                </a:solidFill>
                <a:latin typeface="Calibri"/>
              </a:rPr>
              <a:t>STRATEGY</a:t>
            </a:r>
          </a:p>
          <a:p>
            <a:r>
              <a:rPr sz="1000">
                <a:solidFill>
                  <a:srgbClr val="8BA5BE"/>
                </a:solidFill>
                <a:latin typeface="Calibri"/>
              </a:rPr>
              <a:t>      ◦  Data maturity audit</a:t>
            </a:r>
          </a:p>
          <a:p>
            <a:r>
              <a:rPr sz="1000">
                <a:solidFill>
                  <a:srgbClr val="8BA5BE"/>
                </a:solidFill>
                <a:latin typeface="Calibri"/>
              </a:rPr>
              <a:t>      ◦  Roadmap for a</a:t>
            </a:r>
          </a:p>
          <a:p>
            <a:r>
              <a:rPr sz="1000">
                <a:solidFill>
                  <a:srgbClr val="8BA5BE"/>
                </a:solidFill>
                <a:latin typeface="Calibri"/>
              </a:rPr>
              <a:t>      ◦  Nigerian SME</a:t>
            </a:r>
          </a:p>
          <a:p>
            <a:r>
              <a:rPr sz="600">
                <a:latin typeface="Calibri"/>
              </a:rPr>
              <a:t/>
            </a:r>
          </a:p>
          <a:p>
            <a:r>
              <a:rPr sz="1050">
                <a:solidFill>
                  <a:srgbClr val="F0F4F8"/>
                </a:solidFill>
                <a:latin typeface="Calibri"/>
              </a:rPr>
              <a:t>ALL CAPSTONES: Public portfolio piece + presentation</a:t>
            </a:r>
          </a:p>
          <a:p>
            <a:r>
              <a:rPr sz="1000">
                <a:solidFill>
                  <a:srgbClr val="8BA5BE"/>
                </a:solidFill>
                <a:latin typeface="Calibri"/>
              </a:rPr>
              <a:t>      ◦  Blockchain-verified on your certificate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ANALYTICS IN PRACTICE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Exam overview card with four sections listed</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CERTIFICATION EXAM</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200" b="1">
                <a:solidFill>
                  <a:srgbClr val="00C2D4"/>
                </a:solidFill>
                <a:latin typeface="Calibri"/>
              </a:rPr>
              <a:t>CERTIFICATION EXAM — STRUCTURE</a:t>
            </a:r>
          </a:p>
          <a:p>
            <a:r>
              <a:rPr sz="600">
                <a:latin typeface="Calibri"/>
              </a:rPr>
              <a:t/>
            </a:r>
          </a:p>
          <a:p>
            <a:r>
              <a:rPr sz="1050">
                <a:solidFill>
                  <a:srgbClr val="F0F4F8"/>
                </a:solidFill>
                <a:latin typeface="Calibri"/>
              </a:rPr>
              <a:t>SECTION A: Multiple Choice (40 questions)        40 marks</a:t>
            </a:r>
          </a:p>
          <a:p>
            <a:r>
              <a:rPr sz="1000">
                <a:solidFill>
                  <a:srgbClr val="8BA5BE"/>
                </a:solidFill>
                <a:latin typeface="Calibri"/>
              </a:rPr>
              <a:t>      ◦  Covers all 12 modules proportionally</a:t>
            </a:r>
          </a:p>
          <a:p>
            <a:r>
              <a:rPr sz="600">
                <a:latin typeface="Calibri"/>
              </a:rPr>
              <a:t/>
            </a:r>
          </a:p>
          <a:p>
            <a:r>
              <a:rPr sz="1050">
                <a:solidFill>
                  <a:srgbClr val="F0F4F8"/>
                </a:solidFill>
                <a:latin typeface="Calibri"/>
              </a:rPr>
              <a:t>SECTION B: Practical Tasks                       30 marks</a:t>
            </a:r>
          </a:p>
          <a:p>
            <a:r>
              <a:rPr sz="1000">
                <a:solidFill>
                  <a:srgbClr val="8BA5BE"/>
                </a:solidFill>
                <a:latin typeface="Calibri"/>
              </a:rPr>
              <a:t>      ◦  Task 1: Clean a provided messy dataset</a:t>
            </a:r>
          </a:p>
          <a:p>
            <a:r>
              <a:rPr sz="1000">
                <a:solidFill>
                  <a:srgbClr val="8BA5BE"/>
                </a:solidFill>
                <a:latin typeface="Calibri"/>
              </a:rPr>
              <a:t>      ◦  Task 2: Write 5 SQL queries from specifications</a:t>
            </a:r>
          </a:p>
          <a:p>
            <a:r>
              <a:rPr sz="1000">
                <a:solidFill>
                  <a:srgbClr val="8BA5BE"/>
                </a:solidFill>
                <a:latin typeface="Calibri"/>
              </a:rPr>
              <a:t>      ◦  Task 3: Answer 3 questions from a Power BI file</a:t>
            </a:r>
          </a:p>
          <a:p>
            <a:r>
              <a:rPr sz="600">
                <a:latin typeface="Calibri"/>
              </a:rPr>
              <a:t/>
            </a:r>
          </a:p>
          <a:p>
            <a:r>
              <a:rPr sz="1050">
                <a:solidFill>
                  <a:srgbClr val="F0F4F8"/>
                </a:solidFill>
                <a:latin typeface="Calibri"/>
              </a:rPr>
              <a:t>SECTION C: Case Studies                          20 marks</a:t>
            </a:r>
          </a:p>
          <a:p>
            <a:r>
              <a:rPr sz="1000">
                <a:solidFill>
                  <a:srgbClr val="8BA5BE"/>
                </a:solidFill>
                <a:latin typeface="Calibri"/>
              </a:rPr>
              <a:t>      ◦  Case 1: Agricultural lending data analysis</a:t>
            </a:r>
          </a:p>
          <a:p>
            <a:r>
              <a:rPr sz="1000">
                <a:solidFill>
                  <a:srgbClr val="8BA5BE"/>
                </a:solidFill>
                <a:latin typeface="Calibri"/>
              </a:rPr>
              <a:t>      ◦  Case 2: E-commerce performance dashboard</a:t>
            </a:r>
          </a:p>
          <a:p>
            <a:r>
              <a:rPr sz="600">
                <a:latin typeface="Calibri"/>
              </a:rPr>
              <a:t/>
            </a:r>
          </a:p>
          <a:p>
            <a:r>
              <a:rPr sz="1050">
                <a:solidFill>
                  <a:srgbClr val="F0F4F8"/>
                </a:solidFill>
                <a:latin typeface="Calibri"/>
              </a:rPr>
              <a:t>SECTION D: Essay (Choose 1 of 2)                10 marks</a:t>
            </a:r>
          </a:p>
          <a:p>
            <a:r>
              <a:rPr sz="1000">
                <a:solidFill>
                  <a:srgbClr val="8BA5BE"/>
                </a:solidFill>
                <a:latin typeface="Calibri"/>
              </a:rPr>
              <a:t>      ◦  Ethics of data-driven decision making OR</a:t>
            </a:r>
          </a:p>
          <a:p>
            <a:r>
              <a:rPr sz="1000">
                <a:solidFill>
                  <a:srgbClr val="8BA5BE"/>
                </a:solidFill>
                <a:latin typeface="Calibri"/>
              </a:rPr>
              <a:t>      ◦  Data strategy for a Nigerian SME</a:t>
            </a:r>
          </a:p>
          <a:p>
            <a:r>
              <a:rPr sz="600">
                <a:latin typeface="Calibri"/>
              </a:rPr>
              <a:t/>
            </a:r>
          </a:p>
          <a:p>
            <a:r>
              <a:rPr sz="1050">
                <a:solidFill>
                  <a:srgbClr val="F0F4F8"/>
                </a:solidFill>
                <a:latin typeface="Calibri"/>
              </a:rPr>
              <a:t>━━━━━━━━━━━━━━━━━━━━━━━━━━━━━━━━━━━━━━━━━━━━━━</a:t>
            </a:r>
          </a:p>
          <a:p>
            <a:r>
              <a:rPr sz="1050">
                <a:solidFill>
                  <a:srgbClr val="F0F4F8"/>
                </a:solidFill>
                <a:latin typeface="Calibri"/>
              </a:rPr>
              <a:t>PASS: 75% (75+ marks)   DISTINCTION: 85%+ marks</a:t>
            </a:r>
          </a:p>
          <a:p>
            <a:r>
              <a:rPr sz="1050">
                <a:solidFill>
                  <a:srgbClr val="F0F4F8"/>
                </a:solidFill>
                <a:latin typeface="Calibri"/>
              </a:rPr>
              <a:t>CAPSTONE: Mandatory for certification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ANALYTICS IN PRACTICE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Grid of tool logos/icons arranged by category</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YOUR LEARNING TOOLKIT</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2200656" cy="365760"/>
          </a:xfrm>
          <a:prstGeom prst="rect">
            <a:avLst/>
          </a:prstGeom>
          <a:noFill/>
        </p:spPr>
        <p:txBody>
          <a:bodyPr wrap="square">
            <a:spAutoFit/>
          </a:bodyPr>
          <a:lstStyle/>
          <a:p>
            <a:pPr algn="l"/>
            <a:r>
              <a:rPr sz="1100" b="1" i="0">
                <a:solidFill>
                  <a:srgbClr val="00C2D4"/>
                </a:solidFill>
                <a:latin typeface="Calibri"/>
              </a:rPr>
              <a:t>SPREADSHEETS &amp; BI          SQL ENVIRONMENTS</a:t>
            </a:r>
          </a:p>
        </p:txBody>
      </p:sp>
      <p:sp>
        <p:nvSpPr>
          <p:cNvPr id="16" name="TextBox 15"/>
          <p:cNvSpPr txBox="1"/>
          <p:nvPr/>
        </p:nvSpPr>
        <p:spPr>
          <a:xfrm>
            <a:off x="4736592" y="1664208"/>
            <a:ext cx="2200656" cy="1207008"/>
          </a:xfrm>
          <a:prstGeom prst="rect">
            <a:avLst/>
          </a:prstGeom>
          <a:noFill/>
        </p:spPr>
        <p:txBody>
          <a:bodyPr wrap="square">
            <a:spAutoFit/>
          </a:bodyPr>
          <a:lstStyle/>
          <a:p>
            <a:pPr algn="l"/>
            <a:r>
              <a:rPr sz="950" b="0" i="0">
                <a:solidFill>
                  <a:srgbClr val="F0F4F8"/>
                </a:solidFill>
                <a:latin typeface="Calibri"/>
              </a:rPr>
              <a:t>Excel (Advanced)           MySQL Workbench Power BI Desktop           DB Browser for SQLite Power Query                SQL Server Management Studio</a:t>
            </a:r>
          </a:p>
        </p:txBody>
      </p:sp>
      <p:sp>
        <p:nvSpPr>
          <p:cNvPr id="17" name="Rectangle 16"/>
          <p:cNvSpPr/>
          <p:nvPr/>
        </p:nvSpPr>
        <p:spPr>
          <a:xfrm>
            <a:off x="715670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5670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6432" y="1298448"/>
            <a:ext cx="2200656" cy="365760"/>
          </a:xfrm>
          <a:prstGeom prst="rect">
            <a:avLst/>
          </a:prstGeom>
          <a:noFill/>
        </p:spPr>
        <p:txBody>
          <a:bodyPr wrap="square">
            <a:spAutoFit/>
          </a:bodyPr>
          <a:lstStyle/>
          <a:p>
            <a:pPr algn="l"/>
            <a:r>
              <a:rPr sz="1100" b="1" i="0">
                <a:solidFill>
                  <a:srgbClr val="F5A623"/>
                </a:solidFill>
                <a:latin typeface="Calibri"/>
              </a:rPr>
              <a:t>DATA VISUALISATION         SUPPORTING PLATFORMS</a:t>
            </a:r>
          </a:p>
        </p:txBody>
      </p:sp>
      <p:sp>
        <p:nvSpPr>
          <p:cNvPr id="20" name="TextBox 19"/>
          <p:cNvSpPr txBox="1"/>
          <p:nvPr/>
        </p:nvSpPr>
        <p:spPr>
          <a:xfrm>
            <a:off x="7266432" y="1664208"/>
            <a:ext cx="2200656" cy="1207008"/>
          </a:xfrm>
          <a:prstGeom prst="rect">
            <a:avLst/>
          </a:prstGeom>
          <a:noFill/>
        </p:spPr>
        <p:txBody>
          <a:bodyPr wrap="square">
            <a:spAutoFit/>
          </a:bodyPr>
          <a:lstStyle/>
          <a:p>
            <a:pPr algn="l"/>
            <a:r>
              <a:rPr sz="950" b="0" i="0">
                <a:solidFill>
                  <a:srgbClr val="F0F4F8"/>
                </a:solidFill>
                <a:latin typeface="Calibri"/>
              </a:rPr>
              <a:t>Datawrapper (free)         NBS Data Portal Flourish (free)            CBN Statistics Google Data Studio         World Bank Open Data</a:t>
            </a:r>
          </a:p>
        </p:txBody>
      </p:sp>
      <p:sp>
        <p:nvSpPr>
          <p:cNvPr id="21" name="Rectangle 20"/>
          <p:cNvSpPr/>
          <p:nvPr/>
        </p:nvSpPr>
        <p:spPr>
          <a:xfrm>
            <a:off x="968654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86544" y="1207008"/>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6272" y="1298448"/>
            <a:ext cx="2200656" cy="365760"/>
          </a:xfrm>
          <a:prstGeom prst="rect">
            <a:avLst/>
          </a:prstGeom>
          <a:noFill/>
        </p:spPr>
        <p:txBody>
          <a:bodyPr wrap="square">
            <a:spAutoFit/>
          </a:bodyPr>
          <a:lstStyle/>
          <a:p>
            <a:pPr algn="l"/>
            <a:r>
              <a:rPr sz="1100" b="1" i="0">
                <a:solidFill>
                  <a:srgbClr val="00B894"/>
                </a:solidFill>
                <a:latin typeface="Calibri"/>
              </a:rPr>
              <a:t>REFERENCE TEXTBOOK:</a:t>
            </a:r>
          </a:p>
        </p:txBody>
      </p:sp>
      <p:sp>
        <p:nvSpPr>
          <p:cNvPr id="24" name="TextBox 23"/>
          <p:cNvSpPr txBox="1"/>
          <p:nvPr/>
        </p:nvSpPr>
        <p:spPr>
          <a:xfrm>
            <a:off x="9796272" y="1664208"/>
            <a:ext cx="2200656" cy="1207008"/>
          </a:xfrm>
          <a:prstGeom prst="rect">
            <a:avLst/>
          </a:prstGeom>
          <a:noFill/>
        </p:spPr>
        <p:txBody>
          <a:bodyPr wrap="square">
            <a:spAutoFit/>
          </a:bodyPr>
          <a:lstStyle/>
          <a:p>
            <a:pPr algn="l"/>
            <a:r>
              <a:rPr sz="950" b="0" i="0">
                <a:solidFill>
                  <a:srgbClr val="F0F4F8"/>
                </a:solidFill>
                <a:latin typeface="Calibri"/>
              </a:rPr>
              <a:t>Mastering Data Analytics Available at metabridgeacademy.com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ANALYTICS IN PRACTICE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Job interview scene (flat illustration)</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WHAT EMPLOYERS ACTUALLY TEST</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00C2D4"/>
                </a:solidFill>
                <a:latin typeface="Calibri"/>
              </a:rPr>
              <a:t>TECHNICAL ROUND:</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 Write a SQL query to find the top 5 customers by revenue per state □ How would you handle missing data in this dataset? □ Explain the difference between INNER and LEFT JOIN</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CASE STUDY ROUND:</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 Here's a dataset. Tell us what's interesting in 30 minutes. □ Sales dropped 15% in March — investigate using this data.</a:t>
            </a:r>
          </a:p>
        </p:txBody>
      </p:sp>
      <p:sp>
        <p:nvSpPr>
          <p:cNvPr id="21" name="Rectangle 20"/>
          <p:cNvSpPr/>
          <p:nvPr/>
        </p:nvSpPr>
        <p:spPr>
          <a:xfrm>
            <a:off x="462686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26864" y="3090672"/>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36592" y="3182112"/>
            <a:ext cx="3465576" cy="365760"/>
          </a:xfrm>
          <a:prstGeom prst="rect">
            <a:avLst/>
          </a:prstGeom>
          <a:noFill/>
        </p:spPr>
        <p:txBody>
          <a:bodyPr wrap="square">
            <a:spAutoFit/>
          </a:bodyPr>
          <a:lstStyle/>
          <a:p>
            <a:pPr algn="l"/>
            <a:r>
              <a:rPr sz="1100" b="1" i="0">
                <a:solidFill>
                  <a:srgbClr val="00B894"/>
                </a:solidFill>
                <a:latin typeface="Calibri"/>
              </a:rPr>
              <a:t>STAKEHOLDER ROUND:</a:t>
            </a:r>
          </a:p>
        </p:txBody>
      </p:sp>
      <p:sp>
        <p:nvSpPr>
          <p:cNvPr id="24" name="TextBox 23"/>
          <p:cNvSpPr txBox="1"/>
          <p:nvPr/>
        </p:nvSpPr>
        <p:spPr>
          <a:xfrm>
            <a:off x="4736592" y="3547872"/>
            <a:ext cx="3465576" cy="1207008"/>
          </a:xfrm>
          <a:prstGeom prst="rect">
            <a:avLst/>
          </a:prstGeom>
          <a:noFill/>
        </p:spPr>
        <p:txBody>
          <a:bodyPr wrap="square">
            <a:spAutoFit/>
          </a:bodyPr>
          <a:lstStyle/>
          <a:p>
            <a:pPr algn="l"/>
            <a:r>
              <a:rPr sz="950" b="0" i="0">
                <a:solidFill>
                  <a:srgbClr val="F0F4F8"/>
                </a:solidFill>
                <a:latin typeface="Calibri"/>
              </a:rPr>
              <a:t>□ Explain what a p-value means to a non-technical manager □ How would you present bad news (missed targets) to leadership?</a:t>
            </a:r>
          </a:p>
        </p:txBody>
      </p:sp>
      <p:sp>
        <p:nvSpPr>
          <p:cNvPr id="25" name="Rectangle 24"/>
          <p:cNvSpPr/>
          <p:nvPr/>
        </p:nvSpPr>
        <p:spPr>
          <a:xfrm>
            <a:off x="8421624" y="3090672"/>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21624" y="3090672"/>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1352" y="3182112"/>
            <a:ext cx="3465576" cy="365760"/>
          </a:xfrm>
          <a:prstGeom prst="rect">
            <a:avLst/>
          </a:prstGeom>
          <a:noFill/>
        </p:spPr>
        <p:txBody>
          <a:bodyPr wrap="square">
            <a:spAutoFit/>
          </a:bodyPr>
          <a:lstStyle/>
          <a:p>
            <a:pPr algn="l"/>
            <a:r>
              <a:rPr sz="1100" b="1" i="0">
                <a:solidFill>
                  <a:srgbClr val="F5A623"/>
                </a:solidFill>
                <a:latin typeface="Calibri"/>
              </a:rPr>
              <a:t>PORTFOLIO REVIEW:</a:t>
            </a:r>
          </a:p>
        </p:txBody>
      </p:sp>
      <p:sp>
        <p:nvSpPr>
          <p:cNvPr id="28" name="TextBox 27"/>
          <p:cNvSpPr txBox="1"/>
          <p:nvPr/>
        </p:nvSpPr>
        <p:spPr>
          <a:xfrm>
            <a:off x="8531352" y="3547872"/>
            <a:ext cx="3465576" cy="1207008"/>
          </a:xfrm>
          <a:prstGeom prst="rect">
            <a:avLst/>
          </a:prstGeom>
          <a:noFill/>
        </p:spPr>
        <p:txBody>
          <a:bodyPr wrap="square">
            <a:spAutoFit/>
          </a:bodyPr>
          <a:lstStyle/>
          <a:p>
            <a:pPr algn="l"/>
            <a:r>
              <a:rPr sz="950" b="0" i="0">
                <a:solidFill>
                  <a:srgbClr val="F0F4F8"/>
                </a:solidFill>
                <a:latin typeface="Calibri"/>
              </a:rPr>
              <a:t>□ Show me something you built. Walk me through your methodology.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ANALYTICS IN PRACTICE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Two-column comparison</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THE METABRIDGE DIFFERENCE</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3465576" cy="365760"/>
          </a:xfrm>
          <a:prstGeom prst="rect">
            <a:avLst/>
          </a:prstGeom>
          <a:noFill/>
        </p:spPr>
        <p:txBody>
          <a:bodyPr wrap="square">
            <a:spAutoFit/>
          </a:bodyPr>
          <a:lstStyle/>
          <a:p>
            <a:pPr algn="l"/>
            <a:r>
              <a:rPr sz="1100" b="1" i="0">
                <a:solidFill>
                  <a:srgbClr val="00C2D4"/>
                </a:solidFill>
                <a:latin typeface="Calibri"/>
              </a:rPr>
              <a:t>GENERIC COURSE              METABRIDGE ACADEMY</a:t>
            </a:r>
          </a:p>
        </p:txBody>
      </p:sp>
      <p:sp>
        <p:nvSpPr>
          <p:cNvPr id="16" name="TextBox 15"/>
          <p:cNvSpPr txBox="1"/>
          <p:nvPr/>
        </p:nvSpPr>
        <p:spPr>
          <a:xfrm>
            <a:off x="4736592" y="1664208"/>
            <a:ext cx="3465576" cy="1207008"/>
          </a:xfrm>
          <a:prstGeom prst="rect">
            <a:avLst/>
          </a:prstGeom>
          <a:noFill/>
        </p:spPr>
        <p:txBody>
          <a:bodyPr wrap="square">
            <a:spAutoFit/>
          </a:bodyPr>
          <a:lstStyle/>
          <a:p>
            <a:pPr algn="l"/>
            <a:r>
              <a:rPr sz="950" b="0" i="0">
                <a:solidFill>
                  <a:srgbClr val="F0F4F8"/>
                </a:solidFill>
                <a:latin typeface="Calibri"/>
              </a:rPr>
              <a:t>────────────────           ────────────────────────── Global examples            Nigerian datasets (NBS, CBN, NIBSS) PDF certificate            Blockchain-verified credential</a:t>
            </a:r>
          </a:p>
        </p:txBody>
      </p:sp>
      <p:sp>
        <p:nvSpPr>
          <p:cNvPr id="17" name="Rectangle 16"/>
          <p:cNvSpPr/>
          <p:nvPr/>
        </p:nvSpPr>
        <p:spPr>
          <a:xfrm>
            <a:off x="8421624" y="1207008"/>
            <a:ext cx="363016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2162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31352" y="1298448"/>
            <a:ext cx="3465576" cy="365760"/>
          </a:xfrm>
          <a:prstGeom prst="rect">
            <a:avLst/>
          </a:prstGeom>
          <a:noFill/>
        </p:spPr>
        <p:txBody>
          <a:bodyPr wrap="square">
            <a:spAutoFit/>
          </a:bodyPr>
          <a:lstStyle/>
          <a:p>
            <a:pPr algn="l"/>
            <a:r>
              <a:rPr sz="1100" b="1" i="0">
                <a:solidFill>
                  <a:srgbClr val="F5A623"/>
                </a:solidFill>
                <a:latin typeface="Calibri"/>
              </a:rPr>
              <a:t>REFERENCE TEXTBOOK INTEGRATION:</a:t>
            </a:r>
          </a:p>
        </p:txBody>
      </p:sp>
      <p:sp>
        <p:nvSpPr>
          <p:cNvPr id="20" name="TextBox 19"/>
          <p:cNvSpPr txBox="1"/>
          <p:nvPr/>
        </p:nvSpPr>
        <p:spPr>
          <a:xfrm>
            <a:off x="8531352" y="1664208"/>
            <a:ext cx="3465576" cy="1207008"/>
          </a:xfrm>
          <a:prstGeom prst="rect">
            <a:avLst/>
          </a:prstGeom>
          <a:noFill/>
        </p:spPr>
        <p:txBody>
          <a:bodyPr wrap="square">
            <a:spAutoFit/>
          </a:bodyPr>
          <a:lstStyle/>
          <a:p>
            <a:pPr algn="l"/>
            <a:r>
              <a:rPr sz="950" b="0" i="0">
                <a:solidFill>
                  <a:srgbClr val="F0F4F8"/>
                </a:solidFill>
                <a:latin typeface="Calibri"/>
              </a:rPr>
              <a:t>Mastering Data Analytics — metabridgeacademy.com The theoretical foundation for this programme.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ANALYTICS IN PRACTICE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Line chart (churn rate over 12 months, segmented by acquisition channel)</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NIGERIAN DATA CASE STUDY: FINTECH CHURN</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658112"/>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16" name="TextBox 15"/>
          <p:cNvSpPr txBox="1"/>
          <p:nvPr/>
        </p:nvSpPr>
        <p:spPr>
          <a:xfrm>
            <a:off x="5120640" y="1298448"/>
            <a:ext cx="3081528" cy="365760"/>
          </a:xfrm>
          <a:prstGeom prst="rect">
            <a:avLst/>
          </a:prstGeom>
          <a:noFill/>
        </p:spPr>
        <p:txBody>
          <a:bodyPr wrap="square">
            <a:spAutoFit/>
          </a:bodyPr>
          <a:lstStyle/>
          <a:p>
            <a:pPr algn="l"/>
            <a:r>
              <a:rPr sz="1100" b="1" i="0">
                <a:solidFill>
                  <a:srgbClr val="00C2D4"/>
                </a:solidFill>
                <a:latin typeface="Calibri"/>
              </a:rPr>
              <a:t>2022 promotion customers</a:t>
            </a:r>
          </a:p>
        </p:txBody>
      </p:sp>
      <p:sp>
        <p:nvSpPr>
          <p:cNvPr id="17" name="TextBox 16"/>
          <p:cNvSpPr txBox="1"/>
          <p:nvPr/>
        </p:nvSpPr>
        <p:spPr>
          <a:xfrm>
            <a:off x="4736592" y="1664208"/>
            <a:ext cx="3465576" cy="1127760"/>
          </a:xfrm>
          <a:prstGeom prst="rect">
            <a:avLst/>
          </a:prstGeom>
          <a:noFill/>
        </p:spPr>
        <p:txBody>
          <a:bodyPr wrap="square">
            <a:spAutoFit/>
          </a:bodyPr>
          <a:lstStyle/>
          <a:p>
            <a:pPr algn="l"/>
            <a:r>
              <a:rPr sz="950" b="0" i="0">
                <a:solidFill>
                  <a:srgbClr val="F0F4F8"/>
                </a:solidFill>
                <a:latin typeface="Calibri"/>
              </a:rPr>
              <a:t>2022 promotion customers: 15% of base → 40% of churn</a:t>
            </a:r>
          </a:p>
        </p:txBody>
      </p:sp>
      <p:sp>
        <p:nvSpPr>
          <p:cNvPr id="18" name="Rectangle 17"/>
          <p:cNvSpPr/>
          <p:nvPr/>
        </p:nvSpPr>
        <p:spPr>
          <a:xfrm>
            <a:off x="8421624" y="1207008"/>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21624" y="1207008"/>
            <a:ext cx="50292" cy="165811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31352" y="1280160"/>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1" name="TextBox 20"/>
          <p:cNvSpPr txBox="1"/>
          <p:nvPr/>
        </p:nvSpPr>
        <p:spPr>
          <a:xfrm>
            <a:off x="8915400" y="1298448"/>
            <a:ext cx="3081528" cy="365760"/>
          </a:xfrm>
          <a:prstGeom prst="rect">
            <a:avLst/>
          </a:prstGeom>
          <a:noFill/>
        </p:spPr>
        <p:txBody>
          <a:bodyPr wrap="square">
            <a:spAutoFit/>
          </a:bodyPr>
          <a:lstStyle/>
          <a:p>
            <a:pPr algn="l"/>
            <a:r>
              <a:rPr sz="1100" b="1" i="0">
                <a:solidFill>
                  <a:srgbClr val="F5A623"/>
                </a:solidFill>
                <a:latin typeface="Calibri"/>
              </a:rPr>
              <a:t>Organic customers</a:t>
            </a:r>
          </a:p>
        </p:txBody>
      </p:sp>
      <p:sp>
        <p:nvSpPr>
          <p:cNvPr id="22" name="TextBox 21"/>
          <p:cNvSpPr txBox="1"/>
          <p:nvPr/>
        </p:nvSpPr>
        <p:spPr>
          <a:xfrm>
            <a:off x="8531352" y="1664208"/>
            <a:ext cx="3465576" cy="1127760"/>
          </a:xfrm>
          <a:prstGeom prst="rect">
            <a:avLst/>
          </a:prstGeom>
          <a:noFill/>
        </p:spPr>
        <p:txBody>
          <a:bodyPr wrap="square">
            <a:spAutoFit/>
          </a:bodyPr>
          <a:lstStyle/>
          <a:p>
            <a:pPr algn="l"/>
            <a:r>
              <a:rPr sz="950" b="0" i="0">
                <a:solidFill>
                  <a:srgbClr val="F0F4F8"/>
                </a:solidFill>
                <a:latin typeface="Calibri"/>
              </a:rPr>
              <a:t>Organic customers: 85% of base → 60% of churn</a:t>
            </a:r>
          </a:p>
        </p:txBody>
      </p:sp>
      <p:sp>
        <p:nvSpPr>
          <p:cNvPr id="23" name="Rectangle 22"/>
          <p:cNvSpPr/>
          <p:nvPr/>
        </p:nvSpPr>
        <p:spPr>
          <a:xfrm>
            <a:off x="4626864" y="3011424"/>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26864" y="3011424"/>
            <a:ext cx="50292" cy="1658112"/>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36592" y="3084576"/>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26" name="TextBox 25"/>
          <p:cNvSpPr txBox="1"/>
          <p:nvPr/>
        </p:nvSpPr>
        <p:spPr>
          <a:xfrm>
            <a:off x="5120640" y="3102864"/>
            <a:ext cx="3081528" cy="365760"/>
          </a:xfrm>
          <a:prstGeom prst="rect">
            <a:avLst/>
          </a:prstGeom>
          <a:noFill/>
        </p:spPr>
        <p:txBody>
          <a:bodyPr wrap="square">
            <a:spAutoFit/>
          </a:bodyPr>
          <a:lstStyle/>
          <a:p>
            <a:pPr algn="l"/>
            <a:r>
              <a:rPr sz="1100" b="1" i="0">
                <a:solidFill>
                  <a:srgbClr val="00B894"/>
                </a:solidFill>
                <a:latin typeface="Calibri"/>
              </a:rPr>
              <a:t>2022 promo offered 6-month fee waiver</a:t>
            </a:r>
          </a:p>
        </p:txBody>
      </p:sp>
      <p:sp>
        <p:nvSpPr>
          <p:cNvPr id="27" name="TextBox 26"/>
          <p:cNvSpPr txBox="1"/>
          <p:nvPr/>
        </p:nvSpPr>
        <p:spPr>
          <a:xfrm>
            <a:off x="4736592" y="3468624"/>
            <a:ext cx="3465576" cy="1127760"/>
          </a:xfrm>
          <a:prstGeom prst="rect">
            <a:avLst/>
          </a:prstGeom>
          <a:noFill/>
        </p:spPr>
        <p:txBody>
          <a:bodyPr wrap="square">
            <a:spAutoFit/>
          </a:bodyPr>
          <a:lstStyle/>
          <a:p>
            <a:pPr algn="l"/>
            <a:r>
              <a:rPr sz="950" b="0" i="0">
                <a:solidFill>
                  <a:srgbClr val="F0F4F8"/>
                </a:solidFill>
                <a:latin typeface="Calibri"/>
              </a:rPr>
              <a:t>2022 promo offered 6-month fee waiver</a:t>
            </a:r>
          </a:p>
        </p:txBody>
      </p:sp>
      <p:sp>
        <p:nvSpPr>
          <p:cNvPr id="28" name="Rectangle 27"/>
          <p:cNvSpPr/>
          <p:nvPr/>
        </p:nvSpPr>
        <p:spPr>
          <a:xfrm>
            <a:off x="8421624" y="3011424"/>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421624" y="3011424"/>
            <a:ext cx="50292" cy="165811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31352" y="3084576"/>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31" name="TextBox 30"/>
          <p:cNvSpPr txBox="1"/>
          <p:nvPr/>
        </p:nvSpPr>
        <p:spPr>
          <a:xfrm>
            <a:off x="8915400" y="3102864"/>
            <a:ext cx="3081528" cy="365760"/>
          </a:xfrm>
          <a:prstGeom prst="rect">
            <a:avLst/>
          </a:prstGeom>
          <a:noFill/>
        </p:spPr>
        <p:txBody>
          <a:bodyPr wrap="square">
            <a:spAutoFit/>
          </a:bodyPr>
          <a:lstStyle/>
          <a:p>
            <a:pPr algn="l"/>
            <a:r>
              <a:rPr sz="1100" b="1" i="0">
                <a:solidFill>
                  <a:srgbClr val="F5A623"/>
                </a:solidFill>
                <a:latin typeface="Calibri"/>
              </a:rPr>
              <a:t>Customers churned at month 7 (when fees started)</a:t>
            </a:r>
          </a:p>
        </p:txBody>
      </p:sp>
      <p:sp>
        <p:nvSpPr>
          <p:cNvPr id="32" name="TextBox 31"/>
          <p:cNvSpPr txBox="1"/>
          <p:nvPr/>
        </p:nvSpPr>
        <p:spPr>
          <a:xfrm>
            <a:off x="8531352" y="3468624"/>
            <a:ext cx="3465576" cy="1127760"/>
          </a:xfrm>
          <a:prstGeom prst="rect">
            <a:avLst/>
          </a:prstGeom>
          <a:noFill/>
        </p:spPr>
        <p:txBody>
          <a:bodyPr wrap="square">
            <a:spAutoFit/>
          </a:bodyPr>
          <a:lstStyle/>
          <a:p>
            <a:pPr algn="l"/>
            <a:r>
              <a:rPr sz="950" b="0" i="0">
                <a:solidFill>
                  <a:srgbClr val="F0F4F8"/>
                </a:solidFill>
                <a:latin typeface="Calibri"/>
              </a:rPr>
              <a:t>Customers churned at month 7 (when fees started)</a:t>
            </a:r>
          </a:p>
        </p:txBody>
      </p:sp>
      <p:sp>
        <p:nvSpPr>
          <p:cNvPr id="33" name="Rectangle 32"/>
          <p:cNvSpPr/>
          <p:nvPr/>
        </p:nvSpPr>
        <p:spPr>
          <a:xfrm>
            <a:off x="4626864" y="4815840"/>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26864" y="4815840"/>
            <a:ext cx="50292" cy="165811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36592" y="4888992"/>
            <a:ext cx="365760" cy="365760"/>
          </a:xfrm>
          <a:prstGeom prst="rect">
            <a:avLst/>
          </a:prstGeom>
          <a:noFill/>
        </p:spPr>
        <p:txBody>
          <a:bodyPr wrap="square">
            <a:spAutoFit/>
          </a:bodyPr>
          <a:lstStyle/>
          <a:p>
            <a:pPr algn="l"/>
            <a:r>
              <a:rPr sz="1500" b="0" i="0">
                <a:solidFill>
                  <a:srgbClr val="FFFFFF"/>
                </a:solidFill>
                <a:latin typeface="Calibri"/>
              </a:rPr>
              <a:t>→</a:t>
            </a:r>
          </a:p>
        </p:txBody>
      </p:sp>
      <p:sp>
        <p:nvSpPr>
          <p:cNvPr id="36" name="TextBox 35"/>
          <p:cNvSpPr txBox="1"/>
          <p:nvPr/>
        </p:nvSpPr>
        <p:spPr>
          <a:xfrm>
            <a:off x="5120640" y="4907280"/>
            <a:ext cx="3081528" cy="365760"/>
          </a:xfrm>
          <a:prstGeom prst="rect">
            <a:avLst/>
          </a:prstGeom>
          <a:noFill/>
        </p:spPr>
        <p:txBody>
          <a:bodyPr wrap="square">
            <a:spAutoFit/>
          </a:bodyPr>
          <a:lstStyle/>
          <a:p>
            <a:pPr algn="l"/>
            <a:r>
              <a:rPr sz="1100" b="1" i="0">
                <a:solidFill>
                  <a:srgbClr val="E74C3C"/>
                </a:solidFill>
                <a:latin typeface="Calibri"/>
              </a:rPr>
              <a:t>Zero product engagement during free period</a:t>
            </a:r>
          </a:p>
        </p:txBody>
      </p:sp>
      <p:sp>
        <p:nvSpPr>
          <p:cNvPr id="37" name="TextBox 36"/>
          <p:cNvSpPr txBox="1"/>
          <p:nvPr/>
        </p:nvSpPr>
        <p:spPr>
          <a:xfrm>
            <a:off x="4736592" y="5273040"/>
            <a:ext cx="3465576" cy="1127760"/>
          </a:xfrm>
          <a:prstGeom prst="rect">
            <a:avLst/>
          </a:prstGeom>
          <a:noFill/>
        </p:spPr>
        <p:txBody>
          <a:bodyPr wrap="square">
            <a:spAutoFit/>
          </a:bodyPr>
          <a:lstStyle/>
          <a:p>
            <a:pPr algn="l"/>
            <a:r>
              <a:rPr sz="950" b="0" i="0">
                <a:solidFill>
                  <a:srgbClr val="F0F4F8"/>
                </a:solidFill>
                <a:latin typeface="Calibri"/>
              </a:rPr>
              <a:t>Zero product engagement during free period</a:t>
            </a:r>
          </a:p>
        </p:txBody>
      </p:sp>
      <p:sp>
        <p:nvSpPr>
          <p:cNvPr id="38" name="Rectangle 37"/>
          <p:cNvSpPr/>
          <p:nvPr/>
        </p:nvSpPr>
        <p:spPr>
          <a:xfrm>
            <a:off x="8421624" y="4815840"/>
            <a:ext cx="3630168" cy="1658112"/>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421624" y="4815840"/>
            <a:ext cx="50292" cy="1658112"/>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31352" y="4907280"/>
            <a:ext cx="3465576" cy="365760"/>
          </a:xfrm>
          <a:prstGeom prst="rect">
            <a:avLst/>
          </a:prstGeom>
          <a:noFill/>
        </p:spPr>
        <p:txBody>
          <a:bodyPr wrap="square">
            <a:spAutoFit/>
          </a:bodyPr>
          <a:lstStyle/>
          <a:p>
            <a:pPr algn="l"/>
            <a:r>
              <a:rPr sz="1100" b="1" i="0">
                <a:solidFill>
                  <a:srgbClr val="00C2D4"/>
                </a:solidFill>
                <a:latin typeface="Calibri"/>
              </a:rPr>
              <a:t>PRESCRIPTION:</a:t>
            </a:r>
          </a:p>
        </p:txBody>
      </p:sp>
      <p:sp>
        <p:nvSpPr>
          <p:cNvPr id="41" name="TextBox 40"/>
          <p:cNvSpPr txBox="1"/>
          <p:nvPr/>
        </p:nvSpPr>
        <p:spPr>
          <a:xfrm>
            <a:off x="8531352" y="5273040"/>
            <a:ext cx="3465576" cy="1127760"/>
          </a:xfrm>
          <a:prstGeom prst="rect">
            <a:avLst/>
          </a:prstGeom>
          <a:noFill/>
        </p:spPr>
        <p:txBody>
          <a:bodyPr wrap="square">
            <a:spAutoFit/>
          </a:bodyPr>
          <a:lstStyle/>
          <a:p>
            <a:pPr algn="l"/>
            <a:r>
              <a:rPr sz="950" b="0" i="0">
                <a:solidFill>
                  <a:srgbClr val="F0F4F8"/>
                </a:solidFill>
                <a:latin typeface="Calibri"/>
              </a:rPr>
              <a:t>Sunset the promo acquisition strategy (immediate) Create 90-day onboarding journey with engagement milestones Build retention offer triggered at month 5 of free period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ANALYTICS IN PRACTICE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12 summary cards in a 3×4 grid, one per module</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KEY TAKEAWAYS: THE 12-MODULE SUMMARY</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12 MODULES. ONE CAREER.</a:t>
            </a:r>
          </a:p>
          <a:p>
            <a:r>
              <a:rPr sz="600">
                <a:latin typeface="Calibri"/>
              </a:rPr>
              <a:t/>
            </a:r>
          </a:p>
          <a:p>
            <a:r>
              <a:rPr sz="1050">
                <a:solidFill>
                  <a:srgbClr val="F0F4F8"/>
                </a:solidFill>
                <a:latin typeface="Calibri"/>
              </a:rPr>
              <a:t>  1.  Analytics exists to support decisions, not produce reports.</a:t>
            </a:r>
          </a:p>
          <a:p>
            <a:r>
              <a:rPr sz="1050">
                <a:solidFill>
                  <a:srgbClr val="F0F4F8"/>
                </a:solidFill>
                <a:latin typeface="Calibri"/>
              </a:rPr>
              <a:t>  2.  Data quality and NDPA 2023 are non-negotiable.</a:t>
            </a:r>
          </a:p>
          <a:p>
            <a:r>
              <a:rPr sz="1050">
                <a:solidFill>
                  <a:srgbClr val="F0F4F8"/>
                </a:solidFill>
                <a:latin typeface="Calibri"/>
              </a:rPr>
              <a:t>  3.  80% cleaning. It's the job. Embrace it.</a:t>
            </a:r>
          </a:p>
          <a:p>
            <a:r>
              <a:rPr sz="1050">
                <a:solidFill>
                  <a:srgbClr val="F0F4F8"/>
                </a:solidFill>
                <a:latin typeface="Calibri"/>
              </a:rPr>
              <a:t>  4.  INDEX-MATCH &gt; VLOOKUP. XLOOKUP when available.</a:t>
            </a:r>
          </a:p>
          <a:p>
            <a:r>
              <a:rPr sz="1050">
                <a:solidFill>
                  <a:srgbClr val="F0F4F8"/>
                </a:solidFill>
                <a:latin typeface="Calibri"/>
              </a:rPr>
              <a:t>  5.  Power Query: set up once, refresh forever.</a:t>
            </a:r>
          </a:p>
          <a:p>
            <a:r>
              <a:rPr sz="1050">
                <a:solidFill>
                  <a:srgbClr val="F0F4F8"/>
                </a:solidFill>
                <a:latin typeface="Calibri"/>
              </a:rPr>
              <a:t>  6.  SQL reads like English. GROUP BY is your best friend.</a:t>
            </a:r>
          </a:p>
          <a:p>
            <a:r>
              <a:rPr sz="1050">
                <a:solidFill>
                  <a:srgbClr val="F0F4F8"/>
                </a:solidFill>
                <a:latin typeface="Calibri"/>
              </a:rPr>
              <a:t>  7.  JOINs connect tables. CTEs make queries readable.</a:t>
            </a:r>
          </a:p>
          <a:p>
            <a:r>
              <a:rPr sz="1050">
                <a:solidFill>
                  <a:srgbClr val="F0F4F8"/>
                </a:solidFill>
                <a:latin typeface="Calibri"/>
              </a:rPr>
              <a:t>  8.  Right chart for the right purpose. Use colour to direct.</a:t>
            </a:r>
          </a:p>
          <a:p>
            <a:r>
              <a:rPr sz="1050">
                <a:solidFill>
                  <a:srgbClr val="F0F4F8"/>
                </a:solidFill>
                <a:latin typeface="Calibri"/>
              </a:rPr>
              <a:t>  9.  Star schema is the foundation. Build it right.</a:t>
            </a:r>
          </a:p>
          <a:p>
            <a:r>
              <a:rPr sz="1050">
                <a:solidFill>
                  <a:srgbClr val="F0F4F8"/>
                </a:solidFill>
                <a:latin typeface="Calibri"/>
              </a:rPr>
              <a:t>  10. CALCULATE changes everything. Master it.</a:t>
            </a:r>
          </a:p>
          <a:p>
            <a:r>
              <a:rPr sz="1050">
                <a:solidFill>
                  <a:srgbClr val="F0F4F8"/>
                </a:solidFill>
                <a:latin typeface="Calibri"/>
              </a:rPr>
              <a:t>  11. Correlation ≠ causation. Significance ≠ importance.</a:t>
            </a:r>
          </a:p>
          <a:p>
            <a:r>
              <a:rPr sz="1050">
                <a:solidFill>
                  <a:srgbClr val="F0F4F8"/>
                </a:solidFill>
                <a:latin typeface="Calibri"/>
              </a:rPr>
              <a:t>  12. Lead with the answer. Pyramid Principle. Always.</a:t>
            </a:r>
          </a:p>
          <a:p>
            <a:r>
              <a:rPr sz="600">
                <a:latin typeface="Calibri"/>
              </a:rPr>
              <a:t/>
            </a:r>
          </a:p>
          <a:p>
            <a:r>
              <a:rPr sz="1050">
                <a:solidFill>
                  <a:srgbClr val="F0F4F8"/>
                </a:solidFill>
                <a:latin typeface="Calibri"/>
              </a:rPr>
              <a:t>SKILLS CHECKLIST: ✅ Excel  ✅ SQL  ✅ Power BI  ✅ Stats  ✅ Communication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ANALYTICS IN PRACTICE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Roadmap graphic showing three phases</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PORTFOLIO + NEXT STEPS</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26864" y="1207008"/>
            <a:ext cx="50292" cy="17373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1298448"/>
            <a:ext cx="2200656" cy="365760"/>
          </a:xfrm>
          <a:prstGeom prst="rect">
            <a:avLst/>
          </a:prstGeom>
          <a:noFill/>
        </p:spPr>
        <p:txBody>
          <a:bodyPr wrap="square">
            <a:spAutoFit/>
          </a:bodyPr>
          <a:lstStyle/>
          <a:p>
            <a:pPr algn="l"/>
            <a:r>
              <a:rPr sz="1100" b="1" i="0">
                <a:solidFill>
                  <a:srgbClr val="00C2D4"/>
                </a:solidFill>
                <a:latin typeface="Calibri"/>
              </a:rPr>
              <a:t>IN THE NEXT 30 DAYS:</a:t>
            </a:r>
          </a:p>
        </p:txBody>
      </p:sp>
      <p:sp>
        <p:nvSpPr>
          <p:cNvPr id="16" name="TextBox 15"/>
          <p:cNvSpPr txBox="1"/>
          <p:nvPr/>
        </p:nvSpPr>
        <p:spPr>
          <a:xfrm>
            <a:off x="4736592" y="1664208"/>
            <a:ext cx="2200656" cy="1207008"/>
          </a:xfrm>
          <a:prstGeom prst="rect">
            <a:avLst/>
          </a:prstGeom>
          <a:noFill/>
        </p:spPr>
        <p:txBody>
          <a:bodyPr wrap="square">
            <a:spAutoFit/>
          </a:bodyPr>
          <a:lstStyle/>
          <a:p>
            <a:pPr algn="l"/>
            <a:r>
              <a:rPr sz="950" b="0" i="0">
                <a:solidFill>
                  <a:srgbClr val="F0F4F8"/>
                </a:solidFill>
                <a:latin typeface="Calibri"/>
              </a:rPr>
              <a:t>□ Build 1–2 additional portfolio projects using Kaggle data □ Update LinkedIn: "Data Analyst | Excel · SQL · Power BI" □ Start applying — Jobberman, LinkedIn, MyJobMag</a:t>
            </a:r>
          </a:p>
        </p:txBody>
      </p:sp>
      <p:sp>
        <p:nvSpPr>
          <p:cNvPr id="17" name="Rectangle 16"/>
          <p:cNvSpPr/>
          <p:nvPr/>
        </p:nvSpPr>
        <p:spPr>
          <a:xfrm>
            <a:off x="715670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56704" y="1207008"/>
            <a:ext cx="50292" cy="17373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66432" y="1298448"/>
            <a:ext cx="2200656" cy="365760"/>
          </a:xfrm>
          <a:prstGeom prst="rect">
            <a:avLst/>
          </a:prstGeom>
          <a:noFill/>
        </p:spPr>
        <p:txBody>
          <a:bodyPr wrap="square">
            <a:spAutoFit/>
          </a:bodyPr>
          <a:lstStyle/>
          <a:p>
            <a:pPr algn="l"/>
            <a:r>
              <a:rPr sz="1100" b="1" i="0">
                <a:solidFill>
                  <a:srgbClr val="F5A623"/>
                </a:solidFill>
                <a:latin typeface="Calibri"/>
              </a:rPr>
              <a:t>IN 3–6 MONTHS:</a:t>
            </a:r>
          </a:p>
        </p:txBody>
      </p:sp>
      <p:sp>
        <p:nvSpPr>
          <p:cNvPr id="20" name="TextBox 19"/>
          <p:cNvSpPr txBox="1"/>
          <p:nvPr/>
        </p:nvSpPr>
        <p:spPr>
          <a:xfrm>
            <a:off x="7266432" y="1664208"/>
            <a:ext cx="2200656" cy="1207008"/>
          </a:xfrm>
          <a:prstGeom prst="rect">
            <a:avLst/>
          </a:prstGeom>
          <a:noFill/>
        </p:spPr>
        <p:txBody>
          <a:bodyPr wrap="square">
            <a:spAutoFit/>
          </a:bodyPr>
          <a:lstStyle/>
          <a:p>
            <a:pPr algn="l"/>
            <a:r>
              <a:rPr sz="950" b="0" i="0">
                <a:solidFill>
                  <a:srgbClr val="F0F4F8"/>
                </a:solidFill>
                <a:latin typeface="Calibri"/>
              </a:rPr>
              <a:t>□ Your first analyst role (or promotion) □ Deepen Power BI skills: custom visuals, Power Automate integration, Azure integration □ Mentor someone newer than you — it cements your knowledge</a:t>
            </a:r>
          </a:p>
        </p:txBody>
      </p:sp>
      <p:sp>
        <p:nvSpPr>
          <p:cNvPr id="21" name="Rectangle 20"/>
          <p:cNvSpPr/>
          <p:nvPr/>
        </p:nvSpPr>
        <p:spPr>
          <a:xfrm>
            <a:off x="9686544" y="1207008"/>
            <a:ext cx="2365248" cy="1737360"/>
          </a:xfrm>
          <a:prstGeom prst="rect">
            <a:avLst/>
          </a:prstGeom>
          <a:solidFill>
            <a:srgbClr val="12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86544" y="1207008"/>
            <a:ext cx="50292" cy="17373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6272" y="1298448"/>
            <a:ext cx="2200656" cy="365760"/>
          </a:xfrm>
          <a:prstGeom prst="rect">
            <a:avLst/>
          </a:prstGeom>
          <a:noFill/>
        </p:spPr>
        <p:txBody>
          <a:bodyPr wrap="square">
            <a:spAutoFit/>
          </a:bodyPr>
          <a:lstStyle/>
          <a:p>
            <a:pPr algn="l"/>
            <a:r>
              <a:rPr sz="1100" b="1" i="0">
                <a:solidFill>
                  <a:srgbClr val="00B894"/>
                </a:solidFill>
                <a:latin typeface="Calibri"/>
              </a:rPr>
              <a:t>WHERE TO FIND DATA TO PRACTICE:</a:t>
            </a:r>
          </a:p>
        </p:txBody>
      </p:sp>
      <p:sp>
        <p:nvSpPr>
          <p:cNvPr id="24" name="TextBox 23"/>
          <p:cNvSpPr txBox="1"/>
          <p:nvPr/>
        </p:nvSpPr>
        <p:spPr>
          <a:xfrm>
            <a:off x="9796272" y="1664208"/>
            <a:ext cx="2200656" cy="1207008"/>
          </a:xfrm>
          <a:prstGeom prst="rect">
            <a:avLst/>
          </a:prstGeom>
          <a:noFill/>
        </p:spPr>
        <p:txBody>
          <a:bodyPr wrap="square">
            <a:spAutoFit/>
          </a:bodyPr>
          <a:lstStyle/>
          <a:p>
            <a:pPr algn="l"/>
            <a:r>
              <a:rPr sz="950" b="0" i="0">
                <a:solidFill>
                  <a:srgbClr val="F0F4F8"/>
                </a:solidFill>
                <a:latin typeface="Calibri"/>
              </a:rPr>
              <a:t>Kaggle.com (Nigerian datasets available) NBS nigerianstat.gov.ng data.worldbank.org (country=Nigeria)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ANALYTICS IN PRACTICE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Full-width dark card with gold accent border</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ENROL / NEXT COHORT</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READY TO BECOME A DATA ANALYST?</a:t>
            </a:r>
          </a:p>
          <a:p>
            <a:r>
              <a:rPr sz="600">
                <a:latin typeface="Calibri"/>
              </a:rPr>
              <a:t/>
            </a:r>
          </a:p>
          <a:p>
            <a:r>
              <a:rPr sz="1050">
                <a:solidFill>
                  <a:srgbClr val="F0F4F8"/>
                </a:solidFill>
                <a:latin typeface="Calibri"/>
              </a:rPr>
              <a:t>Join MetaBridge Academy's next cohort.</a:t>
            </a:r>
          </a:p>
          <a:p>
            <a:r>
              <a:rPr sz="600">
                <a:latin typeface="Calibri"/>
              </a:rPr>
              <a:t/>
            </a:r>
          </a:p>
          <a:p>
            <a:r>
              <a:rPr sz="1050">
                <a:solidFill>
                  <a:srgbClr val="F0F4F8"/>
                </a:solidFill>
                <a:latin typeface="Calibri"/>
              </a:rPr>
              <a:t>✓ 12 Modules · 45+ Contact Hours</a:t>
            </a:r>
          </a:p>
          <a:p>
            <a:r>
              <a:rPr sz="1050">
                <a:solidFill>
                  <a:srgbClr val="F0F4F8"/>
                </a:solidFill>
                <a:latin typeface="Calibri"/>
              </a:rPr>
              <a:t>✓ Hands-on labs with real Nigerian datasets</a:t>
            </a:r>
          </a:p>
          <a:p>
            <a:r>
              <a:rPr sz="1050">
                <a:solidFill>
                  <a:srgbClr val="F0F4F8"/>
                </a:solidFill>
                <a:latin typeface="Calibri"/>
              </a:rPr>
              <a:t>✓ 1-on-1 WhatsApp mentor support</a:t>
            </a:r>
          </a:p>
          <a:p>
            <a:r>
              <a:rPr sz="1050">
                <a:solidFill>
                  <a:srgbClr val="F0F4F8"/>
                </a:solidFill>
                <a:latin typeface="Calibri"/>
              </a:rPr>
              <a:t>✓ Capstone project for your portfolio</a:t>
            </a:r>
          </a:p>
          <a:p>
            <a:r>
              <a:rPr sz="1050">
                <a:solidFill>
                  <a:srgbClr val="F0F4F8"/>
                </a:solidFill>
                <a:latin typeface="Calibri"/>
              </a:rPr>
              <a:t>✓ Blockchain-verified professional certificate</a:t>
            </a:r>
          </a:p>
          <a:p>
            <a:r>
              <a:rPr sz="600">
                <a:latin typeface="Calibri"/>
              </a:rPr>
              <a:t/>
            </a:r>
          </a:p>
          <a:p>
            <a:r>
              <a:rPr sz="1050">
                <a:solidFill>
                  <a:srgbClr val="F0F4F8"/>
                </a:solidFill>
                <a:latin typeface="Calibri"/>
              </a:rPr>
              <a:t>━━━━━━━━━━━━━━━━━━━━━━━━━━━━━━━━━━━━</a:t>
            </a:r>
          </a:p>
          <a:p>
            <a:r>
              <a:rPr sz="600">
                <a:latin typeface="Calibri"/>
              </a:rPr>
              <a:t/>
            </a:r>
          </a:p>
          <a:p>
            <a:r>
              <a:rPr sz="1000">
                <a:solidFill>
                  <a:srgbClr val="8BA5BE"/>
                </a:solidFill>
                <a:latin typeface="Calibri"/>
              </a:rPr>
              <a:t>      ◦  ENROL NOW → wa.me/2347034357206</a:t>
            </a:r>
          </a:p>
          <a:p>
            <a:r>
              <a:rPr sz="600">
                <a:latin typeface="Calibri"/>
              </a:rPr>
              <a:t/>
            </a:r>
          </a:p>
          <a:p>
            <a:r>
              <a:rPr sz="1050">
                <a:solidFill>
                  <a:srgbClr val="F0F4F8"/>
                </a:solidFill>
                <a:latin typeface="Calibri"/>
              </a:rPr>
              <a:t>━━━━━━━━━━━━━━━━━━━━━━━━━━━━━━━━━━━━</a:t>
            </a:r>
          </a:p>
          <a:p>
            <a:r>
              <a:rPr sz="600">
                <a:latin typeface="Calibri"/>
              </a:rPr>
              <a:t/>
            </a:r>
          </a:p>
          <a:p>
            <a:r>
              <a:rPr sz="1050">
                <a:solidFill>
                  <a:srgbClr val="F0F4F8"/>
                </a:solidFill>
                <a:latin typeface="Calibri"/>
              </a:rPr>
              <a:t>metabridgeacademy.com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97680" y="64008"/>
            <a:ext cx="54864" cy="6501384"/>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65392"/>
            <a:ext cx="12188952" cy="292608"/>
          </a:xfrm>
          <a:prstGeom prst="rect">
            <a:avLst/>
          </a:prstGeom>
          <a:solidFill>
            <a:srgbClr val="0A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6565392"/>
            <a:ext cx="8229600" cy="292608"/>
          </a:xfrm>
          <a:prstGeom prst="rect">
            <a:avLst/>
          </a:prstGeom>
          <a:noFill/>
        </p:spPr>
        <p:txBody>
          <a:bodyPr wrap="square">
            <a:spAutoFit/>
          </a:bodyPr>
          <a:lstStyle/>
          <a:p>
            <a:pPr algn="l"/>
            <a:r>
              <a:rPr sz="850" b="0" i="0">
                <a:solidFill>
                  <a:srgbClr val="8BA5BE"/>
                </a:solidFill>
                <a:latin typeface="Calibri"/>
              </a:rPr>
              <a:t>MetaBridge Academy  |  Data Analytics  |  2025</a:t>
            </a:r>
          </a:p>
        </p:txBody>
      </p:sp>
      <p:sp>
        <p:nvSpPr>
          <p:cNvPr id="6" name="TextBox 5"/>
          <p:cNvSpPr txBox="1"/>
          <p:nvPr/>
        </p:nvSpPr>
        <p:spPr>
          <a:xfrm>
            <a:off x="10177272" y="6565392"/>
            <a:ext cx="1828800" cy="292608"/>
          </a:xfrm>
          <a:prstGeom prst="rect">
            <a:avLst/>
          </a:prstGeom>
          <a:noFill/>
        </p:spPr>
        <p:txBody>
          <a:bodyPr wrap="square">
            <a:spAutoFit/>
          </a:bodyPr>
          <a:lstStyle/>
          <a:p>
            <a:pPr algn="r"/>
            <a:r>
              <a:rPr sz="850" b="0" i="0">
                <a:solidFill>
                  <a:srgbClr val="00C2D4"/>
                </a:solidFill>
                <a:latin typeface="Calibri"/>
              </a:rPr>
              <a:t>metabridgeacademy.com</a:t>
            </a:r>
          </a:p>
        </p:txBody>
      </p:sp>
      <p:sp>
        <p:nvSpPr>
          <p:cNvPr id="7" name="TextBox 6"/>
          <p:cNvSpPr txBox="1"/>
          <p:nvPr/>
        </p:nvSpPr>
        <p:spPr>
          <a:xfrm>
            <a:off x="228600" y="201168"/>
            <a:ext cx="4023360" cy="411480"/>
          </a:xfrm>
          <a:prstGeom prst="rect">
            <a:avLst/>
          </a:prstGeom>
          <a:noFill/>
        </p:spPr>
        <p:txBody>
          <a:bodyPr wrap="square">
            <a:spAutoFit/>
          </a:bodyPr>
          <a:lstStyle/>
          <a:p>
            <a:pPr algn="l"/>
            <a:r>
              <a:rPr sz="1500" b="1" i="0">
                <a:solidFill>
                  <a:srgbClr val="00C2D4"/>
                </a:solidFill>
                <a:latin typeface="Calibri"/>
              </a:rPr>
              <a:t>MOD 12</a:t>
            </a:r>
          </a:p>
        </p:txBody>
      </p:sp>
      <p:sp>
        <p:nvSpPr>
          <p:cNvPr id="8" name="TextBox 7"/>
          <p:cNvSpPr txBox="1"/>
          <p:nvPr/>
        </p:nvSpPr>
        <p:spPr>
          <a:xfrm>
            <a:off x="228600" y="658368"/>
            <a:ext cx="4023360" cy="4114800"/>
          </a:xfrm>
          <a:prstGeom prst="rect">
            <a:avLst/>
          </a:prstGeom>
          <a:noFill/>
        </p:spPr>
        <p:txBody>
          <a:bodyPr wrap="square">
            <a:spAutoFit/>
          </a:bodyPr>
          <a:lstStyle/>
          <a:p>
            <a:pPr algn="l"/>
            <a:r>
              <a:rPr sz="2200" b="1" i="0">
                <a:solidFill>
                  <a:srgbClr val="FFFFFF"/>
                </a:solidFill>
                <a:latin typeface="Calibri"/>
              </a:rPr>
              <a:t>ANALYTICS IN PRACTICE</a:t>
            </a:r>
          </a:p>
        </p:txBody>
      </p:sp>
      <p:sp>
        <p:nvSpPr>
          <p:cNvPr id="9" name="TextBox 8"/>
          <p:cNvSpPr txBox="1"/>
          <p:nvPr/>
        </p:nvSpPr>
        <p:spPr>
          <a:xfrm>
            <a:off x="228600" y="6199632"/>
            <a:ext cx="4023360" cy="320040"/>
          </a:xfrm>
          <a:prstGeom prst="rect">
            <a:avLst/>
          </a:prstGeom>
          <a:noFill/>
        </p:spPr>
        <p:txBody>
          <a:bodyPr wrap="square">
            <a:spAutoFit/>
          </a:bodyPr>
          <a:lstStyle/>
          <a:p>
            <a:pPr algn="l"/>
            <a:r>
              <a:rPr sz="900" b="0" i="1">
                <a:solidFill>
                  <a:srgbClr val="8BA5BE"/>
                </a:solidFill>
                <a:latin typeface="Calibri"/>
              </a:rPr>
              <a:t>MetaBridge Academy</a:t>
            </a:r>
          </a:p>
        </p:txBody>
      </p:sp>
      <p:sp>
        <p:nvSpPr>
          <p:cNvPr id="10" name="TextBox 9"/>
          <p:cNvSpPr txBox="1"/>
          <p:nvPr/>
        </p:nvSpPr>
        <p:spPr>
          <a:xfrm>
            <a:off x="4626864" y="173736"/>
            <a:ext cx="7424928" cy="347472"/>
          </a:xfrm>
          <a:prstGeom prst="rect">
            <a:avLst/>
          </a:prstGeom>
          <a:noFill/>
        </p:spPr>
        <p:txBody>
          <a:bodyPr wrap="square">
            <a:spAutoFit/>
          </a:bodyPr>
          <a:lstStyle/>
          <a:p>
            <a:pPr algn="l"/>
            <a:r>
              <a:rPr sz="950" b="0" i="1">
                <a:solidFill>
                  <a:srgbClr val="8BA5BE"/>
                </a:solidFill>
                <a:latin typeface="Calibri"/>
              </a:rPr>
              <a:t>Dark full-bleed slide</a:t>
            </a:r>
          </a:p>
        </p:txBody>
      </p:sp>
      <p:sp>
        <p:nvSpPr>
          <p:cNvPr id="11" name="TextBox 10"/>
          <p:cNvSpPr txBox="1"/>
          <p:nvPr/>
        </p:nvSpPr>
        <p:spPr>
          <a:xfrm>
            <a:off x="4626864" y="521208"/>
            <a:ext cx="7424928" cy="594360"/>
          </a:xfrm>
          <a:prstGeom prst="rect">
            <a:avLst/>
          </a:prstGeom>
          <a:noFill/>
        </p:spPr>
        <p:txBody>
          <a:bodyPr wrap="square">
            <a:spAutoFit/>
          </a:bodyPr>
          <a:lstStyle/>
          <a:p>
            <a:pPr algn="l"/>
            <a:r>
              <a:rPr sz="1800" b="1" i="0">
                <a:solidFill>
                  <a:srgbClr val="FFFFFF"/>
                </a:solidFill>
                <a:latin typeface="Calibri"/>
              </a:rPr>
              <a:t>THANK YOU / CLOSE</a:t>
            </a:r>
          </a:p>
        </p:txBody>
      </p:sp>
      <p:sp>
        <p:nvSpPr>
          <p:cNvPr id="12" name="Rectangle 11"/>
          <p:cNvSpPr/>
          <p:nvPr/>
        </p:nvSpPr>
        <p:spPr>
          <a:xfrm>
            <a:off x="4626864" y="1143000"/>
            <a:ext cx="7424928" cy="22860"/>
          </a:xfrm>
          <a:prstGeom prst="rect">
            <a:avLst/>
          </a:prstGeom>
          <a:solidFill>
            <a:srgbClr val="00C2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207008"/>
            <a:ext cx="7424928" cy="5266944"/>
          </a:xfrm>
          <a:prstGeom prst="rect">
            <a:avLst/>
          </a:prstGeom>
          <a:noFill/>
        </p:spPr>
        <p:txBody>
          <a:bodyPr wrap="square">
            <a:spAutoFit/>
          </a:bodyPr>
          <a:lstStyle/>
          <a:p>
            <a:r>
              <a:rPr sz="1050">
                <a:solidFill>
                  <a:srgbClr val="F0F4F8"/>
                </a:solidFill>
                <a:latin typeface="Calibri"/>
              </a:rPr>
              <a:t>"In God we trust.</a:t>
            </a:r>
          </a:p>
          <a:p>
            <a:r>
              <a:rPr sz="1050">
                <a:solidFill>
                  <a:srgbClr val="F0F4F8"/>
                </a:solidFill>
                <a:latin typeface="Calibri"/>
              </a:rPr>
              <a:t>All others must bring data."</a:t>
            </a:r>
          </a:p>
          <a:p>
            <a:r>
              <a:rPr sz="600">
                <a:latin typeface="Calibri"/>
              </a:rPr>
              <a:t/>
            </a:r>
          </a:p>
          <a:p>
            <a:r>
              <a:rPr sz="1050">
                <a:solidFill>
                  <a:srgbClr val="F0F4F8"/>
                </a:solidFill>
                <a:latin typeface="Calibri"/>
              </a:rPr>
              <a:t>— W. Edwards Deming</a:t>
            </a:r>
          </a:p>
          <a:p>
            <a:r>
              <a:rPr sz="600">
                <a:latin typeface="Calibri"/>
              </a:rPr>
              <a:t/>
            </a:r>
          </a:p>
          <a:p>
            <a:r>
              <a:rPr sz="1050">
                <a:solidFill>
                  <a:srgbClr val="F0F4F8"/>
                </a:solidFill>
                <a:latin typeface="Calibri"/>
              </a:rPr>
              <a:t>━━━━━━━━━━━━━━━━━━━━━━━━━━━━━━━━━━━━</a:t>
            </a:r>
          </a:p>
          <a:p>
            <a:r>
              <a:rPr sz="600">
                <a:latin typeface="Calibri"/>
              </a:rPr>
              <a:t/>
            </a:r>
          </a:p>
          <a:p>
            <a:r>
              <a:rPr sz="1050">
                <a:solidFill>
                  <a:srgbClr val="F0F4F8"/>
                </a:solidFill>
                <a:latin typeface="Calibri"/>
              </a:rPr>
              <a:t>Thank you for learning with MetaBridge Academy.</a:t>
            </a:r>
          </a:p>
          <a:p>
            <a:r>
              <a:rPr sz="600">
                <a:latin typeface="Calibri"/>
              </a:rPr>
              <a:t/>
            </a:r>
          </a:p>
          <a:p>
            <a:r>
              <a:rPr sz="1050">
                <a:solidFill>
                  <a:srgbClr val="F0F4F8"/>
                </a:solidFill>
                <a:latin typeface="Calibri"/>
              </a:rPr>
              <a:t>Your data career starts now.</a:t>
            </a:r>
          </a:p>
          <a:p>
            <a:r>
              <a:rPr sz="600">
                <a:latin typeface="Calibri"/>
              </a:rPr>
              <a:t/>
            </a:r>
          </a:p>
          <a:p>
            <a:r>
              <a:rPr sz="1050">
                <a:solidFill>
                  <a:srgbClr val="F0F4F8"/>
                </a:solidFill>
                <a:latin typeface="Calibri"/>
              </a:rPr>
              <a:t>metabridgeacademy.com  ·  wa.me/2347034357206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