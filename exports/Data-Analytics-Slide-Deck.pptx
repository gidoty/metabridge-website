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course is about turning numbers into decisions. In 12 modules, you go from zero to employment-ready as a data analyst. Let's start.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scale. This is what's happening right now in Nigeria's digital economy. The data exists. The question is who can read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the full roadmap. Students need to see the journey before they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expectations. Students know exactly where they stand at each stage of the course. Beginners become capable practitioners. Intermediates become technical analysts. Advanced students become visualisation experts. Professionals are employment-ready.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1 sets the stage. Don't rush through this. Students need to understand WHY they're here before they care about 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pyramid is the mental model for the whole course. Always ask: which level is this analysis? Most junior analyst work is Descriptive and Diagnostic. As you grow, you move up the pyramid.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warning. Every student will experience this. The sooner they accept that cleaning is the majority of the work, the less frustrated they'll be.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students they have a local advantage. Global analytics training doesn't teach Nigerian data sources. We 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on salaries. This motivates. These are real market rates from LinkedIn and Jobberman listings, cross-referenced with MetaBridge graduate feedback.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doesn't just appear. Someone designed a system to collect it. Understanding how data is collected helps you understand its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seems simple but analysts get it wrong constantly. You cannot average "payment method." You can count it. You cannot average "state." You can group by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critique a real survey you bring in. Spot the bad questions together. This is more memorable than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is more important than most technical content. A data analyst who causes a NDPA breach can cost their company millions. This is a differentiator on a CV — most graduates don't know this law.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this. Students will feel this pain. But framing it as a superpower — "if you can clean data faster, you're more valuable" — reframes it positively.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each letter 30 seconds. Then challenge students: "Which of these do you think is most common in Nigerian company data?" (Answer: Almost all of them, but Consistency is especially bad due to manual data entry.)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MNAR case is important for advanced students. When there's no clean statistical fix, you must disclose the limitation. That's professional integrity.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"levels" framing is motivating. Students who already know Excel realise they have more to learn. Beginners feel like there's a clear path forward.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a live demo on all three. Same problem, three formulas. Students see the syntax side by side. Then add a column to the middle of the table and show how VLOOKUP breaks but INDEX-MATCH doesn't.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students will be amazed, others will say "I know pivots." Ask the latter: "Can you build a calculated field in a pivot? Can you create a pivot table from multiple data sources?" Usually silence.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 this as a single A4 reference sheet for students — one per student. The most-used formulas in this column are SUMIFS and COUNTIFS. Emphasise that combining criteria (multiple conditions) is what separates beginner from professional Excel.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 functions catch students off guard. Always demonstrate DATEDIF — it's undocumented but essential. The NETWORKDAYS function is loved by every analyst who has ever had to count 'business days to deadline' — build a formula live: `=NETWORKDAYS(TODAY(), deadline_date)`.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statistical functions — always calculate BOTH mean and median. If they differ significantly, there's skew or outliers. For financial functions — PMT and NPV are the most relevant for Nigerian business contexts. Build a ₦5M loan amortisation schedule live; students see how interest front-loads early payments. This is one of the most practical 'aha' moments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who thought they "knew Excel" are often humbled here. Power Query in particular is a revelation.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"without vs with" calculation is what makes this real. Ask students to think about something repetitive they do in Excel. Power Query probably solves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Demystify immediately. SQL reads like English. Most students can understand a SQL query before they've written one. Show them one complex query before teaching — let them try to read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the query clause by clause. Then ask students to write one: "Give me the name and phone number of all customers from Kano, ordered alphabetically."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analyst uses these five functions daily. Not knowing them is like not knowing how to add. They're the core vocabulary of SQL analytics.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expectation: this is the hardest SQL module. Go slowly. The concepts compound on each other. Students who understand JOINs and CTEs are in the top 20% of SQL users.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this on the board too. Have students tell you which join to use for different scenarios: "Show all customers with their orders" (LEFT — include customers with no orders). "Show only customers who have placed an order" (INNER).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CTEs are one of those things that seem advanced but are actually simpler than alternatives. Once students write a CTE they never want to go back to nested subqueries.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before/after is the opener. Don't say anything. Just show both charts. Ask which one they'd rather receive from an analyst. Then ask which one they see most at work. The gap is what this module closes.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 this as a handout. Students should reference it every time they build a chart until it becomes instinct.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 real dashboard that uses 8 different colours for no reason. Ask: "What is this telling me?" Silence. Then show a version with everything grey except the one important metric. Ask the same question. Instantly answered.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wrong way: "We looked at this, then we looked at that, and eventually we found..." The right way: "The problem is X. Here's why. Here's what to do about it." Lead with the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Power BI is where students feel "professional." The jump from Excel to Power BI is visible and dramatic. Build something real in this session that they can show their family/employer.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news: Power BI Desktop is free. Download it and start building. You only need a paid license if you want to share reports inside a company. For the portfolio, free is fine.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this on the board as you explain. The fact table has numbers. The dimension tables have context (who, what, where, when, why). Everything flows out from the center like a star.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students to look at a bad dashboard (show one — too many visuals, no clear focus). Then show a clean one — 3 cards, 1 line chart, 1 bar chart, 1 slicer. The clean one answers one question better.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by reviewing Module 9. Quiz students on star schema. Then introduce DAX — "Excel formulas for Power BI, but more powerful."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common Power BI mistake is creating calculated columns when measures are needed. This creates massive files and slow reports. 90% of DAX should be measures.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copy these into their first Power BI file. These six measures answer the most common executive questions. Most dashboard KPIs are built from variations of these.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this chart live in Power BI. The visual impact of seeing "this year" vs "last year" on one chart, automatically updating — this is when students understand why Power BI is powerful.</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Reassure students immediately: this is business statistics, not a maths degree. We focus on what the numbers mean, not how to derive the formulas. The tools calculate. You interpret.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ice cream/drowning example always gets a laugh. Use it. Then bring it back to business: "What spurious correlations might we see in our Nigerian datasets?" (Season → sales, not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every tech company makes product decisions. Show students this framework — it's used at Paystack, Konga, MTN — every time they A/B test anything.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module. Be reflective. Ask students what surprised them most in the course. Use their answers to frame the real-world gap between learning and doing.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applies to email, presentations, Slack messages, reports. Always lead with the answer. This single habit separates ₦200K analysts from ₦1M analysts.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serious conversation. Share a real example of analytics used unethically — Cambridge Analytica, discriminatory lending algorithms. The power of data is the responsibility of data.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students to choose based on career goal. Want a BI analyst role? Choose A. Want a consulting/reporting role? Choose D or E. Want to move to data science eventually? Choose C.</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clear about the practical sections — students will be given actual data files to work with. This is not a purely theoretical exam. Employers respect this.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free or freemium tools. Students should install Power BI Desktop today. Datawrapper and Flourish are browser-based — no installation. Kaggle has Nigerian datasets available.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unspoken student question: "Will this course actually get me hired?" Show them exactly how the modules map to interview requirements. Reassurance through specificity.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near the end with prospective students. The blockchain certificate is genuinely differentiated — this is worth emphasising. It's not a PDF someone can fake.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case study should be the lab exercise for Module 12. Use real (or realistic) data. Have students run through the entire lifecycle: question → data → cleaning → analysis → visualisation →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call out any of these they feel uncertain about. That's their study list before the exam. This slide is also useful for end-of-course review.</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Action items close better than theory. Students need to leave with a clear next step, not just information. The roadmap makes the path concrete.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every session with this. Referrals are powerful — ask current students to share the WhatsApp link with anyone interested in data analytics.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the Deming quote — it lands perfectly. Let it sit for 3 seconds. Then ask if there are any final questions. This is a memorable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4572000" cy="548640"/>
          </a:xfrm>
          <a:prstGeom prst="rect">
            <a:avLst/>
          </a:prstGeom>
          <a:noFill/>
        </p:spPr>
        <p:txBody>
          <a:bodyPr wrap="square">
            <a:spAutoFit/>
          </a:bodyPr>
          <a:lstStyle/>
          <a:p>
            <a:pPr algn="l"/>
            <a:r>
              <a:rPr sz="1300" b="1" i="0">
                <a:solidFill>
                  <a:srgbClr val="06B6D4"/>
                </a:solidFill>
                <a:latin typeface="Calibri"/>
              </a:rPr>
              <a:t>MetaBridge Academy</a:t>
            </a:r>
          </a:p>
        </p:txBody>
      </p:sp>
      <p:sp>
        <p:nvSpPr>
          <p:cNvPr id="4" name="TextBox 3"/>
          <p:cNvSpPr txBox="1"/>
          <p:nvPr/>
        </p:nvSpPr>
        <p:spPr>
          <a:xfrm>
            <a:off x="914400" y="1828800"/>
            <a:ext cx="10360152" cy="1280160"/>
          </a:xfrm>
          <a:prstGeom prst="rect">
            <a:avLst/>
          </a:prstGeom>
          <a:noFill/>
        </p:spPr>
        <p:txBody>
          <a:bodyPr wrap="square">
            <a:spAutoFit/>
          </a:bodyPr>
          <a:lstStyle/>
          <a:p>
            <a:pPr algn="ctr"/>
            <a:r>
              <a:rPr sz="4000" b="1" i="0">
                <a:solidFill>
                  <a:srgbClr val="FFFFFF"/>
                </a:solidFill>
                <a:latin typeface="Calibri"/>
              </a:rPr>
              <a:t>DATA ANALYTICS</a:t>
            </a:r>
          </a:p>
        </p:txBody>
      </p:sp>
      <p:sp>
        <p:nvSpPr>
          <p:cNvPr id="5" name="TextBox 4"/>
          <p:cNvSpPr txBox="1"/>
          <p:nvPr/>
        </p:nvSpPr>
        <p:spPr>
          <a:xfrm>
            <a:off x="914400" y="3108960"/>
            <a:ext cx="10360152" cy="640080"/>
          </a:xfrm>
          <a:prstGeom prst="rect">
            <a:avLst/>
          </a:prstGeom>
          <a:noFill/>
        </p:spPr>
        <p:txBody>
          <a:bodyPr wrap="square">
            <a:spAutoFit/>
          </a:bodyPr>
          <a:lstStyle/>
          <a:p>
            <a:pPr algn="ctr"/>
            <a:r>
              <a:rPr sz="2200" b="0" i="0">
                <a:solidFill>
                  <a:srgbClr val="06B6D4"/>
                </a:solidFill>
                <a:latin typeface="Calibri"/>
              </a:rPr>
              <a:t>SLIDE DECK</a:t>
            </a:r>
          </a:p>
        </p:txBody>
      </p:sp>
      <p:sp>
        <p:nvSpPr>
          <p:cNvPr id="6" name="TextBox 5"/>
          <p:cNvSpPr txBox="1"/>
          <p:nvPr/>
        </p:nvSpPr>
        <p:spPr>
          <a:xfrm>
            <a:off x="914400" y="3840480"/>
            <a:ext cx="10360152" cy="457200"/>
          </a:xfrm>
          <a:prstGeom prst="rect">
            <a:avLst/>
          </a:prstGeom>
          <a:noFill/>
        </p:spPr>
        <p:txBody>
          <a:bodyPr wrap="square">
            <a:spAutoFit/>
          </a:bodyPr>
          <a:lstStyle/>
          <a:p>
            <a:pPr algn="ctr"/>
            <a:r>
              <a:rPr sz="1400" b="0" i="0">
                <a:solidFill>
                  <a:srgbClr val="94A3B8"/>
                </a:solidFill>
                <a:latin typeface="Calibri"/>
              </a:rPr>
              <a:t>Nigeria's Premier Blockchain &amp; Technology Academy</a:t>
            </a:r>
          </a:p>
        </p:txBody>
      </p:sp>
      <p:sp>
        <p:nvSpPr>
          <p:cNvPr id="7" name="Rectangle 6"/>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TITLE SLIDE</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METABRIDGE ACADEMY</a:t>
            </a:r>
          </a:p>
          <a:p>
            <a:r>
              <a:rPr sz="1100">
                <a:solidFill>
                  <a:srgbClr val="E2E8F0"/>
                </a:solidFill>
                <a:latin typeface="Calibri"/>
              </a:rPr>
              <a:t/>
            </a:r>
          </a:p>
          <a:p>
            <a:r>
              <a:rPr sz="1300" b="1">
                <a:solidFill>
                  <a:srgbClr val="06B6D4"/>
                </a:solidFill>
                <a:latin typeface="Calibri"/>
              </a:rPr>
              <a:t>DATA ANALYTICS</a:t>
            </a:r>
          </a:p>
          <a:p>
            <a:r>
              <a:rPr sz="1100">
                <a:solidFill>
                  <a:srgbClr val="E2E8F0"/>
                </a:solidFill>
                <a:latin typeface="Calibri"/>
              </a:rPr>
              <a:t>Professional Certificate Programme</a:t>
            </a:r>
          </a:p>
          <a:p>
            <a:r>
              <a:rPr sz="1100">
                <a:solidFill>
                  <a:srgbClr val="E2E8F0"/>
                </a:solidFill>
                <a:latin typeface="Calibri"/>
              </a:rPr>
              <a:t/>
            </a:r>
          </a:p>
          <a:p>
            <a:r>
              <a:rPr sz="1100">
                <a:solidFill>
                  <a:srgbClr val="E2E8F0"/>
                </a:solidFill>
                <a:latin typeface="Calibri"/>
              </a:rPr>
              <a:t>Turn Raw Data Into Business Decisions</a:t>
            </a:r>
          </a:p>
          <a:p>
            <a:r>
              <a:rPr sz="1100">
                <a:solidFill>
                  <a:srgbClr val="E2E8F0"/>
                </a:solidFill>
                <a:latin typeface="Calibri"/>
              </a:rPr>
              <a:t/>
            </a:r>
          </a:p>
          <a:p>
            <a:r>
              <a:rPr sz="1100">
                <a:solidFill>
                  <a:srgbClr val="E2E8F0"/>
                </a:solidFill>
                <a:latin typeface="Calibri"/>
              </a:rPr>
              <a:t>━━━━━━━━━━━━━━━━━━━━</a:t>
            </a:r>
          </a:p>
          <a:p>
            <a:r>
              <a:rPr sz="1100">
                <a:solidFill>
                  <a:srgbClr val="E2E8F0"/>
                </a:solidFill>
                <a:latin typeface="Calibri"/>
              </a:rPr>
              <a:t/>
            </a:r>
          </a:p>
          <a:p>
            <a:r>
              <a:rPr sz="1100">
                <a:solidFill>
                  <a:srgbClr val="E2E8F0"/>
                </a:solidFill>
                <a:latin typeface="Calibri"/>
              </a:rPr>
              <a:t>12 Modules · Excel · SQL · Power BI · Statistics</a:t>
            </a:r>
          </a:p>
          <a:p>
            <a:r>
              <a:rPr sz="1100">
                <a:solidFill>
                  <a:srgbClr val="E2E8F0"/>
                </a:solidFill>
                <a:latin typeface="Calibri"/>
              </a:rPr>
              <a:t>Blockchain-Verified Certificate</a:t>
            </a:r>
          </a:p>
          <a:p>
            <a:r>
              <a:rPr sz="1100">
                <a:solidFill>
                  <a:srgbClr val="E2E8F0"/>
                </a:solidFill>
                <a:latin typeface="Calibri"/>
              </a:rPr>
              <a:t>metabridgeacademy.com</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THE DATA ECONOMY</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THE DATA ECONOMY</a:t>
            </a:r>
          </a:p>
          <a:p>
            <a:r>
              <a:rPr sz="1100">
                <a:solidFill>
                  <a:srgbClr val="E2E8F0"/>
                </a:solidFill>
                <a:latin typeface="Calibri"/>
              </a:rPr>
              <a:t/>
            </a:r>
          </a:p>
          <a:p>
            <a:r>
              <a:rPr sz="1100">
                <a:solidFill>
                  <a:srgbClr val="E2E8F0"/>
                </a:solidFill>
                <a:latin typeface="Calibri"/>
              </a:rPr>
              <a:t>Every second in Nigeria:</a:t>
            </a:r>
          </a:p>
          <a:p>
            <a:r>
              <a:rPr sz="1100">
                <a:solidFill>
                  <a:srgbClr val="E2E8F0"/>
                </a:solidFill>
                <a:latin typeface="Calibri"/>
              </a:rPr>
              <a:t>₦6.2B    in electronic transactions</a:t>
            </a:r>
          </a:p>
          <a:p>
            <a:r>
              <a:rPr sz="1100">
                <a:solidFill>
                  <a:srgbClr val="E2E8F0"/>
                </a:solidFill>
                <a:latin typeface="Calibri"/>
              </a:rPr>
              <a:t>2.3M     USSD transactions</a:t>
            </a:r>
          </a:p>
          <a:p>
            <a:r>
              <a:rPr sz="1100">
                <a:solidFill>
                  <a:srgbClr val="E2E8F0"/>
                </a:solidFill>
                <a:latin typeface="Calibri"/>
              </a:rPr>
              <a:t>180K     mobile banking sessions</a:t>
            </a:r>
          </a:p>
          <a:p>
            <a:r>
              <a:rPr sz="1100">
                <a:solidFill>
                  <a:srgbClr val="E2E8F0"/>
                </a:solidFill>
                <a:latin typeface="Calibri"/>
              </a:rPr>
              <a:t/>
            </a:r>
          </a:p>
          <a:p>
            <a:r>
              <a:rPr sz="1100">
                <a:solidFill>
                  <a:srgbClr val="E2E8F0"/>
                </a:solidFill>
                <a:latin typeface="Calibri"/>
              </a:rPr>
              <a:t>Companies that use data well grow 3× faster</a:t>
            </a:r>
          </a:p>
          <a:p>
            <a:r>
              <a:rPr sz="1100">
                <a:solidFill>
                  <a:srgbClr val="E2E8F0"/>
                </a:solidFill>
                <a:latin typeface="Calibri"/>
              </a:rPr>
              <a:t>than those that don't.</a:t>
            </a:r>
          </a:p>
          <a:p>
            <a:r>
              <a:rPr sz="1100">
                <a:solidFill>
                  <a:srgbClr val="E2E8F0"/>
                </a:solidFill>
                <a:latin typeface="Calibri"/>
              </a:rPr>
              <a:t/>
            </a:r>
          </a:p>
          <a:p>
            <a:r>
              <a:rPr sz="1300" b="1">
                <a:solidFill>
                  <a:srgbClr val="06B6D4"/>
                </a:solidFill>
                <a:latin typeface="Calibri"/>
              </a:rPr>
              <a:t>DATA ANALYSTS ARE THE TRANSLATORS</a:t>
            </a:r>
          </a:p>
          <a:p>
            <a:r>
              <a:rPr sz="1100">
                <a:solidFill>
                  <a:srgbClr val="E2E8F0"/>
                </a:solidFill>
                <a:latin typeface="Calibri"/>
              </a:rPr>
              <a:t>between raw numbers and business action.</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COURSE OVERVIEW</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YOUR 12-MODULE JOURNEY</a:t>
            </a:r>
          </a:p>
          <a:p>
            <a:r>
              <a:rPr sz="1100">
                <a:solidFill>
                  <a:srgbClr val="E2E8F0"/>
                </a:solidFill>
                <a:latin typeface="Calibri"/>
              </a:rPr>
              <a:t/>
            </a:r>
          </a:p>
          <a:p>
            <a:r>
              <a:rPr sz="1100">
                <a:solidFill>
                  <a:srgbClr val="E2E8F0"/>
                </a:solidFill>
                <a:latin typeface="Calibri"/>
              </a:rPr>
              <a:t>FOUNDATION (Modules 1–3)        TECHNICAL (Modules 4–7)</a:t>
            </a:r>
          </a:p>
          <a:p>
            <a:r>
              <a:rPr sz="1100">
                <a:solidFill>
                  <a:srgbClr val="E2E8F0"/>
                </a:solidFill>
                <a:latin typeface="Calibri"/>
              </a:rPr>
              <a:t>1. Introduction to Analytics     4. Excel Fundamentals</a:t>
            </a:r>
          </a:p>
          <a:p>
            <a:r>
              <a:rPr sz="1100">
                <a:solidFill>
                  <a:srgbClr val="E2E8F0"/>
                </a:solidFill>
                <a:latin typeface="Calibri"/>
              </a:rPr>
              <a:t>2. Data Collection &amp; Sources     5. Advanced Excel</a:t>
            </a:r>
          </a:p>
          <a:p>
            <a:r>
              <a:rPr sz="1100">
                <a:solidFill>
                  <a:srgbClr val="E2E8F0"/>
                </a:solidFill>
                <a:latin typeface="Calibri"/>
              </a:rPr>
              <a:t>3. Data Cleaning &amp; Quality       6. SQL Foundations</a:t>
            </a:r>
          </a:p>
          <a:p>
            <a:r>
              <a:rPr sz="1100">
                <a:solidFill>
                  <a:srgbClr val="E2E8F0"/>
                </a:solidFill>
                <a:latin typeface="Calibri"/>
              </a:rPr>
              <a:t>7. Advanced SQL</a:t>
            </a:r>
          </a:p>
          <a:p>
            <a:r>
              <a:rPr sz="1100">
                <a:solidFill>
                  <a:srgbClr val="E2E8F0"/>
                </a:solidFill>
                <a:latin typeface="Calibri"/>
              </a:rPr>
              <a:t/>
            </a:r>
          </a:p>
          <a:p>
            <a:r>
              <a:rPr sz="1100">
                <a:solidFill>
                  <a:srgbClr val="E2E8F0"/>
                </a:solidFill>
                <a:latin typeface="Calibri"/>
              </a:rPr>
              <a:t>VISUALISATION (Modules 8–10)    ADVANCED (Modules 11–12)</a:t>
            </a:r>
          </a:p>
          <a:p>
            <a:r>
              <a:rPr sz="1100">
                <a:solidFill>
                  <a:srgbClr val="E2E8F0"/>
                </a:solidFill>
                <a:latin typeface="Calibri"/>
              </a:rPr>
              <a:t>8. Visualisation Principles      11. Statistics &amp; Prediction</a:t>
            </a:r>
          </a:p>
          <a:p>
            <a:r>
              <a:rPr sz="1100">
                <a:solidFill>
                  <a:srgbClr val="E2E8F0"/>
                </a:solidFill>
                <a:latin typeface="Calibri"/>
              </a:rPr>
              <a:t>9. Power BI Part I               12. Analytics in Practice</a:t>
            </a:r>
          </a:p>
          <a:p>
            <a:r>
              <a:rPr sz="1100">
                <a:solidFill>
                  <a:srgbClr val="E2E8F0"/>
                </a:solidFill>
                <a:latin typeface="Calibri"/>
              </a:rPr>
              <a:t>10. Power BI Part II</a:t>
            </a:r>
          </a:p>
          <a:p>
            <a:r>
              <a:rPr sz="1100">
                <a:solidFill>
                  <a:srgbClr val="E2E8F0"/>
                </a:solidFill>
                <a:latin typeface="Calibri"/>
              </a:rPr>
              <a:t>+ CAPSTONE PROJECT</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DIFFICULTY LEVEL OVERVIEW</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YOUR LEARNING JOURNEY — 4 LEVELS OF MASTERY</a:t>
            </a:r>
          </a:p>
          <a:p>
            <a:r>
              <a:rPr sz="1100">
                <a:solidFill>
                  <a:srgbClr val="E2E8F0"/>
                </a:solidFill>
                <a:latin typeface="Calibri"/>
              </a:rPr>
              <a:t/>
            </a:r>
          </a:p>
          <a:p>
            <a:r>
              <a:rPr sz="1100">
                <a:solidFill>
                  <a:srgbClr val="E2E8F0"/>
                </a:solidFill>
                <a:latin typeface="Calibri"/>
              </a:rPr>
              <a:t>BEGINNER        M1–M3    Analytics concepts · Data collection · Data cleaning</a:t>
            </a:r>
          </a:p>
          <a:p>
            <a:r>
              <a:rPr sz="1100">
                <a:solidFill>
                  <a:srgbClr val="E2E8F0"/>
                </a:solidFill>
                <a:latin typeface="Calibri"/>
              </a:rPr>
              <a:t>INTERMEDIATE    M4–M6    Excel foundations &amp; advanced · SQL basics</a:t>
            </a:r>
          </a:p>
          <a:p>
            <a:r>
              <a:rPr sz="1100">
                <a:solidFill>
                  <a:srgbClr val="E2E8F0"/>
                </a:solidFill>
                <a:latin typeface="Calibri"/>
              </a:rPr>
              <a:t>ADVANCED        M7–M9    Advanced SQL · Visualisation · Power BI dashboards</a:t>
            </a:r>
          </a:p>
          <a:p>
            <a:r>
              <a:rPr sz="1100">
                <a:solidFill>
                  <a:srgbClr val="E2E8F0"/>
                </a:solidFill>
                <a:latin typeface="Calibri"/>
              </a:rPr>
              <a:t>PROFESSIONAL   M10–M12   Power BI DAX · Statistics · Capstone project</a:t>
            </a:r>
          </a:p>
          <a:p>
            <a:r>
              <a:rPr sz="1100">
                <a:solidFill>
                  <a:srgbClr val="E2E8F0"/>
                </a:solidFill>
                <a:latin typeface="Calibri"/>
              </a:rPr>
              <a:t/>
            </a:r>
          </a:p>
          <a:p>
            <a:r>
              <a:rPr sz="1100">
                <a:solidFill>
                  <a:srgbClr val="E2E8F0"/>
                </a:solidFill>
                <a:latin typeface="Calibri"/>
              </a:rPr>
              <a:t>Complete each level before advancing to the next.</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06B6D4"/>
                </a:solidFill>
                <a:latin typeface="Calibri"/>
              </a:rPr>
              <a:t>LEVEL: BEGINNER</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1 OPENER: INTRODUCTION TO DATA ANALYTICS</a:t>
            </a:r>
          </a:p>
        </p:txBody>
      </p:sp>
      <p:sp>
        <p:nvSpPr>
          <p:cNvPr id="5" name="Rectangle 4"/>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THE FOUR TYPES OF ANALYTICS</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THE ANALYTICS PYRAMID</a:t>
            </a:r>
          </a:p>
          <a:p>
            <a:r>
              <a:rPr sz="1100">
                <a:solidFill>
                  <a:srgbClr val="E2E8F0"/>
                </a:solidFill>
                <a:latin typeface="Calibri"/>
              </a:rPr>
              <a:t/>
            </a:r>
          </a:p>
          <a:p>
            <a:r>
              <a:rPr sz="1100">
                <a:solidFill>
                  <a:srgbClr val="E2E8F0"/>
                </a:solidFill>
                <a:latin typeface="Calibri"/>
              </a:rPr>
              <a:t>PRESCRIPTIVE     "Do this to increase profit by 8%"</a:t>
            </a:r>
          </a:p>
          <a:p>
            <a:r>
              <a:rPr sz="1100">
                <a:solidFill>
                  <a:srgbClr val="E2E8F0"/>
                </a:solidFill>
                <a:latin typeface="Calibri"/>
              </a:rPr>
              <a:t>▲             Recommends action</a:t>
            </a:r>
          </a:p>
          <a:p>
            <a:r>
              <a:rPr sz="1100">
                <a:solidFill>
                  <a:srgbClr val="E2E8F0"/>
                </a:solidFill>
                <a:latin typeface="Calibri"/>
              </a:rPr>
              <a:t>│</a:t>
            </a:r>
          </a:p>
          <a:p>
            <a:r>
              <a:rPr sz="1100">
                <a:solidFill>
                  <a:srgbClr val="E2E8F0"/>
                </a:solidFill>
                <a:latin typeface="Calibri"/>
              </a:rPr>
              <a:t>PREDICTIVE       "Next week's sales will be ₦4.2M"</a:t>
            </a:r>
          </a:p>
          <a:p>
            <a:r>
              <a:rPr sz="1100">
                <a:solidFill>
                  <a:srgbClr val="E2E8F0"/>
                </a:solidFill>
                <a:latin typeface="Calibri"/>
              </a:rPr>
              <a:t>│             Forecasts the future</a:t>
            </a:r>
          </a:p>
          <a:p>
            <a:r>
              <a:rPr sz="1100">
                <a:solidFill>
                  <a:srgbClr val="E2E8F0"/>
                </a:solidFill>
                <a:latin typeface="Calibri"/>
              </a:rPr>
              <a:t>│</a:t>
            </a:r>
          </a:p>
          <a:p>
            <a:r>
              <a:rPr sz="1100">
                <a:solidFill>
                  <a:srgbClr val="E2E8F0"/>
                </a:solidFill>
                <a:latin typeface="Calibri"/>
              </a:rPr>
              <a:t>DIAGNOSTIC       "Friday sales are higher because..."</a:t>
            </a:r>
          </a:p>
          <a:p>
            <a:r>
              <a:rPr sz="1100">
                <a:solidFill>
                  <a:srgbClr val="E2E8F0"/>
                </a:solidFill>
                <a:latin typeface="Calibri"/>
              </a:rPr>
              <a:t>│             Finds causes</a:t>
            </a:r>
          </a:p>
          <a:p>
            <a:r>
              <a:rPr sz="1100">
                <a:solidFill>
                  <a:srgbClr val="E2E8F0"/>
                </a:solidFill>
                <a:latin typeface="Calibri"/>
              </a:rPr>
              <a:t>│</a:t>
            </a:r>
          </a:p>
          <a:p>
            <a:r>
              <a:rPr sz="1100">
                <a:solidFill>
                  <a:srgbClr val="E2E8F0"/>
                </a:solidFill>
                <a:latin typeface="Calibri"/>
              </a:rPr>
              <a:t>DESCRIPTIVE      "We sold 2,000 units this month"</a:t>
            </a:r>
          </a:p>
          <a:p>
            <a:r>
              <a:rPr sz="1100">
                <a:solidFill>
                  <a:srgbClr val="E2E8F0"/>
                </a:solidFill>
                <a:latin typeface="Calibri"/>
              </a:rPr>
              <a:t>Describes what happened</a:t>
            </a:r>
          </a:p>
          <a:p>
            <a:r>
              <a:rPr sz="1100">
                <a:solidFill>
                  <a:srgbClr val="E2E8F0"/>
                </a:solidFill>
                <a:latin typeface="Calibri"/>
              </a:rPr>
              <a:t/>
            </a:r>
          </a:p>
          <a:p>
            <a:r>
              <a:rPr sz="1100">
                <a:solidFill>
                  <a:srgbClr val="E2E8F0"/>
                </a:solidFill>
                <a:latin typeface="Calibri"/>
              </a:rPr>
              <a:t>Most organisations today: Level 1–2</a:t>
            </a:r>
          </a:p>
          <a:p>
            <a:r>
              <a:rPr sz="1100">
                <a:solidFill>
                  <a:srgbClr val="E2E8F0"/>
                </a:solidFill>
                <a:latin typeface="Calibri"/>
              </a:rPr>
              <a:t>Leaders (Flutterwave, Konga, MTN): Level 3–4</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THE ANALYTICS LIFECYCLE</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THE ANALYTICS LIFECYCLE</a:t>
            </a:r>
          </a:p>
          <a:p>
            <a:r>
              <a:rPr sz="1100">
                <a:solidFill>
                  <a:srgbClr val="E2E8F0"/>
                </a:solidFill>
                <a:latin typeface="Calibri"/>
              </a:rPr>
              <a:t/>
            </a:r>
          </a:p>
          <a:p>
            <a:r>
              <a:rPr sz="1100">
                <a:solidFill>
                  <a:srgbClr val="E2E8F0"/>
                </a:solidFill>
                <a:latin typeface="Calibri"/>
              </a:rPr>
              <a:t>① DEFINE            ⑥ DECIDE</a:t>
            </a:r>
          </a:p>
          <a:p>
            <a:r>
              <a:rPr sz="1100">
                <a:solidFill>
                  <a:srgbClr val="E2E8F0"/>
                </a:solidFill>
                <a:latin typeface="Calibri"/>
              </a:rPr>
              <a:t>The Question   ←   Make It Actionable</a:t>
            </a:r>
          </a:p>
          <a:p>
            <a:r>
              <a:rPr sz="1100">
                <a:solidFill>
                  <a:srgbClr val="E2E8F0"/>
                </a:solidFill>
                <a:latin typeface="Calibri"/>
              </a:rPr>
              <a:t>↓                    ↑</a:t>
            </a:r>
          </a:p>
          <a:p>
            <a:r>
              <a:rPr sz="1100">
                <a:solidFill>
                  <a:srgbClr val="E2E8F0"/>
                </a:solidFill>
                <a:latin typeface="Calibri"/>
              </a:rPr>
              <a:t>② COLLECT        ⑤ COMMUNICATE</a:t>
            </a:r>
          </a:p>
          <a:p>
            <a:r>
              <a:rPr sz="1100">
                <a:solidFill>
                  <a:srgbClr val="E2E8F0"/>
                </a:solidFill>
                <a:latin typeface="Calibri"/>
              </a:rPr>
              <a:t>The Data       →   Tell the Story</a:t>
            </a:r>
          </a:p>
          <a:p>
            <a:r>
              <a:rPr sz="1100">
                <a:solidFill>
                  <a:srgbClr val="E2E8F0"/>
                </a:solidFill>
                <a:latin typeface="Calibri"/>
              </a:rPr>
              <a:t>↓                    ↑</a:t>
            </a:r>
          </a:p>
          <a:p>
            <a:r>
              <a:rPr sz="1100">
                <a:solidFill>
                  <a:srgbClr val="E2E8F0"/>
                </a:solidFill>
                <a:latin typeface="Calibri"/>
              </a:rPr>
              <a:t>③ CLEAN         ④ ANALYSE</a:t>
            </a:r>
          </a:p>
          <a:p>
            <a:r>
              <a:rPr sz="1100">
                <a:solidFill>
                  <a:srgbClr val="E2E8F0"/>
                </a:solidFill>
                <a:latin typeface="Calibri"/>
              </a:rPr>
              <a:t>80% of Time    →   Find the Answer</a:t>
            </a:r>
          </a:p>
          <a:p>
            <a:r>
              <a:rPr sz="1100">
                <a:solidFill>
                  <a:srgbClr val="E2E8F0"/>
                </a:solidFill>
                <a:latin typeface="Calibri"/>
              </a:rPr>
              <a:t/>
            </a:r>
          </a:p>
          <a:p>
            <a:r>
              <a:rPr sz="1100">
                <a:solidFill>
                  <a:srgbClr val="E2E8F0"/>
                </a:solidFill>
                <a:latin typeface="Calibri"/>
              </a:rPr>
              <a:t>⚠  Most projects die between ③ and ④</a:t>
            </a:r>
          </a:p>
          <a:p>
            <a:r>
              <a:rPr sz="1100">
                <a:solidFill>
                  <a:srgbClr val="E2E8F0"/>
                </a:solidFill>
                <a:latin typeface="Calibri"/>
              </a:rPr>
              <a:t>(cleaning takes longer than expected)</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THE NIGERIAN DATA ECOSYSTEM</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WHO PRODUCES NIGERIA'S DATA</a:t>
            </a:r>
          </a:p>
          <a:p>
            <a:r>
              <a:rPr sz="1100">
                <a:solidFill>
                  <a:srgbClr val="E2E8F0"/>
                </a:solidFill>
                <a:latin typeface="Calibri"/>
              </a:rPr>
              <a:t/>
            </a:r>
          </a:p>
          <a:p>
            <a:r>
              <a:rPr sz="1100">
                <a:solidFill>
                  <a:srgbClr val="E2E8F0"/>
                </a:solidFill>
                <a:latin typeface="Calibri"/>
              </a:rPr>
              <a:t>NBS          Official GDP, inflation, unemployment data</a:t>
            </a:r>
          </a:p>
          <a:p>
            <a:r>
              <a:rPr sz="1100">
                <a:solidFill>
                  <a:srgbClr val="E2E8F0"/>
                </a:solidFill>
                <a:latin typeface="Calibri"/>
              </a:rPr>
              <a:t>→ nigerianstat.gov.ng (free)</a:t>
            </a:r>
          </a:p>
          <a:p>
            <a:r>
              <a:rPr sz="1100">
                <a:solidFill>
                  <a:srgbClr val="E2E8F0"/>
                </a:solidFill>
                <a:latin typeface="Calibri"/>
              </a:rPr>
              <a:t/>
            </a:r>
          </a:p>
          <a:p>
            <a:r>
              <a:rPr sz="1100">
                <a:solidFill>
                  <a:srgbClr val="E2E8F0"/>
                </a:solidFill>
                <a:latin typeface="Calibri"/>
              </a:rPr>
              <a:t>CBN          Banking sector, money supply, exchange rates</a:t>
            </a:r>
          </a:p>
          <a:p>
            <a:r>
              <a:rPr sz="1100">
                <a:solidFill>
                  <a:srgbClr val="E2E8F0"/>
                </a:solidFill>
                <a:latin typeface="Calibri"/>
              </a:rPr>
              <a:t>→ cbn.gov.ng/documents/statistics</a:t>
            </a:r>
          </a:p>
          <a:p>
            <a:r>
              <a:rPr sz="1100">
                <a:solidFill>
                  <a:srgbClr val="E2E8F0"/>
                </a:solidFill>
                <a:latin typeface="Calibri"/>
              </a:rPr>
              <a:t/>
            </a:r>
          </a:p>
          <a:p>
            <a:r>
              <a:rPr sz="1100">
                <a:solidFill>
                  <a:srgbClr val="E2E8F0"/>
                </a:solidFill>
                <a:latin typeface="Calibri"/>
              </a:rPr>
              <a:t>NIBSS        Every bank transfer, USSD, NIP transaction</a:t>
            </a:r>
          </a:p>
          <a:p>
            <a:r>
              <a:rPr sz="1100">
                <a:solidFill>
                  <a:srgbClr val="E2E8F0"/>
                </a:solidFill>
                <a:latin typeface="Calibri"/>
              </a:rPr>
              <a:t>→ nibss-plc.com.ng</a:t>
            </a:r>
          </a:p>
          <a:p>
            <a:r>
              <a:rPr sz="1100">
                <a:solidFill>
                  <a:srgbClr val="E2E8F0"/>
                </a:solidFill>
                <a:latin typeface="Calibri"/>
              </a:rPr>
              <a:t/>
            </a:r>
          </a:p>
          <a:p>
            <a:r>
              <a:rPr sz="1100">
                <a:solidFill>
                  <a:srgbClr val="E2E8F0"/>
                </a:solidFill>
                <a:latin typeface="Calibri"/>
              </a:rPr>
              <a:t>INEC         Voter registration, election results</a:t>
            </a:r>
          </a:p>
          <a:p>
            <a:r>
              <a:rPr sz="1100">
                <a:solidFill>
                  <a:srgbClr val="E2E8F0"/>
                </a:solidFill>
                <a:latin typeface="Calibri"/>
              </a:rPr>
              <a:t>→ inec.gov.ng</a:t>
            </a:r>
          </a:p>
          <a:p>
            <a:r>
              <a:rPr sz="1100">
                <a:solidFill>
                  <a:srgbClr val="E2E8F0"/>
                </a:solidFill>
                <a:latin typeface="Calibri"/>
              </a:rPr>
              <a:t/>
            </a:r>
          </a:p>
          <a:p>
            <a:r>
              <a:rPr sz="1100">
                <a:solidFill>
                  <a:srgbClr val="E2E8F0"/>
                </a:solidFill>
                <a:latin typeface="Calibri"/>
              </a:rPr>
              <a:t>Private      Flutterwave, Paystack publish periodic reports</a:t>
            </a:r>
          </a:p>
          <a:p>
            <a:r>
              <a:rPr sz="1100">
                <a:solidFill>
                  <a:srgbClr val="E2E8F0"/>
                </a:solidFill>
                <a:latin typeface="Calibri"/>
              </a:rPr>
              <a:t>→ Use for fintech market intelligence</a:t>
            </a:r>
          </a:p>
          <a:p>
            <a:r>
              <a:rPr sz="1100">
                <a:solidFill>
                  <a:srgbClr val="E2E8F0"/>
                </a:solidFill>
                <a:latin typeface="Calibri"/>
              </a:rPr>
              <a:t/>
            </a:r>
          </a:p>
          <a:p>
            <a:r>
              <a:rPr sz="1100">
                <a:solidFill>
                  <a:srgbClr val="E2E8F0"/>
                </a:solidFill>
                <a:latin typeface="Calibri"/>
              </a:rPr>
              <a:t>Your edge: You can speak to Nigerian data. International analysts can't.</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CAREER PATHS &amp; SALARIES</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DATA ANALYTICS CAREER MAP — NIGERIA 2024/25</a:t>
            </a:r>
          </a:p>
          <a:p>
            <a:r>
              <a:rPr sz="1100">
                <a:solidFill>
                  <a:srgbClr val="E2E8F0"/>
                </a:solidFill>
                <a:latin typeface="Calibri"/>
              </a:rPr>
              <a:t/>
            </a:r>
          </a:p>
          <a:p>
            <a:r>
              <a:rPr sz="1100">
                <a:solidFill>
                  <a:srgbClr val="E2E8F0"/>
                </a:solidFill>
                <a:latin typeface="Calibri"/>
              </a:rPr>
              <a:t>Entry Analyst        ₦150K–₦300K/month</a:t>
            </a:r>
          </a:p>
          <a:p>
            <a:r>
              <a:rPr sz="1100">
                <a:solidFill>
                  <a:srgbClr val="E2E8F0"/>
                </a:solidFill>
                <a:latin typeface="Calibri"/>
              </a:rPr>
              <a:t>Mid-Level (2–4yr)    ₦400K–₦800K/month</a:t>
            </a:r>
          </a:p>
          <a:p>
            <a:r>
              <a:rPr sz="1100">
                <a:solidFill>
                  <a:srgbClr val="E2E8F0"/>
                </a:solidFill>
                <a:latin typeface="Calibri"/>
              </a:rPr>
              <a:t>Senior Analyst       ₦900K–₦1.5M/month</a:t>
            </a:r>
          </a:p>
          <a:p>
            <a:r>
              <a:rPr sz="1100">
                <a:solidFill>
                  <a:srgbClr val="E2E8F0"/>
                </a:solidFill>
                <a:latin typeface="Calibri"/>
              </a:rPr>
              <a:t>Analytics Manager    ₦1.5M–₦3M/month</a:t>
            </a:r>
          </a:p>
          <a:p>
            <a:r>
              <a:rPr sz="1100">
                <a:solidFill>
                  <a:srgbClr val="E2E8F0"/>
                </a:solidFill>
                <a:latin typeface="Calibri"/>
              </a:rPr>
              <a:t/>
            </a:r>
          </a:p>
          <a:p>
            <a:r>
              <a:rPr sz="1100">
                <a:solidFill>
                  <a:srgbClr val="E2E8F0"/>
                </a:solidFill>
                <a:latin typeface="Calibri"/>
              </a:rPr>
              <a:t>🌍 REMOTE OPPORTUNITY</a:t>
            </a:r>
          </a:p>
          <a:p>
            <a:r>
              <a:rPr sz="1100">
                <a:solidFill>
                  <a:srgbClr val="E2E8F0"/>
                </a:solidFill>
                <a:latin typeface="Calibri"/>
              </a:rPr>
              <a:t>International companies hire Nigerian analysts</a:t>
            </a:r>
          </a:p>
          <a:p>
            <a:r>
              <a:rPr sz="1100">
                <a:solidFill>
                  <a:srgbClr val="E2E8F0"/>
                </a:solidFill>
                <a:latin typeface="Calibri"/>
              </a:rPr>
              <a:t>$2,000–$5,000/month — from anywhere in Nigeria</a:t>
            </a:r>
          </a:p>
          <a:p>
            <a:r>
              <a:rPr sz="1100">
                <a:solidFill>
                  <a:srgbClr val="E2E8F0"/>
                </a:solidFill>
                <a:latin typeface="Calibri"/>
              </a:rPr>
              <a:t/>
            </a:r>
          </a:p>
          <a:p>
            <a:r>
              <a:rPr sz="1300" b="1">
                <a:solidFill>
                  <a:srgbClr val="06B6D4"/>
                </a:solidFill>
                <a:latin typeface="Calibri"/>
              </a:rPr>
              <a:t>TOP HIRING SECTORS:</a:t>
            </a:r>
          </a:p>
          <a:p>
            <a:r>
              <a:rPr sz="1100">
                <a:solidFill>
                  <a:srgbClr val="E2E8F0"/>
                </a:solidFill>
                <a:latin typeface="Calibri"/>
              </a:rPr>
              <a:t>Fintech  ·  Telecom  ·  Banking  ·  FMCG  ·  Consulting</a:t>
            </a:r>
          </a:p>
          <a:p>
            <a:r>
              <a:rPr sz="1100">
                <a:solidFill>
                  <a:srgbClr val="E2E8F0"/>
                </a:solidFill>
                <a:latin typeface="Calibri"/>
              </a:rPr>
              <a:t/>
            </a:r>
          </a:p>
          <a:p>
            <a:r>
              <a:rPr sz="1100">
                <a:solidFill>
                  <a:srgbClr val="E2E8F0"/>
                </a:solidFill>
                <a:latin typeface="Calibri"/>
              </a:rPr>
              <a:t>Your MetaBridge certificate:</a:t>
            </a:r>
          </a:p>
          <a:p>
            <a:r>
              <a:rPr sz="1100">
                <a:solidFill>
                  <a:srgbClr val="E2E8F0"/>
                </a:solidFill>
                <a:latin typeface="Calibri"/>
              </a:rPr>
              <a:t>Blockchain-verified → instantly confirmedby any employer</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06B6D4"/>
                </a:solidFill>
                <a:latin typeface="Calibri"/>
              </a:rPr>
              <a:t>LEVEL: BEGINNER</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2 OPENER: DATA COLLECTION &amp; SOURCES</a:t>
            </a:r>
          </a:p>
        </p:txBody>
      </p:sp>
      <p:sp>
        <p:nvSpPr>
          <p:cNvPr id="5" name="Rectangle 4"/>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DATA TYPES: THE FOUNDATION</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DATA TYPES — THE CLASSIFICATION</a:t>
            </a:r>
          </a:p>
          <a:p>
            <a:r>
              <a:rPr sz="1100">
                <a:solidFill>
                  <a:srgbClr val="E2E8F0"/>
                </a:solidFill>
                <a:latin typeface="Calibri"/>
              </a:rPr>
              <a:t/>
            </a:r>
          </a:p>
          <a:p>
            <a:r>
              <a:rPr sz="1100">
                <a:solidFill>
                  <a:srgbClr val="E2E8F0"/>
                </a:solidFill>
                <a:latin typeface="Calibri"/>
              </a:rPr>
              <a:t>QUANTITATIVE (Numeric)          QUALITATIVE (Categorical)</a:t>
            </a:r>
          </a:p>
          <a:p>
            <a:r>
              <a:rPr sz="1100">
                <a:solidFill>
                  <a:srgbClr val="E2E8F0"/>
                </a:solidFill>
                <a:latin typeface="Calibri"/>
              </a:rPr>
              <a:t>━━━━━━━━━━━━━━━━━━━━━━━━━━━━━━━━━━━━━━━━━━━━━━━━━━━━━━━━</a:t>
            </a:r>
          </a:p>
          <a:p>
            <a:r>
              <a:rPr sz="1300" b="1">
                <a:solidFill>
                  <a:srgbClr val="06B6D4"/>
                </a:solidFill>
                <a:latin typeface="Calibri"/>
              </a:rPr>
              <a:t>DISCRETE          CONTINUOUS    NOMINAL         ORDINAL</a:t>
            </a:r>
          </a:p>
          <a:p>
            <a:r>
              <a:rPr sz="1100">
                <a:solidFill>
                  <a:srgbClr val="E2E8F0"/>
                </a:solidFill>
                <a:latin typeface="Calibri"/>
              </a:rPr>
              <a:t>Whole numbers     Any value     No order        Has order</a:t>
            </a:r>
          </a:p>
          <a:p>
            <a:r>
              <a:rPr sz="1100">
                <a:solidFill>
                  <a:srgbClr val="E2E8F0"/>
                </a:solidFill>
                <a:latin typeface="Calibri"/>
              </a:rPr>
              <a:t/>
            </a:r>
          </a:p>
          <a:p>
            <a:r>
              <a:rPr sz="1100">
                <a:solidFill>
                  <a:srgbClr val="E2E8F0"/>
                </a:solidFill>
                <a:latin typeface="Calibri"/>
              </a:rPr>
              <a:t>Examples:         Examples:     Examples:       Examples:</a:t>
            </a:r>
          </a:p>
          <a:p>
            <a:r>
              <a:rPr sz="1100">
                <a:solidFill>
                  <a:srgbClr val="E2E8F0"/>
                </a:solidFill>
                <a:latin typeface="Calibri"/>
              </a:rPr>
              <a:t>  • No. of branches • Revenue     • Payment type  • Satisfaction</a:t>
            </a:r>
          </a:p>
          <a:p>
            <a:r>
              <a:rPr sz="1100">
                <a:solidFill>
                  <a:srgbClr val="E2E8F0"/>
                </a:solidFill>
                <a:latin typeface="Calibri"/>
              </a:rPr>
              <a:t>  • Transaction     • Time        • State         • Education</a:t>
            </a:r>
          </a:p>
          <a:p>
            <a:r>
              <a:rPr sz="1100">
                <a:solidFill>
                  <a:srgbClr val="E2E8F0"/>
                </a:solidFill>
                <a:latin typeface="Calibri"/>
              </a:rPr>
              <a:t>count           • Weight      • Gender        • Income band</a:t>
            </a:r>
          </a:p>
          <a:p>
            <a:r>
              <a:rPr sz="1100">
                <a:solidFill>
                  <a:srgbClr val="E2E8F0"/>
                </a:solidFill>
                <a:latin typeface="Calibri"/>
              </a:rPr>
              <a:t/>
            </a:r>
          </a:p>
          <a:p>
            <a:r>
              <a:rPr sz="1100">
                <a:solidFill>
                  <a:srgbClr val="E2E8F0"/>
                </a:solidFill>
                <a:latin typeface="Calibri"/>
              </a:rPr>
              <a:t>━━━━━━━━━━━━━━━━━━━━━━━━━━━━━━━━━━━━━━━━━━━━━━━━━━━━━━━━</a:t>
            </a:r>
          </a:p>
          <a:p>
            <a:r>
              <a:rPr sz="1100">
                <a:solidFill>
                  <a:srgbClr val="E2E8F0"/>
                </a:solidFill>
                <a:latin typeface="Calibri"/>
              </a:rPr>
              <a:t>⚠ The type of data determines which analysis method applies</a:t>
            </a:r>
          </a:p>
          <a:p>
            <a:r>
              <a:rPr sz="1100">
                <a:solidFill>
                  <a:srgbClr val="E2E8F0"/>
                </a:solidFill>
                <a:latin typeface="Calibri"/>
              </a:rPr>
              <a:t>Don't calculate averages of categorical data</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SURVEY DESIGN RULES</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SURVEY DESIGN — THE RULES</a:t>
            </a:r>
          </a:p>
          <a:p>
            <a:r>
              <a:rPr sz="1100">
                <a:solidFill>
                  <a:srgbClr val="E2E8F0"/>
                </a:solidFill>
                <a:latin typeface="Calibri"/>
              </a:rPr>
              <a:t/>
            </a:r>
          </a:p>
          <a:p>
            <a:r>
              <a:rPr sz="1100">
                <a:solidFill>
                  <a:srgbClr val="E2E8F0"/>
                </a:solidFill>
                <a:latin typeface="Calibri"/>
              </a:rPr>
              <a:t>✗ BAD                           ✓ GOOD</a:t>
            </a:r>
          </a:p>
          <a:p>
            <a:r>
              <a:rPr sz="1100">
                <a:solidFill>
                  <a:srgbClr val="E2E8F0"/>
                </a:solidFill>
                <a:latin typeface="Calibri"/>
              </a:rPr>
              <a:t/>
            </a:r>
          </a:p>
          <a:p>
            <a:r>
              <a:rPr sz="1100">
                <a:solidFill>
                  <a:srgbClr val="E2E8F0"/>
                </a:solidFill>
                <a:latin typeface="Calibri"/>
              </a:rPr>
              <a:t>"Are you satisfied with our     "How would you rate our pricing</a:t>
            </a:r>
          </a:p>
          <a:p>
            <a:r>
              <a:rPr sz="1100">
                <a:solidFill>
                  <a:srgbClr val="E2E8F0"/>
                </a:solidFill>
                <a:latin typeface="Calibri"/>
              </a:rPr>
              <a:t>pricing and delivery speed?"    on a scale of 1–5?"</a:t>
            </a:r>
          </a:p>
          <a:p>
            <a:r>
              <a:rPr sz="1100">
                <a:solidFill>
                  <a:srgbClr val="E2E8F0"/>
                </a:solidFill>
                <a:latin typeface="Calibri"/>
              </a:rPr>
              <a:t>(Two questions in one)          "How would you rate delivery speed?"</a:t>
            </a:r>
          </a:p>
          <a:p>
            <a:r>
              <a:rPr sz="1100">
                <a:solidFill>
                  <a:srgbClr val="E2E8F0"/>
                </a:solidFill>
                <a:latin typeface="Calibri"/>
              </a:rPr>
              <a:t/>
            </a:r>
          </a:p>
          <a:p>
            <a:r>
              <a:rPr sz="1100">
                <a:solidFill>
                  <a:srgbClr val="E2E8F0"/>
                </a:solidFill>
                <a:latin typeface="Calibri"/>
              </a:rPr>
              <a:t>"Don't you agree our service    "Overall, how satisfied are you</a:t>
            </a:r>
          </a:p>
          <a:p>
            <a:r>
              <a:rPr sz="1100">
                <a:solidFill>
                  <a:srgbClr val="E2E8F0"/>
                </a:solidFill>
                <a:latin typeface="Calibri"/>
              </a:rPr>
              <a:t>is excellent?"                  with our service?"</a:t>
            </a:r>
          </a:p>
          <a:p>
            <a:r>
              <a:rPr sz="1100">
                <a:solidFill>
                  <a:srgbClr val="E2E8F0"/>
                </a:solidFill>
                <a:latin typeface="Calibri"/>
              </a:rPr>
              <a:t>(Leading question)              (Neutral wording)</a:t>
            </a:r>
          </a:p>
          <a:p>
            <a:r>
              <a:rPr sz="1100">
                <a:solidFill>
                  <a:srgbClr val="E2E8F0"/>
                </a:solidFill>
                <a:latin typeface="Calibri"/>
              </a:rPr>
              <a:t/>
            </a:r>
          </a:p>
          <a:p>
            <a:r>
              <a:rPr sz="1100">
                <a:solidFill>
                  <a:srgbClr val="E2E8F0"/>
                </a:solidFill>
                <a:latin typeface="Calibri"/>
              </a:rPr>
              <a:t>"Rate us" (No scale given)      "Rate us: 1=Very Poor, 5=Excellent"</a:t>
            </a:r>
          </a:p>
          <a:p>
            <a:r>
              <a:rPr sz="1100">
                <a:solidFill>
                  <a:srgbClr val="E2E8F0"/>
                </a:solidFill>
                <a:latin typeface="Calibri"/>
              </a:rPr>
              <a:t>(Defined scale)</a:t>
            </a:r>
          </a:p>
          <a:p>
            <a:r>
              <a:rPr sz="1100">
                <a:solidFill>
                  <a:srgbClr val="E2E8F0"/>
                </a:solidFill>
                <a:latin typeface="Calibri"/>
              </a:rPr>
              <a:t/>
            </a:r>
          </a:p>
          <a:p>
            <a:r>
              <a:rPr sz="1100">
                <a:solidFill>
                  <a:srgbClr val="E2E8F0"/>
                </a:solidFill>
                <a:latin typeface="Calibri"/>
              </a:rPr>
              <a:t>NIGERIAN CONTEXT: Share surveys via WhatsApp, not email.</a:t>
            </a:r>
          </a:p>
          <a:p>
            <a:r>
              <a:rPr sz="1100">
                <a:solidFill>
                  <a:srgbClr val="E2E8F0"/>
                </a:solidFill>
                <a:latin typeface="Calibri"/>
              </a:rPr>
              <a:t>Response rates 3–5× higher on WhatsApp links.</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NDPA 2023: DATA PROTECTION IN NIGERIA</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NIGERIA DATA PROTECTION ACT 2023</a:t>
            </a:r>
          </a:p>
          <a:p>
            <a:r>
              <a:rPr sz="1100">
                <a:solidFill>
                  <a:srgbClr val="E2E8F0"/>
                </a:solidFill>
                <a:latin typeface="Calibri"/>
              </a:rPr>
              <a:t>Signed June 14, 2023 | Enforced by NDPC</a:t>
            </a:r>
          </a:p>
          <a:p>
            <a:r>
              <a:rPr sz="1100">
                <a:solidFill>
                  <a:srgbClr val="E2E8F0"/>
                </a:solidFill>
                <a:latin typeface="Calibri"/>
              </a:rPr>
              <a:t/>
            </a:r>
          </a:p>
          <a:p>
            <a:r>
              <a:rPr sz="1300" b="1">
                <a:solidFill>
                  <a:srgbClr val="06B6D4"/>
                </a:solidFill>
                <a:latin typeface="Calibri"/>
              </a:rPr>
              <a:t>YOUR OBLIGATIONS AS A DATA ANALYST:</a:t>
            </a:r>
          </a:p>
          <a:p>
            <a:r>
              <a:rPr sz="1100">
                <a:solidFill>
                  <a:srgbClr val="E2E8F0"/>
                </a:solidFill>
                <a:latin typeface="Calibri"/>
              </a:rPr>
              <a:t/>
            </a:r>
          </a:p>
          <a:p>
            <a:r>
              <a:rPr sz="1100">
                <a:solidFill>
                  <a:srgbClr val="E2E8F0"/>
                </a:solidFill>
                <a:latin typeface="Calibri"/>
              </a:rPr>
              <a:t>Lawful Basis    Get consent OR have a contractual/legal reason</a:t>
            </a:r>
          </a:p>
          <a:p>
            <a:r>
              <a:rPr sz="1100">
                <a:solidFill>
                  <a:srgbClr val="E2E8F0"/>
                </a:solidFill>
                <a:latin typeface="Calibri"/>
              </a:rPr>
              <a:t>to hold personal data</a:t>
            </a:r>
          </a:p>
          <a:p>
            <a:r>
              <a:rPr sz="1100">
                <a:solidFill>
                  <a:srgbClr val="E2E8F0"/>
                </a:solidFill>
                <a:latin typeface="Calibri"/>
              </a:rPr>
              <a:t/>
            </a:r>
          </a:p>
          <a:p>
            <a:r>
              <a:rPr sz="1100">
                <a:solidFill>
                  <a:srgbClr val="E2E8F0"/>
                </a:solidFill>
                <a:latin typeface="Calibri"/>
              </a:rPr>
              <a:t>Data Rights     Subjects can access, correct, delete, port their data</a:t>
            </a:r>
          </a:p>
          <a:p>
            <a:r>
              <a:rPr sz="1100">
                <a:solidFill>
                  <a:srgbClr val="E2E8F0"/>
                </a:solidFill>
                <a:latin typeface="Calibri"/>
              </a:rPr>
              <a:t>You must facilitate these requests</a:t>
            </a:r>
          </a:p>
          <a:p>
            <a:r>
              <a:rPr sz="1100">
                <a:solidFill>
                  <a:srgbClr val="E2E8F0"/>
                </a:solidFill>
                <a:latin typeface="Calibri"/>
              </a:rPr>
              <a:t/>
            </a:r>
          </a:p>
          <a:p>
            <a:r>
              <a:rPr sz="1100">
                <a:solidFill>
                  <a:srgbClr val="E2E8F0"/>
                </a:solidFill>
                <a:latin typeface="Calibri"/>
              </a:rPr>
              <a:t>Minimisation    Collect only what you need for the stated purpose</a:t>
            </a:r>
          </a:p>
          <a:p>
            <a:r>
              <a:rPr sz="1100">
                <a:solidFill>
                  <a:srgbClr val="E2E8F0"/>
                </a:solidFill>
                <a:latin typeface="Calibri"/>
              </a:rPr>
              <a:t/>
            </a:r>
          </a:p>
          <a:p>
            <a:r>
              <a:rPr sz="1100">
                <a:solidFill>
                  <a:srgbClr val="E2E8F0"/>
                </a:solidFill>
                <a:latin typeface="Calibri"/>
              </a:rPr>
              <a:t>Security        Encrypt personal data. No customer files on WhatsApp.</a:t>
            </a:r>
          </a:p>
          <a:p>
            <a:r>
              <a:rPr sz="1100">
                <a:solidFill>
                  <a:srgbClr val="E2E8F0"/>
                </a:solidFill>
                <a:latin typeface="Calibri"/>
              </a:rPr>
              <a:t/>
            </a:r>
          </a:p>
          <a:p>
            <a:r>
              <a:rPr sz="1100">
                <a:solidFill>
                  <a:srgbClr val="E2E8F0"/>
                </a:solidFill>
                <a:latin typeface="Calibri"/>
              </a:rPr>
              <a:t>Breach           Report to NDPC within 72 hours</a:t>
            </a:r>
          </a:p>
          <a:p>
            <a:r>
              <a:rPr sz="1100">
                <a:solidFill>
                  <a:srgbClr val="E2E8F0"/>
                </a:solidFill>
                <a:latin typeface="Calibri"/>
              </a:rPr>
              <a:t/>
            </a:r>
          </a:p>
          <a:p>
            <a:r>
              <a:rPr sz="1100">
                <a:solidFill>
                  <a:srgbClr val="E2E8F0"/>
                </a:solidFill>
                <a:latin typeface="Calibri"/>
              </a:rPr>
              <a:t>PENALTY: ₦10M or 2% of annual revenue — whichever is higher</a:t>
            </a:r>
          </a:p>
          <a:p>
            <a:r>
              <a:rPr sz="1100">
                <a:solidFill>
                  <a:srgbClr val="E2E8F0"/>
                </a:solidFill>
                <a:latin typeface="Calibri"/>
              </a:rPr>
              <a:t/>
            </a:r>
          </a:p>
          <a:p>
            <a:r>
              <a:rPr sz="1100">
                <a:solidFill>
                  <a:srgbClr val="E2E8F0"/>
                </a:solidFill>
                <a:latin typeface="Calibri"/>
              </a:rPr>
              <a:t>This is not optional. This is professional responsibility.</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06B6D4"/>
                </a:solidFill>
                <a:latin typeface="Calibri"/>
              </a:rPr>
              <a:t>LEVEL: BEGINNER</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3 OPENER: DATA CLEANING &amp; QUALITY</a:t>
            </a:r>
          </a:p>
        </p:txBody>
      </p:sp>
      <p:sp>
        <p:nvSpPr>
          <p:cNvPr id="5" name="Rectangle 4"/>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DATA QUALITY DIMENSIONS: FACT+CVR</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7 DIMENSIONS OF DATA QUALITY</a:t>
            </a:r>
          </a:p>
          <a:p>
            <a:r>
              <a:rPr sz="1100">
                <a:solidFill>
                  <a:srgbClr val="E2E8F0"/>
                </a:solidFill>
                <a:latin typeface="Calibri"/>
              </a:rPr>
              <a:t/>
            </a:r>
          </a:p>
          <a:p>
            <a:r>
              <a:rPr sz="1100">
                <a:solidFill>
                  <a:srgbClr val="E2E8F0"/>
                </a:solidFill>
                <a:latin typeface="Calibri"/>
              </a:rPr>
              <a:t>F  FRESHNESS       Is the data current? Pre-COVID data ≠ 2024 reality</a:t>
            </a:r>
          </a:p>
          <a:p>
            <a:r>
              <a:rPr sz="1100">
                <a:solidFill>
                  <a:srgbClr val="E2E8F0"/>
                </a:solidFill>
                <a:latin typeface="Calibri"/>
              </a:rPr>
              <a:t/>
            </a:r>
          </a:p>
          <a:p>
            <a:r>
              <a:rPr sz="1100">
                <a:solidFill>
                  <a:srgbClr val="E2E8F0"/>
                </a:solidFill>
                <a:latin typeface="Calibri"/>
              </a:rPr>
              <a:t>A  ACCURACY        Are values correct? Age=150 is inaccurate.</a:t>
            </a:r>
          </a:p>
          <a:p>
            <a:r>
              <a:rPr sz="1100">
                <a:solidFill>
                  <a:srgbClr val="E2E8F0"/>
                </a:solidFill>
                <a:latin typeface="Calibri"/>
              </a:rPr>
              <a:t/>
            </a:r>
          </a:p>
          <a:p>
            <a:r>
              <a:rPr sz="1100">
                <a:solidFill>
                  <a:srgbClr val="E2E8F0"/>
                </a:solidFill>
                <a:latin typeface="Calibri"/>
              </a:rPr>
              <a:t>C  COMPLETENESS    Are required fields populated? Missing ≠ zero.</a:t>
            </a:r>
          </a:p>
          <a:p>
            <a:r>
              <a:rPr sz="1100">
                <a:solidFill>
                  <a:srgbClr val="E2E8F0"/>
                </a:solidFill>
                <a:latin typeface="Calibri"/>
              </a:rPr>
              <a:t/>
            </a:r>
          </a:p>
          <a:p>
            <a:r>
              <a:rPr sz="1100">
                <a:solidFill>
                  <a:srgbClr val="E2E8F0"/>
                </a:solidFill>
                <a:latin typeface="Calibri"/>
              </a:rPr>
              <a:t>T  TIMELINESS      Did data arrive when needed?</a:t>
            </a:r>
          </a:p>
          <a:p>
            <a:r>
              <a:rPr sz="1100">
                <a:solidFill>
                  <a:srgbClr val="E2E8F0"/>
                </a:solidFill>
                <a:latin typeface="Calibri"/>
              </a:rPr>
              <a:t/>
            </a:r>
          </a:p>
          <a:p>
            <a:r>
              <a:rPr sz="1100">
                <a:solidFill>
                  <a:srgbClr val="E2E8F0"/>
                </a:solidFill>
                <a:latin typeface="Calibri"/>
              </a:rPr>
              <a:t>C  CONSISTENCY     Same fact, same format across all systems?</a:t>
            </a:r>
          </a:p>
          <a:p>
            <a:r>
              <a:rPr sz="1100">
                <a:solidFill>
                  <a:srgbClr val="E2E8F0"/>
                </a:solidFill>
                <a:latin typeface="Calibri"/>
              </a:rPr>
              <a:t>'Lagos' vs 'LG' vs 'Lagos State' = inconsistent</a:t>
            </a:r>
          </a:p>
          <a:p>
            <a:r>
              <a:rPr sz="1100">
                <a:solidFill>
                  <a:srgbClr val="E2E8F0"/>
                </a:solidFill>
                <a:latin typeface="Calibri"/>
              </a:rPr>
              <a:t/>
            </a:r>
          </a:p>
          <a:p>
            <a:r>
              <a:rPr sz="1100">
                <a:solidFill>
                  <a:srgbClr val="E2E8F0"/>
                </a:solidFill>
                <a:latin typeface="Calibri"/>
              </a:rPr>
              <a:t>V  VALIDITY        Does data conform to rules? No negative salaries.</a:t>
            </a:r>
          </a:p>
          <a:p>
            <a:r>
              <a:rPr sz="1100">
                <a:solidFill>
                  <a:srgbClr val="E2E8F0"/>
                </a:solidFill>
                <a:latin typeface="Calibri"/>
              </a:rPr>
              <a:t/>
            </a:r>
          </a:p>
          <a:p>
            <a:r>
              <a:rPr sz="1100">
                <a:solidFill>
                  <a:srgbClr val="E2E8F0"/>
                </a:solidFill>
                <a:latin typeface="Calibri"/>
              </a:rPr>
              <a:t>R  RELIABILITY     Is the collection process trustworthy &amp; repeatable?</a:t>
            </a:r>
          </a:p>
          <a:p>
            <a:r>
              <a:rPr sz="1100">
                <a:solidFill>
                  <a:srgbClr val="E2E8F0"/>
                </a:solidFill>
                <a:latin typeface="Calibri"/>
              </a:rPr>
              <a:t/>
            </a:r>
          </a:p>
          <a:p>
            <a:r>
              <a:rPr sz="1100">
                <a:solidFill>
                  <a:srgbClr val="E2E8F0"/>
                </a:solidFill>
                <a:latin typeface="Calibri"/>
              </a:rPr>
              <a:t>Diagnose first. Then clean.</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THE THREE TYPES OF MISSING DATA</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MISSING DATA — THREE TYPES, THREE SOLUTIONS</a:t>
            </a:r>
          </a:p>
          <a:p>
            <a:r>
              <a:rPr sz="1100">
                <a:solidFill>
                  <a:srgbClr val="E2E8F0"/>
                </a:solidFill>
                <a:latin typeface="Calibri"/>
              </a:rPr>
              <a:t/>
            </a:r>
          </a:p>
          <a:p>
            <a:r>
              <a:rPr sz="1300" b="1">
                <a:solidFill>
                  <a:srgbClr val="06B6D4"/>
                </a:solidFill>
                <a:latin typeface="Calibri"/>
              </a:rPr>
              <a:t>MCAR                    MAR                     MNAR</a:t>
            </a:r>
          </a:p>
          <a:p>
            <a:r>
              <a:rPr sz="1100">
                <a:solidFill>
                  <a:srgbClr val="E2E8F0"/>
                </a:solidFill>
                <a:latin typeface="Calibri"/>
              </a:rPr>
              <a:t>Missing Completely      Missing At Random       Missing Not At Random</a:t>
            </a:r>
          </a:p>
          <a:p>
            <a:r>
              <a:rPr sz="1100">
                <a:solidFill>
                  <a:srgbClr val="E2E8F0"/>
                </a:solidFill>
                <a:latin typeface="Calibri"/>
              </a:rPr>
              <a:t>At Random               (conditioned on         (conditioned on the</a:t>
            </a:r>
          </a:p>
          <a:p>
            <a:r>
              <a:rPr sz="1100">
                <a:solidFill>
                  <a:srgbClr val="E2E8F0"/>
                </a:solidFill>
                <a:latin typeface="Calibri"/>
              </a:rPr>
              <a:t>observed variables)     missing value itself)</a:t>
            </a:r>
          </a:p>
          <a:p>
            <a:r>
              <a:rPr sz="1100">
                <a:solidFill>
                  <a:srgbClr val="E2E8F0"/>
                </a:solidFill>
                <a:latin typeface="Calibri"/>
              </a:rPr>
              <a:t/>
            </a:r>
          </a:p>
          <a:p>
            <a:r>
              <a:rPr sz="1100">
                <a:solidFill>
                  <a:srgbClr val="E2E8F0"/>
                </a:solidFill>
                <a:latin typeface="Calibri"/>
              </a:rPr>
              <a:t>"Random server error    "Older customers        "High earners refuse</a:t>
            </a:r>
          </a:p>
          <a:p>
            <a:r>
              <a:rPr sz="1100">
                <a:solidFill>
                  <a:srgbClr val="E2E8F0"/>
                </a:solidFill>
                <a:latin typeface="Calibri"/>
              </a:rPr>
              <a:t>skipped some fields"   don't report income"    to report income"</a:t>
            </a:r>
          </a:p>
          <a:p>
            <a:r>
              <a:rPr sz="1100">
                <a:solidFill>
                  <a:srgbClr val="E2E8F0"/>
                </a:solidFill>
                <a:latin typeface="Calibri"/>
              </a:rPr>
              <a:t/>
            </a:r>
          </a:p>
          <a:p>
            <a:r>
              <a:rPr sz="1100">
                <a:solidFill>
                  <a:srgbClr val="E2E8F0"/>
                </a:solidFill>
                <a:latin typeface="Calibri"/>
              </a:rPr>
              <a:t>Pattern: None           Pattern: Related to     Pattern: Related to</a:t>
            </a:r>
          </a:p>
          <a:p>
            <a:r>
              <a:rPr sz="1100">
                <a:solidFill>
                  <a:srgbClr val="E2E8F0"/>
                </a:solidFill>
                <a:latin typeface="Calibri"/>
              </a:rPr>
              <a:t>other columns (Age)     missing value itself</a:t>
            </a:r>
          </a:p>
          <a:p>
            <a:r>
              <a:rPr sz="1100">
                <a:solidFill>
                  <a:srgbClr val="E2E8F0"/>
                </a:solidFill>
                <a:latin typeface="Calibri"/>
              </a:rPr>
              <a:t/>
            </a:r>
          </a:p>
          <a:p>
            <a:r>
              <a:rPr sz="1100">
                <a:solidFill>
                  <a:srgbClr val="E2E8F0"/>
                </a:solidFill>
                <a:latin typeface="Calibri"/>
              </a:rPr>
              <a:t>Solution: Safe to       Solution: Use other     Solution: Acknowledge</a:t>
            </a:r>
          </a:p>
          <a:p>
            <a:r>
              <a:rPr sz="1100">
                <a:solidFill>
                  <a:srgbClr val="E2E8F0"/>
                </a:solidFill>
                <a:latin typeface="Calibri"/>
              </a:rPr>
              <a:t>delete or impute        variables to impute     limitation. No clean fix.</a:t>
            </a:r>
          </a:p>
          <a:p>
            <a:r>
              <a:rPr sz="1100">
                <a:solidFill>
                  <a:srgbClr val="E2E8F0"/>
                </a:solidFill>
                <a:latin typeface="Calibri"/>
              </a:rPr>
              <a:t>with mean/median</a:t>
            </a:r>
          </a:p>
          <a:p>
            <a:r>
              <a:rPr sz="1100">
                <a:solidFill>
                  <a:srgbClr val="E2E8F0"/>
                </a:solidFill>
                <a:latin typeface="Calibri"/>
              </a:rPr>
              <a:t/>
            </a:r>
          </a:p>
          <a:p>
            <a:r>
              <a:rPr sz="1100">
                <a:solidFill>
                  <a:srgbClr val="E2E8F0"/>
                </a:solidFill>
                <a:latin typeface="Calibri"/>
              </a:rPr>
              <a:t>⚠ Replacing missing numbers with zero is ALWAYS wrong unless zero is actually the correct value</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06B6D4"/>
                </a:solidFill>
                <a:latin typeface="Calibri"/>
              </a:rPr>
              <a:t>LEVEL: INTERMEDIATE</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4 OPENER: EXCEL FUNDAMENTALS</a:t>
            </a:r>
          </a:p>
        </p:txBody>
      </p:sp>
      <p:sp>
        <p:nvSpPr>
          <p:cNvPr id="5" name="Rectangle 4"/>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THE THREE LOOKUP FUNCTIONS</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THREE WAYS TO LOOK UP DATA</a:t>
            </a:r>
          </a:p>
          <a:p>
            <a:r>
              <a:rPr sz="1100">
                <a:solidFill>
                  <a:srgbClr val="E2E8F0"/>
                </a:solidFill>
                <a:latin typeface="Calibri"/>
              </a:rPr>
              <a:t/>
            </a:r>
          </a:p>
          <a:p>
            <a:r>
              <a:rPr sz="1300" b="1">
                <a:solidFill>
                  <a:srgbClr val="06B6D4"/>
                </a:solidFill>
                <a:latin typeface="Calibri"/>
              </a:rPr>
              <a:t>VLOOKUP      INDEX-MATCH    XLOOKUP</a:t>
            </a:r>
          </a:p>
          <a:p>
            <a:r>
              <a:rPr sz="1100">
                <a:solidFill>
                  <a:srgbClr val="E2E8F0"/>
                </a:solidFill>
                <a:latin typeface="Calibri"/>
              </a:rPr>
              <a:t>(Excel 365)</a:t>
            </a:r>
          </a:p>
          <a:p>
            <a:r>
              <a:rPr sz="1100">
                <a:solidFill>
                  <a:srgbClr val="E2E8F0"/>
                </a:solidFill>
                <a:latin typeface="Calibri"/>
              </a:rPr>
              <a:t>━━━━━━━━━━━━━━━━━━━━━━━━━━━━━━━━━━━━━━━━━━━━━━━━━━━</a:t>
            </a:r>
          </a:p>
          <a:p>
            <a:r>
              <a:rPr sz="1100">
                <a:solidFill>
                  <a:srgbClr val="E2E8F0"/>
                </a:solidFill>
                <a:latin typeface="Calibri"/>
              </a:rPr>
              <a:t>Syntax           Simple       Moderate       Simplest</a:t>
            </a:r>
          </a:p>
          <a:p>
            <a:r>
              <a:rPr sz="1100">
                <a:solidFill>
                  <a:srgbClr val="E2E8F0"/>
                </a:solidFill>
                <a:latin typeface="Calibri"/>
              </a:rPr>
              <a:t>Lookup Left      ✗ No        ✓ Yes          ✓ Yes</a:t>
            </a:r>
          </a:p>
          <a:p>
            <a:r>
              <a:rPr sz="1100">
                <a:solidFill>
                  <a:srgbClr val="E2E8F0"/>
                </a:solidFill>
                <a:latin typeface="Calibri"/>
              </a:rPr>
              <a:t>Column Add-safe  ✗ No        ✓ Yes          ✓ Yes</a:t>
            </a:r>
          </a:p>
          <a:p>
            <a:r>
              <a:rPr sz="1100">
                <a:solidFill>
                  <a:srgbClr val="E2E8F0"/>
                </a:solidFill>
                <a:latin typeface="Calibri"/>
              </a:rPr>
              <a:t>Built-in errors  ✗ No        ✗ No           ✓ Yes</a:t>
            </a:r>
          </a:p>
          <a:p>
            <a:r>
              <a:rPr sz="1100">
                <a:solidFill>
                  <a:srgbClr val="E2E8F0"/>
                </a:solidFill>
                <a:latin typeface="Calibri"/>
              </a:rPr>
              <a:t>Multi-column     ✗ No        Possible       ✓ Yes</a:t>
            </a:r>
          </a:p>
          <a:p>
            <a:r>
              <a:rPr sz="1100">
                <a:solidFill>
                  <a:srgbClr val="E2E8F0"/>
                </a:solidFill>
                <a:latin typeface="Calibri"/>
              </a:rPr>
              <a:t/>
            </a:r>
          </a:p>
          <a:p>
            <a:r>
              <a:rPr sz="1000">
                <a:solidFill>
                  <a:srgbClr val="4ADE80"/>
                </a:solidFill>
                <a:latin typeface="Courier New"/>
              </a:rPr>
              <a:t>=VLOOKUP(A2,$E$2:$G$100,2,FALSE)</a:t>
            </a:r>
          </a:p>
          <a:p>
            <a:r>
              <a:rPr sz="1000">
                <a:solidFill>
                  <a:srgbClr val="4ADE80"/>
                </a:solidFill>
                <a:latin typeface="Courier New"/>
              </a:rPr>
              <a:t>=INDEX($G$2:$G$100,MATCH(A2,$E$2:$E$100,0))</a:t>
            </a:r>
          </a:p>
          <a:p>
            <a:r>
              <a:rPr sz="1000">
                <a:solidFill>
                  <a:srgbClr val="4ADE80"/>
                </a:solidFill>
                <a:latin typeface="Courier New"/>
              </a:rPr>
              <a:t>=XLOOKUP(A2,$E$2:$E$100,$G$2:$G$100,"Not found")</a:t>
            </a:r>
          </a:p>
          <a:p>
            <a:r>
              <a:rPr sz="1100">
                <a:solidFill>
                  <a:srgbClr val="E2E8F0"/>
                </a:solidFill>
                <a:latin typeface="Calibri"/>
              </a:rPr>
              <a:t/>
            </a:r>
          </a:p>
          <a:p>
            <a:r>
              <a:rPr sz="1100">
                <a:solidFill>
                  <a:srgbClr val="E2E8F0"/>
                </a:solidFill>
                <a:latin typeface="Calibri"/>
              </a:rPr>
              <a:t>RULE: Learn VLOOKUP. Master INDEX-MATCH. Use XLOOKUP when available.</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PIVOT TABLES: QUESTIONS TO ANSWERS IN SECONDS</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PIVOT TABLES — INSTANT INSIGHT</a:t>
            </a:r>
          </a:p>
          <a:p>
            <a:r>
              <a:rPr sz="1100">
                <a:solidFill>
                  <a:srgbClr val="E2E8F0"/>
                </a:solidFill>
                <a:latin typeface="Calibri"/>
              </a:rPr>
              <a:t/>
            </a:r>
          </a:p>
          <a:p>
            <a:r>
              <a:rPr sz="1300" b="1">
                <a:solidFill>
                  <a:srgbClr val="06B6D4"/>
                </a:solidFill>
                <a:latin typeface="Calibri"/>
              </a:rPr>
              <a:t>FROM THIS DATA:                 TO THIS ANSWER:</a:t>
            </a:r>
          </a:p>
          <a:p>
            <a:r>
              <a:rPr sz="1100">
                <a:solidFill>
                  <a:srgbClr val="E2E8F0"/>
                </a:solidFill>
                <a:latin typeface="Calibri"/>
              </a:rPr>
              <a:t>Date | Product | Region         Total Revenue by Region</a:t>
            </a:r>
          </a:p>
          <a:p>
            <a:r>
              <a:rPr sz="1100">
                <a:solidFill>
                  <a:srgbClr val="E2E8F0"/>
                </a:solidFill>
                <a:latin typeface="Calibri"/>
              </a:rPr>
              <a:t>| Salesperson | Revenue</a:t>
            </a:r>
          </a:p>
          <a:p>
            <a:r>
              <a:rPr sz="1100">
                <a:solidFill>
                  <a:srgbClr val="E2E8F0"/>
                </a:solidFill>
                <a:latin typeface="Calibri"/>
              </a:rPr>
              <a:t>| Quantity</a:t>
            </a:r>
          </a:p>
          <a:p>
            <a:r>
              <a:rPr sz="1100">
                <a:solidFill>
                  <a:srgbClr val="E2E8F0"/>
                </a:solidFill>
                <a:latin typeface="Calibri"/>
              </a:rPr>
              <a:t>──────────────────────</a:t>
            </a:r>
          </a:p>
          <a:p>
            <a:r>
              <a:rPr sz="1100">
                <a:solidFill>
                  <a:srgbClr val="E2E8F0"/>
                </a:solidFill>
                <a:latin typeface="Calibri"/>
              </a:rPr>
              <a:t>Lagos      ₦14.2M  ████████</a:t>
            </a:r>
          </a:p>
          <a:p>
            <a:r>
              <a:rPr sz="1100">
                <a:solidFill>
                  <a:srgbClr val="E2E8F0"/>
                </a:solidFill>
                <a:latin typeface="Calibri"/>
              </a:rPr>
              <a:t>Abuja      ₦8.7M   ██████</a:t>
            </a:r>
          </a:p>
          <a:p>
            <a:r>
              <a:rPr sz="1100">
                <a:solidFill>
                  <a:srgbClr val="E2E8F0"/>
                </a:solidFill>
                <a:latin typeface="Calibri"/>
              </a:rPr>
              <a:t>Kano       ₦5.1M   ████</a:t>
            </a:r>
          </a:p>
          <a:p>
            <a:r>
              <a:rPr sz="1100">
                <a:solidFill>
                  <a:srgbClr val="E2E8F0"/>
                </a:solidFill>
                <a:latin typeface="Calibri"/>
              </a:rPr>
              <a:t>Others     ₦4.9M   ███</a:t>
            </a:r>
          </a:p>
          <a:p>
            <a:r>
              <a:rPr sz="1100">
                <a:solidFill>
                  <a:srgbClr val="E2E8F0"/>
                </a:solidFill>
                <a:latin typeface="Calibri"/>
              </a:rPr>
              <a:t/>
            </a:r>
          </a:p>
          <a:p>
            <a:r>
              <a:rPr sz="1100">
                <a:solidFill>
                  <a:srgbClr val="E2E8F0"/>
                </a:solidFill>
                <a:latin typeface="Calibri"/>
              </a:rPr>
              <a:t>No formulas. No code.</a:t>
            </a:r>
          </a:p>
          <a:p>
            <a:r>
              <a:rPr sz="1100">
                <a:solidFill>
                  <a:srgbClr val="E2E8F0"/>
                </a:solidFill>
                <a:latin typeface="Calibri"/>
              </a:rPr>
              <a:t>Click, drag, done.</a:t>
            </a:r>
          </a:p>
          <a:p>
            <a:r>
              <a:rPr sz="1100">
                <a:solidFill>
                  <a:srgbClr val="E2E8F0"/>
                </a:solidFill>
                <a:latin typeface="Calibri"/>
              </a:rPr>
              <a:t/>
            </a:r>
          </a:p>
          <a:p>
            <a:r>
              <a:rPr sz="1100">
                <a:solidFill>
                  <a:srgbClr val="E2E8F0"/>
                </a:solidFill>
                <a:latin typeface="Calibri"/>
              </a:rPr>
              <a:t>Then: Monthly trend · Product breakdown · Salesperson ranking</a:t>
            </a:r>
          </a:p>
          <a:p>
            <a:r>
              <a:rPr sz="1100">
                <a:solidFill>
                  <a:srgbClr val="E2E8F0"/>
                </a:solidFill>
                <a:latin typeface="Calibri"/>
              </a:rPr>
              <a:t>All from the same pivot table. Just drag different fields.</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EXCEL FORMULA REFERENCE: MATH &amp; COUNTING</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EXCEL FORMULAS: MATH &amp; COUNTING</a:t>
            </a:r>
          </a:p>
          <a:p>
            <a:r>
              <a:rPr sz="1100">
                <a:solidFill>
                  <a:srgbClr val="E2E8F0"/>
                </a:solidFill>
                <a:latin typeface="Calibri"/>
              </a:rPr>
              <a:t/>
            </a:r>
          </a:p>
          <a:p>
            <a:r>
              <a:rPr sz="1300" b="1">
                <a:solidFill>
                  <a:srgbClr val="06B6D4"/>
                </a:solidFill>
                <a:latin typeface="Calibri"/>
              </a:rPr>
              <a:t>AGGREGATION</a:t>
            </a:r>
          </a:p>
          <a:p>
            <a:r>
              <a:rPr sz="1000">
                <a:solidFill>
                  <a:srgbClr val="4ADE80"/>
                </a:solidFill>
                <a:latin typeface="Courier New"/>
              </a:rPr>
              <a:t>=SUM(range)                    → Total</a:t>
            </a:r>
          </a:p>
          <a:p>
            <a:r>
              <a:rPr sz="1000">
                <a:solidFill>
                  <a:srgbClr val="4ADE80"/>
                </a:solidFill>
                <a:latin typeface="Courier New"/>
              </a:rPr>
              <a:t>=SUMIF(range, criteria, sum)   → Total where one condition is met</a:t>
            </a:r>
          </a:p>
          <a:p>
            <a:r>
              <a:rPr sz="1000">
                <a:solidFill>
                  <a:srgbClr val="4ADE80"/>
                </a:solidFill>
                <a:latin typeface="Courier New"/>
              </a:rPr>
              <a:t>=SUMIFS(sum, r1, c1, r2, c2)  → Total where multiple conditions are met</a:t>
            </a:r>
          </a:p>
          <a:p>
            <a:r>
              <a:rPr sz="1000">
                <a:solidFill>
                  <a:srgbClr val="4ADE80"/>
                </a:solidFill>
                <a:latin typeface="Courier New"/>
              </a:rPr>
              <a:t>=SUMPRODUCT(array1, array2)    → Multiply pairs, then sum (weighted totals)</a:t>
            </a:r>
          </a:p>
          <a:p>
            <a:r>
              <a:rPr sz="1100">
                <a:solidFill>
                  <a:srgbClr val="E2E8F0"/>
                </a:solidFill>
                <a:latin typeface="Calibri"/>
              </a:rPr>
              <a:t/>
            </a:r>
          </a:p>
          <a:p>
            <a:r>
              <a:rPr sz="1300" b="1">
                <a:solidFill>
                  <a:srgbClr val="06B6D4"/>
                </a:solidFill>
                <a:latin typeface="Calibri"/>
              </a:rPr>
              <a:t>COUNTING</a:t>
            </a:r>
          </a:p>
          <a:p>
            <a:r>
              <a:rPr sz="1000">
                <a:solidFill>
                  <a:srgbClr val="4ADE80"/>
                </a:solidFill>
                <a:latin typeface="Courier New"/>
              </a:rPr>
              <a:t>=COUNT(range)                  → Count cells containing numbers</a:t>
            </a:r>
          </a:p>
          <a:p>
            <a:r>
              <a:rPr sz="1000">
                <a:solidFill>
                  <a:srgbClr val="4ADE80"/>
                </a:solidFill>
                <a:latin typeface="Courier New"/>
              </a:rPr>
              <a:t>=COUNTA(range)                 → Count non-empty cells (any type)</a:t>
            </a:r>
          </a:p>
          <a:p>
            <a:r>
              <a:rPr sz="1000">
                <a:solidFill>
                  <a:srgbClr val="4ADE80"/>
                </a:solidFill>
                <a:latin typeface="Courier New"/>
              </a:rPr>
              <a:t>=COUNTBLANK(range)             → Count empty cells</a:t>
            </a:r>
          </a:p>
          <a:p>
            <a:r>
              <a:rPr sz="1000">
                <a:solidFill>
                  <a:srgbClr val="4ADE80"/>
                </a:solidFill>
                <a:latin typeface="Courier New"/>
              </a:rPr>
              <a:t>=COUNTIF(range, criteria)      → Count where one condition is true</a:t>
            </a:r>
          </a:p>
          <a:p>
            <a:r>
              <a:rPr sz="1000">
                <a:solidFill>
                  <a:srgbClr val="4ADE80"/>
                </a:solidFill>
                <a:latin typeface="Courier New"/>
              </a:rPr>
              <a:t>=COUNTIFS(r1,c1,r2,c2)        → Count where multiple conditions are true</a:t>
            </a:r>
          </a:p>
          <a:p>
            <a:r>
              <a:rPr sz="1100">
                <a:solidFill>
                  <a:srgbClr val="E2E8F0"/>
                </a:solidFill>
                <a:latin typeface="Calibri"/>
              </a:rPr>
              <a:t/>
            </a:r>
          </a:p>
          <a:p>
            <a:r>
              <a:rPr sz="1300" b="1">
                <a:solidFill>
                  <a:srgbClr val="06B6D4"/>
                </a:solidFill>
                <a:latin typeface="Calibri"/>
              </a:rPr>
              <a:t>ROUNDING &amp; MATH</a:t>
            </a:r>
          </a:p>
          <a:p>
            <a:r>
              <a:rPr sz="1000">
                <a:solidFill>
                  <a:srgbClr val="4ADE80"/>
                </a:solidFill>
                <a:latin typeface="Courier New"/>
              </a:rPr>
              <a:t>=ROUND(number, digits)         → Round to N decimal places</a:t>
            </a:r>
          </a:p>
          <a:p>
            <a:r>
              <a:rPr sz="1000">
                <a:solidFill>
                  <a:srgbClr val="4ADE80"/>
                </a:solidFill>
                <a:latin typeface="Courier New"/>
              </a:rPr>
              <a:t>=ROUNDUP(number, digits)       → Always round up</a:t>
            </a:r>
          </a:p>
          <a:p>
            <a:r>
              <a:rPr sz="1000">
                <a:solidFill>
                  <a:srgbClr val="4ADE80"/>
                </a:solidFill>
                <a:latin typeface="Courier New"/>
              </a:rPr>
              <a:t>=ROUNDDOWN(number, digits)     → Always round down</a:t>
            </a:r>
          </a:p>
          <a:p>
            <a:r>
              <a:rPr sz="1000">
                <a:solidFill>
                  <a:srgbClr val="4ADE80"/>
                </a:solidFill>
                <a:latin typeface="Courier New"/>
              </a:rPr>
              <a:t>=ABS(number)                   → Remove negative sign</a:t>
            </a:r>
          </a:p>
          <a:p>
            <a:r>
              <a:rPr sz="1000">
                <a:solidFill>
                  <a:srgbClr val="4ADE80"/>
                </a:solidFill>
                <a:latin typeface="Courier New"/>
              </a:rPr>
              <a:t>=MOD(number, divisor)          → Remainder after division</a:t>
            </a:r>
          </a:p>
          <a:p>
            <a:r>
              <a:rPr sz="1100">
                <a:solidFill>
                  <a:srgbClr val="E2E8F0"/>
                </a:solidFill>
                <a:latin typeface="Calibri"/>
              </a:rPr>
              <a:t/>
            </a:r>
          </a:p>
          <a:p>
            <a:r>
              <a:rPr sz="1300" b="1">
                <a:solidFill>
                  <a:srgbClr val="06B6D4"/>
                </a:solidFill>
                <a:latin typeface="Calibri"/>
              </a:rPr>
              <a:t>AVERAGES</a:t>
            </a:r>
          </a:p>
          <a:p>
            <a:r>
              <a:rPr sz="1000">
                <a:solidFill>
                  <a:srgbClr val="4ADE80"/>
                </a:solidFill>
                <a:latin typeface="Courier New"/>
              </a:rPr>
              <a:t>=AVERAGEIF(range,criteria,avg) → Average where condition is met</a:t>
            </a:r>
          </a:p>
          <a:p>
            <a:r>
              <a:rPr sz="1000">
                <a:solidFill>
                  <a:srgbClr val="4ADE80"/>
                </a:solidFill>
                <a:latin typeface="Courier New"/>
              </a:rPr>
              <a:t>=AVERAGEIFS(avg,r1,c1,r2,c2)  → Average with multiple conditions</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EXCEL FORMULA REFERENCE: TEXT &amp; DATE</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TEXT FUNCTIONS                          DATE FUNCTIONS</a:t>
            </a:r>
          </a:p>
          <a:p>
            <a:r>
              <a:rPr sz="1100">
                <a:solidFill>
                  <a:srgbClr val="E2E8F0"/>
                </a:solidFill>
                <a:latin typeface="Calibri"/>
              </a:rPr>
              <a:t>──────────────────────────────────      ──────────────────────────────────</a:t>
            </a:r>
          </a:p>
          <a:p>
            <a:r>
              <a:rPr sz="1100">
                <a:solidFill>
                  <a:srgbClr val="E2E8F0"/>
                </a:solidFill>
                <a:latin typeface="Calibri"/>
              </a:rPr>
              <a:t/>
            </a:r>
          </a:p>
          <a:p>
            <a:r>
              <a:rPr sz="1300" b="1">
                <a:solidFill>
                  <a:srgbClr val="06B6D4"/>
                </a:solidFill>
                <a:latin typeface="Calibri"/>
              </a:rPr>
              <a:t>CLEANING                                GETTING DATES</a:t>
            </a:r>
          </a:p>
          <a:p>
            <a:r>
              <a:rPr sz="1000">
                <a:solidFill>
                  <a:srgbClr val="4ADE80"/>
                </a:solidFill>
                <a:latin typeface="Courier New"/>
              </a:rPr>
              <a:t>=TRIM(text)    Remove extra spaces      =TODAY()        Today's date</a:t>
            </a:r>
          </a:p>
          <a:p>
            <a:r>
              <a:rPr sz="1000">
                <a:solidFill>
                  <a:srgbClr val="4ADE80"/>
                </a:solidFill>
                <a:latin typeface="Courier New"/>
              </a:rPr>
              <a:t>=CLEAN(text)   Remove non-printables    =NOW()          Date + current time</a:t>
            </a:r>
          </a:p>
          <a:p>
            <a:r>
              <a:rPr sz="1000">
                <a:solidFill>
                  <a:srgbClr val="4ADE80"/>
                </a:solidFill>
                <a:latin typeface="Courier New"/>
              </a:rPr>
              <a:t>=UPPER(text)   ALL CAPS</a:t>
            </a:r>
          </a:p>
          <a:p>
            <a:r>
              <a:rPr sz="1000">
                <a:solidFill>
                  <a:srgbClr val="4ADE80"/>
                </a:solidFill>
                <a:latin typeface="Courier New"/>
              </a:rPr>
              <a:t>=LOWER(text)   all lowercase            EXTRACTING PARTS</a:t>
            </a:r>
          </a:p>
          <a:p>
            <a:r>
              <a:rPr sz="1000">
                <a:solidFill>
                  <a:srgbClr val="4ADE80"/>
                </a:solidFill>
                <a:latin typeface="Courier New"/>
              </a:rPr>
              <a:t>=PROPER(text)  Title Case               =YEAR(date)     Extract year</a:t>
            </a:r>
          </a:p>
          <a:p>
            <a:r>
              <a:rPr sz="1000">
                <a:solidFill>
                  <a:srgbClr val="4ADE80"/>
                </a:solidFill>
                <a:latin typeface="Courier New"/>
              </a:rPr>
              <a:t>=MONTH(date)    Extract month (1–12)</a:t>
            </a:r>
          </a:p>
          <a:p>
            <a:r>
              <a:rPr sz="1100">
                <a:solidFill>
                  <a:srgbClr val="E2E8F0"/>
                </a:solidFill>
                <a:latin typeface="Calibri"/>
              </a:rPr>
              <a:t>EXTRACTING                              =DAY(date)      Extract day (1–31)</a:t>
            </a:r>
          </a:p>
          <a:p>
            <a:r>
              <a:rPr sz="1000">
                <a:solidFill>
                  <a:srgbClr val="4ADE80"/>
                </a:solidFill>
                <a:latin typeface="Courier New"/>
              </a:rPr>
              <a:t>=LEFT(text,n)  First N chars            =WEEKDAY(d,2)   Day of week (Mon=1)</a:t>
            </a:r>
          </a:p>
          <a:p>
            <a:r>
              <a:rPr sz="1000">
                <a:solidFill>
                  <a:srgbClr val="4ADE80"/>
                </a:solidFill>
                <a:latin typeface="Courier New"/>
              </a:rPr>
              <a:t>=RIGHT(text,n) Last N chars</a:t>
            </a:r>
          </a:p>
          <a:p>
            <a:r>
              <a:rPr sz="1000">
                <a:solidFill>
                  <a:srgbClr val="4ADE80"/>
                </a:solidFill>
                <a:latin typeface="Courier New"/>
              </a:rPr>
              <a:t>=MID(text,s,n) N chars from position s  DATE DIFFERENCES</a:t>
            </a:r>
          </a:p>
          <a:p>
            <a:r>
              <a:rPr sz="1000">
                <a:solidFill>
                  <a:srgbClr val="4ADE80"/>
                </a:solidFill>
                <a:latin typeface="Courier New"/>
              </a:rPr>
              <a:t>=LEN(text)     Character count          =DATEDIF(s,e,"Y")  Complete years</a:t>
            </a:r>
          </a:p>
          <a:p>
            <a:r>
              <a:rPr sz="1000">
                <a:solidFill>
                  <a:srgbClr val="4ADE80"/>
                </a:solidFill>
                <a:latin typeface="Courier New"/>
              </a:rPr>
              <a:t>=FIND(x,text)  Position (case-exact)    =DATEDIF(s,e,"M")  Complete months</a:t>
            </a:r>
          </a:p>
          <a:p>
            <a:r>
              <a:rPr sz="1000">
                <a:solidFill>
                  <a:srgbClr val="4ADE80"/>
                </a:solidFill>
                <a:latin typeface="Courier New"/>
              </a:rPr>
              <a:t>=SEARCH(x,txt) Position (any case)      =TODAY()-date       Days elapsed</a:t>
            </a:r>
          </a:p>
          <a:p>
            <a:r>
              <a:rPr sz="1000">
                <a:solidFill>
                  <a:srgbClr val="4ADE80"/>
                </a:solidFill>
                <a:latin typeface="Courier New"/>
              </a:rPr>
              <a:t>=NETWORKDAYS(s,e)   Working days only</a:t>
            </a:r>
          </a:p>
          <a:p>
            <a:r>
              <a:rPr sz="1300" b="1">
                <a:solidFill>
                  <a:srgbClr val="06B6D4"/>
                </a:solidFill>
                <a:latin typeface="Calibri"/>
              </a:rPr>
              <a:t>COMBINING</a:t>
            </a:r>
          </a:p>
          <a:p>
            <a:r>
              <a:rPr sz="1000">
                <a:solidFill>
                  <a:srgbClr val="4ADE80"/>
                </a:solidFill>
                <a:latin typeface="Courier New"/>
              </a:rPr>
              <a:t>=A2&amp;" "&amp;B2     Join with &amp;              DATE NAVIGATION</a:t>
            </a:r>
          </a:p>
          <a:p>
            <a:r>
              <a:rPr sz="1000">
                <a:solidFill>
                  <a:srgbClr val="4ADE80"/>
                </a:solidFill>
                <a:latin typeface="Courier New"/>
              </a:rPr>
              <a:t>=CONCAT(A:C)   Join a range             =EDATE(date, n)    N months forward</a:t>
            </a:r>
          </a:p>
          <a:p>
            <a:r>
              <a:rPr sz="1000">
                <a:solidFill>
                  <a:srgbClr val="4ADE80"/>
                </a:solidFill>
                <a:latin typeface="Courier New"/>
              </a:rPr>
              <a:t>=TEXTJOIN(     Join with separator,      =EOMONTH(date,0)  Last day of month</a:t>
            </a:r>
          </a:p>
          <a:p>
            <a:r>
              <a:rPr sz="1100">
                <a:solidFill>
                  <a:srgbClr val="E2E8F0"/>
                </a:solidFill>
                <a:latin typeface="Calibri"/>
              </a:rPr>
              <a:t>", ",TRUE,   skipping empty cells</a:t>
            </a:r>
          </a:p>
          <a:p>
            <a:r>
              <a:rPr sz="1100">
                <a:solidFill>
                  <a:srgbClr val="E2E8F0"/>
                </a:solidFill>
                <a:latin typeface="Calibri"/>
              </a:rPr>
              <a:t>A2:A10)</a:t>
            </a:r>
          </a:p>
          <a:p>
            <a:r>
              <a:rPr sz="1300" b="1">
                <a:solidFill>
                  <a:srgbClr val="06B6D4"/>
                </a:solidFill>
                <a:latin typeface="Calibri"/>
              </a:rPr>
              <a:t>BUILDING DATES</a:t>
            </a:r>
          </a:p>
          <a:p>
            <a:r>
              <a:rPr sz="1100">
                <a:solidFill>
                  <a:srgbClr val="E2E8F0"/>
                </a:solidFill>
                <a:latin typeface="Calibri"/>
              </a:rPr>
              <a:t>REPLACING                               =DATE(yr,mo,day)  From components</a:t>
            </a:r>
          </a:p>
          <a:p>
            <a:r>
              <a:rPr sz="1000">
                <a:solidFill>
                  <a:srgbClr val="4ADE80"/>
                </a:solidFill>
                <a:latin typeface="Courier New"/>
              </a:rPr>
              <a:t>=SUBSTITUTE(   Replace every</a:t>
            </a:r>
          </a:p>
          <a:p>
            <a:r>
              <a:rPr sz="1100">
                <a:solidFill>
                  <a:srgbClr val="E2E8F0"/>
                </a:solidFill>
                <a:latin typeface="Calibri"/>
              </a:rPr>
              <a:t>text,"old",  occurrence of old</a:t>
            </a:r>
          </a:p>
          <a:p>
            <a:r>
              <a:rPr sz="1100">
                <a:solidFill>
                  <a:srgbClr val="E2E8F0"/>
                </a:solidFill>
                <a:latin typeface="Calibri"/>
              </a:rPr>
              <a:t>"new")       with new</a:t>
            </a:r>
          </a:p>
          <a:p>
            <a:r>
              <a:rPr sz="1000">
                <a:solidFill>
                  <a:srgbClr val="4ADE80"/>
                </a:solidFill>
                <a:latin typeface="Courier New"/>
              </a:rPr>
              <a:t>=VALUE(text)   Convert text to number</a:t>
            </a:r>
          </a:p>
          <a:p>
            <a:r>
              <a:rPr sz="1000">
                <a:solidFill>
                  <a:srgbClr val="4ADE80"/>
                </a:solidFill>
                <a:latin typeface="Courier New"/>
              </a:rPr>
              <a:t>=TEXT(num,fmt) Format number as text</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EXCEL FORMULA REFERENCE: STATISTICAL &amp; FINANCIAL</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STATISTICAL FUNCTIONS                   FINANCIAL FUNCTIONS</a:t>
            </a:r>
          </a:p>
          <a:p>
            <a:r>
              <a:rPr sz="1100">
                <a:solidFill>
                  <a:srgbClr val="E2E8F0"/>
                </a:solidFill>
                <a:latin typeface="Calibri"/>
              </a:rPr>
              <a:t>──────────────────────────────────      ──────────────────────────────────</a:t>
            </a:r>
          </a:p>
          <a:p>
            <a:r>
              <a:rPr sz="1100">
                <a:solidFill>
                  <a:srgbClr val="E2E8F0"/>
                </a:solidFill>
                <a:latin typeface="Calibri"/>
              </a:rPr>
              <a:t/>
            </a:r>
          </a:p>
          <a:p>
            <a:r>
              <a:rPr sz="1300" b="1">
                <a:solidFill>
                  <a:srgbClr val="06B6D4"/>
                </a:solidFill>
                <a:latin typeface="Calibri"/>
              </a:rPr>
              <a:t>DESCRIPTIVE STATS                       LOAN &amp; PAYMENT</a:t>
            </a:r>
          </a:p>
          <a:p>
            <a:r>
              <a:rPr sz="1000">
                <a:solidFill>
                  <a:srgbClr val="4ADE80"/>
                </a:solidFill>
                <a:latin typeface="Courier New"/>
              </a:rPr>
              <a:t>=AVERAGE(range)    Mean                 =PMT(rate,nper,pv)</a:t>
            </a:r>
          </a:p>
          <a:p>
            <a:r>
              <a:rPr sz="1000">
                <a:solidFill>
                  <a:srgbClr val="4ADE80"/>
                </a:solidFill>
                <a:latin typeface="Courier New"/>
              </a:rPr>
              <a:t>=MEDIAN(range)     Middle value           Monthly payment on a loan</a:t>
            </a:r>
          </a:p>
          <a:p>
            <a:r>
              <a:rPr sz="1000">
                <a:solidFill>
                  <a:srgbClr val="4ADE80"/>
                </a:solidFill>
                <a:latin typeface="Courier New"/>
              </a:rPr>
              <a:t>=MODE(range)       Most frequent          =PMT(22%/12,36,-5000000)</a:t>
            </a:r>
          </a:p>
          <a:p>
            <a:r>
              <a:rPr sz="1000">
                <a:solidFill>
                  <a:srgbClr val="4ADE80"/>
                </a:solidFill>
                <a:latin typeface="Courier New"/>
              </a:rPr>
              <a:t>=MODE.MULT(range)  All modes (array)      → ₦192,664/month on a 36-month</a:t>
            </a:r>
          </a:p>
          <a:p>
            <a:r>
              <a:rPr sz="1100">
                <a:solidFill>
                  <a:srgbClr val="E2E8F0"/>
                </a:solidFill>
                <a:latin typeface="Calibri"/>
              </a:rPr>
              <a:t>₦5M loan at 22% p.a.</a:t>
            </a:r>
          </a:p>
          <a:p>
            <a:r>
              <a:rPr sz="1100">
                <a:solidFill>
                  <a:srgbClr val="E2E8F0"/>
                </a:solidFill>
                <a:latin typeface="Calibri"/>
              </a:rPr>
              <a:t/>
            </a:r>
          </a:p>
          <a:p>
            <a:r>
              <a:rPr sz="1300" b="1">
                <a:solidFill>
                  <a:srgbClr val="06B6D4"/>
                </a:solidFill>
                <a:latin typeface="Calibri"/>
              </a:rPr>
              <a:t>SPREAD                                  FUTURE &amp; PRESENT VALUE</a:t>
            </a:r>
          </a:p>
          <a:p>
            <a:r>
              <a:rPr sz="1000">
                <a:solidFill>
                  <a:srgbClr val="4ADE80"/>
                </a:solidFill>
                <a:latin typeface="Courier New"/>
              </a:rPr>
              <a:t>=STDEV(range)      Sample std deviation =FV(rate,nper,pmt)</a:t>
            </a:r>
          </a:p>
          <a:p>
            <a:r>
              <a:rPr sz="1000">
                <a:solidFill>
                  <a:srgbClr val="4ADE80"/>
                </a:solidFill>
                <a:latin typeface="Courier New"/>
              </a:rPr>
              <a:t>=VAR(range)        Sample variance        What is an investment worth later?</a:t>
            </a:r>
          </a:p>
          <a:p>
            <a:r>
              <a:rPr sz="1000">
                <a:solidFill>
                  <a:srgbClr val="4ADE80"/>
                </a:solidFill>
                <a:latin typeface="Courier New"/>
              </a:rPr>
              <a:t>=MAX()-MIN()       Simple range         =PV(rate,nper,pmt)</a:t>
            </a:r>
          </a:p>
          <a:p>
            <a:r>
              <a:rPr sz="1100">
                <a:solidFill>
                  <a:srgbClr val="E2E8F0"/>
                </a:solidFill>
                <a:latin typeface="Calibri"/>
              </a:rPr>
              <a:t>What is a future payment worth today?</a:t>
            </a:r>
          </a:p>
          <a:p>
            <a:r>
              <a:rPr sz="1300" b="1">
                <a:solidFill>
                  <a:srgbClr val="06B6D4"/>
                </a:solidFill>
                <a:latin typeface="Calibri"/>
              </a:rPr>
              <a:t>PERCENTILES</a:t>
            </a:r>
          </a:p>
          <a:p>
            <a:r>
              <a:rPr sz="1000">
                <a:solidFill>
                  <a:srgbClr val="4ADE80"/>
                </a:solidFill>
                <a:latin typeface="Courier New"/>
              </a:rPr>
              <a:t>=PERCENTILE(r,0.9) 90th percentile      INVESTMENT ANALYSIS</a:t>
            </a:r>
          </a:p>
          <a:p>
            <a:r>
              <a:rPr sz="1000">
                <a:solidFill>
                  <a:srgbClr val="4ADE80"/>
                </a:solidFill>
                <a:latin typeface="Courier New"/>
              </a:rPr>
              <a:t>=QUARTILE(r,1)     Q1 (25th pct)        =NPV(rate,cf1,cf2,...)</a:t>
            </a:r>
          </a:p>
          <a:p>
            <a:r>
              <a:rPr sz="1000">
                <a:solidFill>
                  <a:srgbClr val="4ADE80"/>
                </a:solidFill>
                <a:latin typeface="Courier New"/>
              </a:rPr>
              <a:t>=QUARTILE(r,3)     Q3 (75th pct)          Net Present Value of cash flows</a:t>
            </a:r>
          </a:p>
          <a:p>
            <a:r>
              <a:rPr sz="1100">
                <a:solidFill>
                  <a:srgbClr val="E2E8F0"/>
                </a:solidFill>
                <a:latin typeface="Calibri"/>
              </a:rPr>
              <a:t>IQR = Q3 – Q1                             NPV &gt; 0 → accept investment</a:t>
            </a:r>
          </a:p>
          <a:p>
            <a:r>
              <a:rPr sz="1100">
                <a:solidFill>
                  <a:srgbClr val="E2E8F0"/>
                </a:solidFill>
                <a:latin typeface="Calibri"/>
              </a:rPr>
              <a:t>Outlier: below Q1-(1.5×IQR)               NPV &lt; 0 → reject at this rate</a:t>
            </a:r>
          </a:p>
          <a:p>
            <a:r>
              <a:rPr sz="1100">
                <a:solidFill>
                  <a:srgbClr val="E2E8F0"/>
                </a:solidFill>
                <a:latin typeface="Calibri"/>
              </a:rPr>
              <a:t>above Q3+(1.5×IQR)</a:t>
            </a:r>
          </a:p>
          <a:p>
            <a:r>
              <a:rPr sz="1000">
                <a:solidFill>
                  <a:srgbClr val="4ADE80"/>
                </a:solidFill>
                <a:latin typeface="Courier New"/>
              </a:rPr>
              <a:t>=IRR(values)</a:t>
            </a:r>
          </a:p>
          <a:p>
            <a:r>
              <a:rPr sz="1100">
                <a:solidFill>
                  <a:srgbClr val="E2E8F0"/>
                </a:solidFill>
                <a:latin typeface="Calibri"/>
              </a:rPr>
              <a:t>CORRELATION                               Internal Rate of Return</a:t>
            </a:r>
          </a:p>
          <a:p>
            <a:r>
              <a:rPr sz="1000">
                <a:solidFill>
                  <a:srgbClr val="4ADE80"/>
                </a:solidFill>
                <a:latin typeface="Courier New"/>
              </a:rPr>
              <a:t>=CORREL(range1,r2) -1 to +1               IRR &gt; cost of capital → accept</a:t>
            </a:r>
          </a:p>
          <a:p>
            <a:r>
              <a:rPr sz="1100">
                <a:solidFill>
                  <a:srgbClr val="E2E8F0"/>
                </a:solidFill>
                <a:latin typeface="Calibri"/>
              </a:rPr>
              <a:t>+1 = perfect positive</a:t>
            </a:r>
          </a:p>
          <a:p>
            <a:r>
              <a:rPr sz="1100">
                <a:solidFill>
                  <a:srgbClr val="E2E8F0"/>
                </a:solidFill>
                <a:latin typeface="Calibri"/>
              </a:rPr>
              <a:t>-1 = perfect negative                 =RATE(nper,pmt,pv)</a:t>
            </a:r>
          </a:p>
          <a:p>
            <a:r>
              <a:rPr sz="1100">
                <a:solidFill>
                  <a:srgbClr val="E2E8F0"/>
                </a:solidFill>
                <a:latin typeface="Calibri"/>
              </a:rPr>
              <a:t>0  = no linear relationship             Find the interest rate per period</a:t>
            </a:r>
          </a:p>
          <a:p>
            <a:r>
              <a:rPr sz="1100">
                <a:solidFill>
                  <a:srgbClr val="E2E8F0"/>
                </a:solidFill>
                <a:latin typeface="Calibri"/>
              </a:rPr>
              <a:t/>
            </a:r>
          </a:p>
          <a:p>
            <a:r>
              <a:rPr sz="1300" b="1">
                <a:solidFill>
                  <a:srgbClr val="06B6D4"/>
                </a:solidFill>
                <a:latin typeface="Calibri"/>
              </a:rPr>
              <a:t>RANKING                                 EXAMPLE</a:t>
            </a:r>
          </a:p>
          <a:p>
            <a:r>
              <a:rPr sz="1000">
                <a:solidFill>
                  <a:srgbClr val="4ADE80"/>
                </a:solidFill>
                <a:latin typeface="Courier New"/>
              </a:rPr>
              <a:t>=RANK(val,range,0) Rank descending      Invest ₦2M now,</a:t>
            </a:r>
          </a:p>
          <a:p>
            <a:r>
              <a:rPr sz="1000">
                <a:solidFill>
                  <a:srgbClr val="4ADE80"/>
                </a:solidFill>
                <a:latin typeface="Courier New"/>
              </a:rPr>
              <a:t>=LARGE(range, n)   Nth largest value    earn ₦600K,₦800K,₦900K,₦1M:</a:t>
            </a:r>
          </a:p>
          <a:p>
            <a:r>
              <a:rPr sz="1000">
                <a:solidFill>
                  <a:srgbClr val="4ADE80"/>
                </a:solidFill>
                <a:latin typeface="Courier New"/>
              </a:rPr>
              <a:t>=SMALL(range, n)   Nth smallest value   =IRR({-2000000,600000,800000,</a:t>
            </a:r>
          </a:p>
          <a:p>
            <a:r>
              <a:rPr sz="1100">
                <a:solidFill>
                  <a:srgbClr val="E2E8F0"/>
                </a:solidFill>
                <a:latin typeface="Calibri"/>
              </a:rPr>
              <a:t>900000,1000000}) → 22.4%</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06B6D4"/>
                </a:solidFill>
                <a:latin typeface="Calibri"/>
              </a:rPr>
              <a:t>LEVEL: INTERMEDIATE</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5 OPENER: ADVANCED EXCEL</a:t>
            </a:r>
          </a:p>
        </p:txBody>
      </p:sp>
      <p:sp>
        <p:nvSpPr>
          <p:cNvPr id="5" name="Rectangle 4"/>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POWER QUERY: THE PIPELINE</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POWER QUERY — SET IT UP ONCE, REFRESH FOREVER</a:t>
            </a:r>
          </a:p>
          <a:p>
            <a:r>
              <a:rPr sz="1100">
                <a:solidFill>
                  <a:srgbClr val="E2E8F0"/>
                </a:solidFill>
                <a:latin typeface="Calibri"/>
              </a:rPr>
              <a:t/>
            </a:r>
          </a:p>
          <a:p>
            <a:r>
              <a:rPr sz="1300" b="1">
                <a:solidFill>
                  <a:srgbClr val="06B6D4"/>
                </a:solidFill>
                <a:latin typeface="Calibri"/>
              </a:rPr>
              <a:t>SOURCES                 TRANSFORMATIONS             OUTPUT</a:t>
            </a:r>
          </a:p>
          <a:p>
            <a:r>
              <a:rPr sz="1100">
                <a:solidFill>
                  <a:srgbClr val="E2E8F0"/>
                </a:solidFill>
                <a:latin typeface="Calibri"/>
              </a:rPr>
              <a:t>────────               ──────────────────          ─────────</a:t>
            </a:r>
          </a:p>
          <a:p>
            <a:r>
              <a:rPr sz="1100">
                <a:solidFill>
                  <a:srgbClr val="E2E8F0"/>
                </a:solidFill>
                <a:latin typeface="Calibri"/>
              </a:rPr>
              <a:t>Excel file     →       Remove columns          →   Clean,</a:t>
            </a:r>
          </a:p>
          <a:p>
            <a:r>
              <a:rPr sz="1100">
                <a:solidFill>
                  <a:srgbClr val="E2E8F0"/>
                </a:solidFill>
                <a:latin typeface="Calibri"/>
              </a:rPr>
              <a:t>CSV export     →       Rename columns          →   merged,</a:t>
            </a:r>
          </a:p>
          <a:p>
            <a:r>
              <a:rPr sz="1100">
                <a:solidFill>
                  <a:srgbClr val="E2E8F0"/>
                </a:solidFill>
                <a:latin typeface="Calibri"/>
              </a:rPr>
              <a:t>Database       →       Change data types       →   analysis-</a:t>
            </a:r>
          </a:p>
          <a:p>
            <a:r>
              <a:rPr sz="1100">
                <a:solidFill>
                  <a:srgbClr val="E2E8F0"/>
                </a:solidFill>
                <a:latin typeface="Calibri"/>
              </a:rPr>
              <a:t>Google Sheet   →       Split columns           →   ready table</a:t>
            </a:r>
          </a:p>
          <a:p>
            <a:r>
              <a:rPr sz="1100">
                <a:solidFill>
                  <a:srgbClr val="E2E8F0"/>
                </a:solidFill>
                <a:latin typeface="Calibri"/>
              </a:rPr>
              <a:t>Web page       →       Merge tables (Join)     →</a:t>
            </a:r>
          </a:p>
          <a:p>
            <a:r>
              <a:rPr sz="1100">
                <a:solidFill>
                  <a:srgbClr val="E2E8F0"/>
                </a:solidFill>
                <a:latin typeface="Calibri"/>
              </a:rPr>
              <a:t>→       Group By                →   AUTO-UPDATES</a:t>
            </a:r>
          </a:p>
          <a:p>
            <a:r>
              <a:rPr sz="1100">
                <a:solidFill>
                  <a:srgbClr val="E2E8F0"/>
                </a:solidFill>
                <a:latin typeface="Calibri"/>
              </a:rPr>
              <a:t>→       Unpivot columns         →   on Refresh</a:t>
            </a:r>
          </a:p>
          <a:p>
            <a:r>
              <a:rPr sz="1100">
                <a:solidFill>
                  <a:srgbClr val="E2E8F0"/>
                </a:solidFill>
                <a:latin typeface="Calibri"/>
              </a:rPr>
              <a:t/>
            </a:r>
          </a:p>
          <a:p>
            <a:r>
              <a:rPr sz="1100">
                <a:solidFill>
                  <a:srgbClr val="E2E8F0"/>
                </a:solidFill>
                <a:latin typeface="Calibri"/>
              </a:rPr>
              <a:t>Without Power Query: 4 hours of manual work. Every month. Forever.</a:t>
            </a:r>
          </a:p>
          <a:p>
            <a:r>
              <a:rPr sz="1100">
                <a:solidFill>
                  <a:srgbClr val="E2E8F0"/>
                </a:solidFill>
                <a:latin typeface="Calibri"/>
              </a:rPr>
              <a:t>With Power Query: 30 minutes to set up. 10 seconds to refresh.</a:t>
            </a:r>
          </a:p>
          <a:p>
            <a:r>
              <a:rPr sz="1100">
                <a:solidFill>
                  <a:srgbClr val="E2E8F0"/>
                </a:solidFill>
                <a:latin typeface="Calibri"/>
              </a:rPr>
              <a:t/>
            </a:r>
          </a:p>
          <a:p>
            <a:r>
              <a:rPr sz="1100">
                <a:solidFill>
                  <a:srgbClr val="E2E8F0"/>
                </a:solidFill>
                <a:latin typeface="Calibri"/>
              </a:rPr>
              <a:t>Get comfortable here. This is how professionals work.</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06B6D4"/>
                </a:solidFill>
                <a:latin typeface="Calibri"/>
              </a:rPr>
              <a:t>LEVEL: INTERMEDIATE</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6 OPENER: SQL FOUNDATIONS</a:t>
            </a:r>
          </a:p>
        </p:txBody>
      </p:sp>
      <p:sp>
        <p:nvSpPr>
          <p:cNvPr id="5" name="Rectangle 4"/>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SQL QUERY STRUCTURE</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READING YOUR FIRST SQL QUERY</a:t>
            </a:r>
          </a:p>
          <a:p>
            <a:r>
              <a:rPr sz="1100">
                <a:solidFill>
                  <a:srgbClr val="E2E8F0"/>
                </a:solidFill>
                <a:latin typeface="Calibri"/>
              </a:rPr>
              <a:t/>
            </a:r>
          </a:p>
          <a:p>
            <a:r>
              <a:rPr sz="1100">
                <a:solidFill>
                  <a:srgbClr val="E2E8F0"/>
                </a:solidFill>
                <a:latin typeface="Calibri"/>
              </a:rPr>
              <a:t>SELECT                          ← Which columns?</a:t>
            </a:r>
          </a:p>
          <a:p>
            <a:r>
              <a:rPr sz="1100">
                <a:solidFill>
                  <a:srgbClr val="E2E8F0"/>
                </a:solidFill>
                <a:latin typeface="Calibri"/>
              </a:rPr>
              <a:t>customer_name,</a:t>
            </a:r>
          </a:p>
          <a:p>
            <a:r>
              <a:rPr sz="1100">
                <a:solidFill>
                  <a:srgbClr val="E2E8F0"/>
                </a:solidFill>
                <a:latin typeface="Calibri"/>
              </a:rPr>
              <a:t>state,</a:t>
            </a:r>
          </a:p>
          <a:p>
            <a:r>
              <a:rPr sz="1100">
                <a:solidFill>
                  <a:srgbClr val="E2E8F0"/>
                </a:solidFill>
                <a:latin typeface="Calibri"/>
              </a:rPr>
              <a:t>account_balance</a:t>
            </a:r>
          </a:p>
          <a:p>
            <a:r>
              <a:rPr sz="1100">
                <a:solidFill>
                  <a:srgbClr val="E2E8F0"/>
                </a:solidFill>
                <a:latin typeface="Calibri"/>
              </a:rPr>
              <a:t/>
            </a:r>
          </a:p>
          <a:p>
            <a:r>
              <a:rPr sz="1100">
                <a:solidFill>
                  <a:srgbClr val="E2E8F0"/>
                </a:solidFill>
                <a:latin typeface="Calibri"/>
              </a:rPr>
              <a:t>FROM customers                  ← Which table?</a:t>
            </a:r>
          </a:p>
          <a:p>
            <a:r>
              <a:rPr sz="1100">
                <a:solidFill>
                  <a:srgbClr val="E2E8F0"/>
                </a:solidFill>
                <a:latin typeface="Calibri"/>
              </a:rPr>
              <a:t/>
            </a:r>
          </a:p>
          <a:p>
            <a:r>
              <a:rPr sz="1100">
                <a:solidFill>
                  <a:srgbClr val="E2E8F0"/>
                </a:solidFill>
                <a:latin typeface="Calibri"/>
              </a:rPr>
              <a:t>WHERE state = 'Lagos'           ← Which rows?</a:t>
            </a:r>
          </a:p>
          <a:p>
            <a:r>
              <a:rPr sz="1100">
                <a:solidFill>
                  <a:srgbClr val="E2E8F0"/>
                </a:solidFill>
                <a:latin typeface="Calibri"/>
              </a:rPr>
              <a:t>AND account_balance &gt; 100000</a:t>
            </a:r>
          </a:p>
          <a:p>
            <a:r>
              <a:rPr sz="1100">
                <a:solidFill>
                  <a:srgbClr val="E2E8F0"/>
                </a:solidFill>
                <a:latin typeface="Calibri"/>
              </a:rPr>
              <a:t/>
            </a:r>
          </a:p>
          <a:p>
            <a:r>
              <a:rPr sz="1100">
                <a:solidFill>
                  <a:srgbClr val="E2E8F0"/>
                </a:solidFill>
                <a:latin typeface="Calibri"/>
              </a:rPr>
              <a:t>ORDER BY account_balance DESC   ← In what order?</a:t>
            </a:r>
          </a:p>
          <a:p>
            <a:r>
              <a:rPr sz="1100">
                <a:solidFill>
                  <a:srgbClr val="E2E8F0"/>
                </a:solidFill>
                <a:latin typeface="Calibri"/>
              </a:rPr>
              <a:t/>
            </a:r>
          </a:p>
          <a:p>
            <a:r>
              <a:rPr sz="1100">
                <a:solidFill>
                  <a:srgbClr val="E2E8F0"/>
                </a:solidFill>
                <a:latin typeface="Calibri"/>
              </a:rPr>
              <a:t>LIMIT 10;                       ← How many results?</a:t>
            </a:r>
          </a:p>
          <a:p>
            <a:r>
              <a:rPr sz="1100">
                <a:solidFill>
                  <a:srgbClr val="E2E8F0"/>
                </a:solidFill>
                <a:latin typeface="Calibri"/>
              </a:rPr>
              <a:t/>
            </a:r>
          </a:p>
          <a:p>
            <a:r>
              <a:rPr sz="1100">
                <a:solidFill>
                  <a:srgbClr val="E2E8F0"/>
                </a:solidFill>
                <a:latin typeface="Calibri"/>
              </a:rPr>
              <a:t>── ── ── ── ── ── ── ── ── ──</a:t>
            </a:r>
          </a:p>
          <a:p>
            <a:r>
              <a:rPr sz="1100">
                <a:solidFill>
                  <a:srgbClr val="E2E8F0"/>
                </a:solidFill>
                <a:latin typeface="Calibri"/>
              </a:rPr>
              <a:t>READS AS: "Give me the name, state, and balance</a:t>
            </a:r>
          </a:p>
          <a:p>
            <a:r>
              <a:rPr sz="1100">
                <a:solidFill>
                  <a:srgbClr val="E2E8F0"/>
                </a:solidFill>
                <a:latin typeface="Calibri"/>
              </a:rPr>
              <a:t>of customers from Lagos with over ₦100K,</a:t>
            </a:r>
          </a:p>
          <a:p>
            <a:r>
              <a:rPr sz="1100">
                <a:solidFill>
                  <a:srgbClr val="E2E8F0"/>
                </a:solidFill>
                <a:latin typeface="Calibri"/>
              </a:rPr>
              <a:t>ranked highest to lowest, top 10 only."</a:t>
            </a:r>
          </a:p>
          <a:p>
            <a:r>
              <a:rPr sz="1100">
                <a:solidFill>
                  <a:srgbClr val="E2E8F0"/>
                </a:solidFill>
                <a:latin typeface="Calibri"/>
              </a:rPr>
              <a:t/>
            </a:r>
          </a:p>
          <a:p>
            <a:r>
              <a:rPr sz="1100">
                <a:solidFill>
                  <a:srgbClr val="E2E8F0"/>
                </a:solidFill>
                <a:latin typeface="Calibri"/>
              </a:rPr>
              <a:t>Doesn't that read almost like English?</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AGGREGATE FUNCTIONS</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AGGREGATE FUNCTIONS — SUMMARISE YOUR DATA</a:t>
            </a:r>
          </a:p>
          <a:p>
            <a:r>
              <a:rPr sz="1100">
                <a:solidFill>
                  <a:srgbClr val="E2E8F0"/>
                </a:solidFill>
                <a:latin typeface="Calibri"/>
              </a:rPr>
              <a:t/>
            </a:r>
          </a:p>
          <a:p>
            <a:r>
              <a:rPr sz="1300" b="1">
                <a:solidFill>
                  <a:srgbClr val="06B6D4"/>
                </a:solidFill>
                <a:latin typeface="Calibri"/>
              </a:rPr>
              <a:t>FROM:                          TO:</a:t>
            </a:r>
          </a:p>
          <a:p>
            <a:r>
              <a:rPr sz="1100">
                <a:solidFill>
                  <a:srgbClr val="E2E8F0"/>
                </a:solidFill>
                <a:latin typeface="Calibri"/>
              </a:rPr>
              <a:t/>
            </a:r>
          </a:p>
          <a:p>
            <a:r>
              <a:rPr sz="1100">
                <a:solidFill>
                  <a:srgbClr val="E2E8F0"/>
                </a:solidFill>
                <a:latin typeface="Calibri"/>
              </a:rPr>
              <a:t>customer_id | balance          COUNT(*)      = 245,000</a:t>
            </a:r>
          </a:p>
          <a:p>
            <a:r>
              <a:rPr sz="1100">
                <a:solidFill>
                  <a:srgbClr val="E2E8F0"/>
                </a:solidFill>
                <a:latin typeface="Calibri"/>
              </a:rPr>
              <a:t>1     | 50,000           SUM(balance)  = ₦18.2B</a:t>
            </a:r>
          </a:p>
          <a:p>
            <a:r>
              <a:rPr sz="1100">
                <a:solidFill>
                  <a:srgbClr val="E2E8F0"/>
                </a:solidFill>
                <a:latin typeface="Calibri"/>
              </a:rPr>
              <a:t>2     | 230,000          AVG(balance)  = ₦74,286</a:t>
            </a:r>
          </a:p>
          <a:p>
            <a:r>
              <a:rPr sz="1100">
                <a:solidFill>
                  <a:srgbClr val="E2E8F0"/>
                </a:solidFill>
                <a:latin typeface="Calibri"/>
              </a:rPr>
              <a:t>3     | 12,500           MAX(balance)  = ₦45.2M</a:t>
            </a:r>
          </a:p>
          <a:p>
            <a:r>
              <a:rPr sz="1100">
                <a:solidFill>
                  <a:srgbClr val="E2E8F0"/>
                </a:solidFill>
                <a:latin typeface="Calibri"/>
              </a:rPr>
              <a:t>...    | ...              MIN(balance)  = ₦500</a:t>
            </a:r>
          </a:p>
          <a:p>
            <a:r>
              <a:rPr sz="1100">
                <a:solidFill>
                  <a:srgbClr val="E2E8F0"/>
                </a:solidFill>
                <a:latin typeface="Calibri"/>
              </a:rPr>
              <a:t/>
            </a:r>
          </a:p>
          <a:p>
            <a:r>
              <a:rPr sz="1100">
                <a:solidFill>
                  <a:srgbClr val="E2E8F0"/>
                </a:solidFill>
                <a:latin typeface="Calibri"/>
              </a:rPr>
              <a:t>With GROUP BY:</a:t>
            </a:r>
          </a:p>
          <a:p>
            <a:r>
              <a:rPr sz="1100">
                <a:solidFill>
                  <a:srgbClr val="E2E8F0"/>
                </a:solidFill>
                <a:latin typeface="Calibri"/>
              </a:rPr>
              <a:t/>
            </a:r>
          </a:p>
          <a:p>
            <a:r>
              <a:rPr sz="1100">
                <a:solidFill>
                  <a:srgbClr val="E2E8F0"/>
                </a:solidFill>
                <a:latin typeface="Calibri"/>
              </a:rPr>
              <a:t>SELECT state, COUNT(*), SUM(balance)</a:t>
            </a:r>
          </a:p>
          <a:p>
            <a:r>
              <a:rPr sz="1100">
                <a:solidFill>
                  <a:srgbClr val="E2E8F0"/>
                </a:solidFill>
                <a:latin typeface="Calibri"/>
              </a:rPr>
              <a:t>FROM customers</a:t>
            </a:r>
          </a:p>
          <a:p>
            <a:r>
              <a:rPr sz="1100">
                <a:solidFill>
                  <a:srgbClr val="E2E8F0"/>
                </a:solidFill>
                <a:latin typeface="Calibri"/>
              </a:rPr>
              <a:t>GROUP BY state</a:t>
            </a:r>
          </a:p>
          <a:p>
            <a:r>
              <a:rPr sz="1100">
                <a:solidFill>
                  <a:srgbClr val="E2E8F0"/>
                </a:solidFill>
                <a:latin typeface="Calibri"/>
              </a:rPr>
              <a:t>ORDER BY SUM(balance) DESC;</a:t>
            </a:r>
          </a:p>
          <a:p>
            <a:r>
              <a:rPr sz="1100">
                <a:solidFill>
                  <a:srgbClr val="E2E8F0"/>
                </a:solidFill>
                <a:latin typeface="Calibri"/>
              </a:rPr>
              <a:t/>
            </a:r>
          </a:p>
          <a:p>
            <a:r>
              <a:rPr sz="1100">
                <a:solidFill>
                  <a:srgbClr val="E2E8F0"/>
                </a:solidFill>
                <a:latin typeface="Calibri"/>
              </a:rPr>
              <a:t>→ Lagos: 89,000 customers | ₦7.4B total</a:t>
            </a:r>
          </a:p>
          <a:p>
            <a:r>
              <a:rPr sz="1100">
                <a:solidFill>
                  <a:srgbClr val="E2E8F0"/>
                </a:solidFill>
                <a:latin typeface="Calibri"/>
              </a:rPr>
              <a:t>→ Abuja: 43,000 customers | ₦5.1B total</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06B6D4"/>
                </a:solidFill>
                <a:latin typeface="Calibri"/>
              </a:rPr>
              <a:t>LEVEL: ADVANCED</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7 OPENER: ADVANCED SQL</a:t>
            </a:r>
          </a:p>
        </p:txBody>
      </p:sp>
      <p:sp>
        <p:nvSpPr>
          <p:cNvPr id="5" name="Rectangle 4"/>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THE FOUR JOINS — VISUALISED</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THE FOUR JOIN TYPES</a:t>
            </a:r>
          </a:p>
          <a:p>
            <a:r>
              <a:rPr sz="1100">
                <a:solidFill>
                  <a:srgbClr val="E2E8F0"/>
                </a:solidFill>
                <a:latin typeface="Calibri"/>
              </a:rPr>
              <a:t/>
            </a:r>
          </a:p>
          <a:p>
            <a:r>
              <a:rPr sz="1100">
                <a:solidFill>
                  <a:srgbClr val="E2E8F0"/>
                </a:solidFill>
                <a:latin typeface="Calibri"/>
              </a:rPr>
              <a:t>[INNER]          [LEFT]           [RIGHT]          [FULL OUTER]</a:t>
            </a:r>
          </a:p>
          <a:p>
            <a:r>
              <a:rPr sz="1100">
                <a:solidFill>
                  <a:srgbClr val="E2E8F0"/>
                </a:solidFill>
                <a:latin typeface="Calibri"/>
              </a:rPr>
              <a:t>A ∩ B            A + (A∩B)        B + (A∩B)        A ∪ B</a:t>
            </a:r>
          </a:p>
          <a:p>
            <a:r>
              <a:rPr sz="1100">
                <a:solidFill>
                  <a:srgbClr val="E2E8F0"/>
                </a:solidFill>
                <a:latin typeface="Calibri"/>
              </a:rPr>
              <a:t>●●               ●●●●              ●●●●              ●●●●●●●</a:t>
            </a:r>
          </a:p>
          <a:p>
            <a:r>
              <a:rPr sz="1100">
                <a:solidFill>
                  <a:srgbClr val="E2E8F0"/>
                </a:solidFill>
                <a:latin typeface="Calibri"/>
              </a:rPr>
              <a:t/>
            </a:r>
          </a:p>
          <a:p>
            <a:r>
              <a:rPr sz="1100">
                <a:solidFill>
                  <a:srgbClr val="E2E8F0"/>
                </a:solidFill>
                <a:latin typeface="Calibri"/>
              </a:rPr>
              <a:t>Only matches    All left rows    All right rows    All rows both</a:t>
            </a:r>
          </a:p>
          <a:p>
            <a:r>
              <a:rPr sz="1100">
                <a:solidFill>
                  <a:srgbClr val="E2E8F0"/>
                </a:solidFill>
                <a:latin typeface="Calibri"/>
              </a:rPr>
              <a:t>+ matches        + matches         tables</a:t>
            </a:r>
          </a:p>
          <a:p>
            <a:r>
              <a:rPr sz="1100">
                <a:solidFill>
                  <a:srgbClr val="E2E8F0"/>
                </a:solidFill>
                <a:latin typeface="Calibri"/>
              </a:rPr>
              <a:t/>
            </a:r>
          </a:p>
          <a:p>
            <a:r>
              <a:rPr sz="1100">
                <a:solidFill>
                  <a:srgbClr val="E2E8F0"/>
                </a:solidFill>
                <a:latin typeface="Calibri"/>
              </a:rPr>
              <a:t>Use when:       Use when:        Use when:         Use when:</a:t>
            </a:r>
          </a:p>
          <a:p>
            <a:r>
              <a:rPr sz="1100">
                <a:solidFill>
                  <a:srgbClr val="E2E8F0"/>
                </a:solidFill>
                <a:latin typeface="Calibri"/>
              </a:rPr>
              <a:t>Both sides      Include records  Same but          Find all</a:t>
            </a:r>
          </a:p>
          <a:p>
            <a:r>
              <a:rPr sz="1100">
                <a:solidFill>
                  <a:srgbClr val="E2E8F0"/>
                </a:solidFill>
                <a:latin typeface="Calibri"/>
              </a:rPr>
              <a:t>must match      without matches  flipped           discrepancies</a:t>
            </a:r>
          </a:p>
          <a:p>
            <a:r>
              <a:rPr sz="1100">
                <a:solidFill>
                  <a:srgbClr val="E2E8F0"/>
                </a:solidFill>
                <a:latin typeface="Calibri"/>
              </a:rPr>
              <a:t/>
            </a:r>
          </a:p>
          <a:p>
            <a:r>
              <a:rPr sz="1100">
                <a:solidFill>
                  <a:srgbClr val="E2E8F0"/>
                </a:solidFill>
                <a:latin typeface="Calibri"/>
              </a:rPr>
              <a:t>MOST COMMON IN PRACTICE: INNER JOIN and LEFT JOIN</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CTEs — WRITE READABLE SQL</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CTEs — COMMON TABLE EXPRESSIONS</a:t>
            </a:r>
          </a:p>
          <a:p>
            <a:r>
              <a:rPr sz="1100">
                <a:solidFill>
                  <a:srgbClr val="E2E8F0"/>
                </a:solidFill>
                <a:latin typeface="Calibri"/>
              </a:rPr>
              <a:t/>
            </a:r>
          </a:p>
          <a:p>
            <a:r>
              <a:rPr sz="1100">
                <a:solidFill>
                  <a:srgbClr val="E2E8F0"/>
                </a:solidFill>
                <a:latin typeface="Calibri"/>
              </a:rPr>
              <a:t>The Problem:                    The Solution:</a:t>
            </a:r>
          </a:p>
          <a:p>
            <a:r>
              <a:rPr sz="1100">
                <a:solidFill>
                  <a:srgbClr val="E2E8F0"/>
                </a:solidFill>
                <a:latin typeface="Calibri"/>
              </a:rPr>
              <a:t>Nested subqueries               Named, reusable query blocks</a:t>
            </a:r>
          </a:p>
          <a:p>
            <a:r>
              <a:rPr sz="1100">
                <a:solidFill>
                  <a:srgbClr val="E2E8F0"/>
                </a:solidFill>
                <a:latin typeface="Calibri"/>
              </a:rPr>
              <a:t>are unreadable</a:t>
            </a:r>
          </a:p>
          <a:p>
            <a:r>
              <a:rPr sz="1100">
                <a:solidFill>
                  <a:srgbClr val="E2E8F0"/>
                </a:solidFill>
                <a:latin typeface="Calibri"/>
              </a:rPr>
              <a:t/>
            </a:r>
          </a:p>
          <a:p>
            <a:r>
              <a:rPr sz="1100">
                <a:solidFill>
                  <a:srgbClr val="E2E8F0"/>
                </a:solidFill>
                <a:latin typeface="Calibri"/>
              </a:rPr>
              <a:t>SELECT * FROM                   WITH clean_customers AS (</a:t>
            </a:r>
          </a:p>
          <a:p>
            <a:r>
              <a:rPr sz="1100">
                <a:solidFill>
                  <a:srgbClr val="E2E8F0"/>
                </a:solidFill>
                <a:latin typeface="Calibri"/>
              </a:rPr>
              <a:t>(SELECT customer_id,                SELECT customer_id,</a:t>
            </a:r>
          </a:p>
          <a:p>
            <a:r>
              <a:rPr sz="1100">
                <a:solidFill>
                  <a:srgbClr val="E2E8F0"/>
                </a:solidFill>
                <a:latin typeface="Calibri"/>
              </a:rPr>
              <a:t>SUM(amount)                         SUM(amount) AS total</a:t>
            </a:r>
          </a:p>
          <a:p>
            <a:r>
              <a:rPr sz="1100">
                <a:solidFill>
                  <a:srgbClr val="E2E8F0"/>
                </a:solidFill>
                <a:latin typeface="Calibri"/>
              </a:rPr>
              <a:t>FROM (SELECT * FROM t              FROM transactions</a:t>
            </a:r>
          </a:p>
          <a:p>
            <a:r>
              <a:rPr sz="1100">
                <a:solidFill>
                  <a:srgbClr val="E2E8F0"/>
                </a:solidFill>
                <a:latin typeface="Calibri"/>
              </a:rPr>
              <a:t>WHERE date &gt; '2024')         WHERE date &gt; '2024'</a:t>
            </a:r>
          </a:p>
          <a:p>
            <a:r>
              <a:rPr sz="1100">
                <a:solidFill>
                  <a:srgbClr val="E2E8F0"/>
                </a:solidFill>
                <a:latin typeface="Calibri"/>
              </a:rPr>
              <a:t>GROUP BY customer_id)              GROUP BY customer_id</a:t>
            </a:r>
          </a:p>
          <a:p>
            <a:r>
              <a:rPr sz="1100">
                <a:solidFill>
                  <a:srgbClr val="E2E8F0"/>
                </a:solidFill>
                <a:latin typeface="Calibri"/>
              </a:rPr>
              <a:t>WHERE total &gt; 100000            )</a:t>
            </a:r>
          </a:p>
          <a:p>
            <a:r>
              <a:rPr sz="1100">
                <a:solidFill>
                  <a:srgbClr val="E2E8F0"/>
                </a:solidFill>
                <a:latin typeface="Calibri"/>
              </a:rPr>
              <a:t>SELECT * FROM clean_customers</a:t>
            </a:r>
          </a:p>
          <a:p>
            <a:r>
              <a:rPr sz="1100">
                <a:solidFill>
                  <a:srgbClr val="E2E8F0"/>
                </a:solidFill>
                <a:latin typeface="Calibri"/>
              </a:rPr>
              <a:t>WHERE total &gt; 100000</a:t>
            </a:r>
          </a:p>
          <a:p>
            <a:r>
              <a:rPr sz="1100">
                <a:solidFill>
                  <a:srgbClr val="E2E8F0"/>
                </a:solidFill>
                <a:latin typeface="Calibri"/>
              </a:rPr>
              <a:t/>
            </a:r>
          </a:p>
          <a:p>
            <a:r>
              <a:rPr sz="1100">
                <a:solidFill>
                  <a:srgbClr val="E2E8F0"/>
                </a:solidFill>
                <a:latin typeface="Calibri"/>
              </a:rPr>
              <a:t>SAME RESULT. Very different readability.</a:t>
            </a:r>
          </a:p>
          <a:p>
            <a:r>
              <a:rPr sz="1100">
                <a:solidFill>
                  <a:srgbClr val="E2E8F0"/>
                </a:solidFill>
                <a:latin typeface="Calibri"/>
              </a:rPr>
              <a:t/>
            </a:r>
          </a:p>
          <a:p>
            <a:r>
              <a:rPr sz="1100">
                <a:solidFill>
                  <a:srgbClr val="E2E8F0"/>
                </a:solidFill>
                <a:latin typeface="Calibri"/>
              </a:rPr>
              <a:t>Rule: If your subquery runs more than 2 levels deep, use a CTE.</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06B6D4"/>
                </a:solidFill>
                <a:latin typeface="Calibri"/>
              </a:rPr>
              <a:t>LEVEL: ADVANCED</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8 OPENER: VISUALISATION PRINCIPLES</a:t>
            </a:r>
          </a:p>
        </p:txBody>
      </p:sp>
      <p:sp>
        <p:nvSpPr>
          <p:cNvPr id="5" name="Rectangle 4"/>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CHART SELECTION MATRIX</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CHOOSE THE RIGHT CHART</a:t>
            </a:r>
          </a:p>
          <a:p>
            <a:r>
              <a:rPr sz="1100">
                <a:solidFill>
                  <a:srgbClr val="E2E8F0"/>
                </a:solidFill>
                <a:latin typeface="Calibri"/>
              </a:rPr>
              <a:t/>
            </a:r>
          </a:p>
          <a:p>
            <a:r>
              <a:rPr sz="1300" b="1">
                <a:solidFill>
                  <a:srgbClr val="06B6D4"/>
                </a:solidFill>
                <a:latin typeface="Calibri"/>
              </a:rPr>
              <a:t>GOAL              BEST CHART           WHEN TO USE</a:t>
            </a:r>
          </a:p>
          <a:p>
            <a:r>
              <a:rPr sz="1100">
                <a:solidFill>
                  <a:srgbClr val="E2E8F0"/>
                </a:solidFill>
                <a:latin typeface="Calibri"/>
              </a:rPr>
              <a:t>────────────────────────────────────────────────────</a:t>
            </a:r>
          </a:p>
          <a:p>
            <a:r>
              <a:rPr sz="1100">
                <a:solidFill>
                  <a:srgbClr val="E2E8F0"/>
                </a:solidFill>
                <a:latin typeface="Calibri"/>
              </a:rPr>
              <a:t>Compare           Bar chart (horiz.)   Rankings, ≤15 categories</a:t>
            </a:r>
          </a:p>
          <a:p>
            <a:r>
              <a:rPr sz="1100">
                <a:solidFill>
                  <a:srgbClr val="E2E8F0"/>
                </a:solidFill>
                <a:latin typeface="Calibri"/>
              </a:rPr>
              <a:t>categories        Dot plot             Precise values matter</a:t>
            </a:r>
          </a:p>
          <a:p>
            <a:r>
              <a:rPr sz="1100">
                <a:solidFill>
                  <a:srgbClr val="E2E8F0"/>
                </a:solidFill>
                <a:latin typeface="Calibri"/>
              </a:rPr>
              <a:t/>
            </a:r>
          </a:p>
          <a:p>
            <a:r>
              <a:rPr sz="1100">
                <a:solidFill>
                  <a:srgbClr val="E2E8F0"/>
                </a:solidFill>
                <a:latin typeface="Calibri"/>
              </a:rPr>
              <a:t>Show trend        Line chart           Time series</a:t>
            </a:r>
          </a:p>
          <a:p>
            <a:r>
              <a:rPr sz="1100">
                <a:solidFill>
                  <a:srgbClr val="E2E8F0"/>
                </a:solidFill>
                <a:latin typeface="Calibri"/>
              </a:rPr>
              <a:t>over time         Area chart           Show volume + trend</a:t>
            </a:r>
          </a:p>
          <a:p>
            <a:r>
              <a:rPr sz="1100">
                <a:solidFill>
                  <a:srgbClr val="E2E8F0"/>
                </a:solidFill>
                <a:latin typeface="Calibri"/>
              </a:rPr>
              <a:t/>
            </a:r>
          </a:p>
          <a:p>
            <a:r>
              <a:rPr sz="1100">
                <a:solidFill>
                  <a:srgbClr val="E2E8F0"/>
                </a:solidFill>
                <a:latin typeface="Calibri"/>
              </a:rPr>
              <a:t>Show              Histogram            Continuous data</a:t>
            </a:r>
          </a:p>
          <a:p>
            <a:r>
              <a:rPr sz="1100">
                <a:solidFill>
                  <a:srgbClr val="E2E8F0"/>
                </a:solidFill>
                <a:latin typeface="Calibri"/>
              </a:rPr>
              <a:t>distribution      Box plot             Compare distributions</a:t>
            </a:r>
          </a:p>
          <a:p>
            <a:r>
              <a:rPr sz="1100">
                <a:solidFill>
                  <a:srgbClr val="E2E8F0"/>
                </a:solidFill>
                <a:latin typeface="Calibri"/>
              </a:rPr>
              <a:t/>
            </a:r>
          </a:p>
          <a:p>
            <a:r>
              <a:rPr sz="1100">
                <a:solidFill>
                  <a:srgbClr val="E2E8F0"/>
                </a:solidFill>
                <a:latin typeface="Calibri"/>
              </a:rPr>
              <a:t>Show              Pie / donut          ≤5 categories</a:t>
            </a:r>
          </a:p>
          <a:p>
            <a:r>
              <a:rPr sz="1100">
                <a:solidFill>
                  <a:srgbClr val="E2E8F0"/>
                </a:solidFill>
                <a:latin typeface="Calibri"/>
              </a:rPr>
              <a:t>composition       Stacked bar          Change over time</a:t>
            </a:r>
          </a:p>
          <a:p>
            <a:r>
              <a:rPr sz="1100">
                <a:solidFill>
                  <a:srgbClr val="E2E8F0"/>
                </a:solidFill>
                <a:latin typeface="Calibri"/>
              </a:rPr>
              <a:t/>
            </a:r>
          </a:p>
          <a:p>
            <a:r>
              <a:rPr sz="1100">
                <a:solidFill>
                  <a:srgbClr val="E2E8F0"/>
                </a:solidFill>
                <a:latin typeface="Calibri"/>
              </a:rPr>
              <a:t>Show              Scatter plot         Two numeric variables</a:t>
            </a:r>
          </a:p>
          <a:p>
            <a:r>
              <a:rPr sz="1100">
                <a:solidFill>
                  <a:srgbClr val="E2E8F0"/>
                </a:solidFill>
                <a:latin typeface="Calibri"/>
              </a:rPr>
              <a:t>relationship      Bubble chart         + size dimension</a:t>
            </a:r>
          </a:p>
          <a:p>
            <a:r>
              <a:rPr sz="1100">
                <a:solidFill>
                  <a:srgbClr val="E2E8F0"/>
                </a:solidFill>
                <a:latin typeface="Calibri"/>
              </a:rPr>
              <a:t/>
            </a:r>
          </a:p>
          <a:p>
            <a:r>
              <a:rPr sz="1100">
                <a:solidFill>
                  <a:srgbClr val="E2E8F0"/>
                </a:solidFill>
                <a:latin typeface="Calibri"/>
              </a:rPr>
              <a:t>GOLDEN RULE: If you're not sure — use a bar chart.</a:t>
            </a:r>
          </a:p>
          <a:p>
            <a:r>
              <a:rPr sz="1100">
                <a:solidFill>
                  <a:srgbClr val="E2E8F0"/>
                </a:solidFill>
                <a:latin typeface="Calibri"/>
              </a:rPr>
              <a:t>Bar charts are almost never wrong.</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PRE-ATTENTIVE ATTRIBUTES</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PRE-ATTENTIVE PROCESSING</a:t>
            </a:r>
          </a:p>
          <a:p>
            <a:r>
              <a:rPr sz="1100">
                <a:solidFill>
                  <a:srgbClr val="E2E8F0"/>
                </a:solidFill>
                <a:latin typeface="Calibri"/>
              </a:rPr>
              <a:t>Your brain sees these in &lt;250 milliseconds</a:t>
            </a:r>
          </a:p>
          <a:p>
            <a:r>
              <a:rPr sz="1100">
                <a:solidFill>
                  <a:srgbClr val="E2E8F0"/>
                </a:solidFill>
                <a:latin typeface="Calibri"/>
              </a:rPr>
              <a:t/>
            </a:r>
          </a:p>
          <a:p>
            <a:r>
              <a:rPr sz="1100">
                <a:solidFill>
                  <a:srgbClr val="E2E8F0"/>
                </a:solidFill>
                <a:latin typeface="Calibri"/>
              </a:rPr>
              <a:t>COLOUR HUE   → Different colours separate groups immediately</a:t>
            </a:r>
          </a:p>
          <a:p>
            <a:r>
              <a:rPr sz="1100">
                <a:solidFill>
                  <a:srgbClr val="E2E8F0"/>
                </a:solidFill>
                <a:latin typeface="Calibri"/>
              </a:rPr>
              <a:t/>
            </a:r>
          </a:p>
          <a:p>
            <a:r>
              <a:rPr sz="1100">
                <a:solidFill>
                  <a:srgbClr val="E2E8F0"/>
                </a:solidFill>
                <a:latin typeface="Calibri"/>
              </a:rPr>
              <a:t>COLOUR       → Darker shades mean more (heat maps)</a:t>
            </a:r>
          </a:p>
          <a:p>
            <a:r>
              <a:rPr sz="1300" b="1">
                <a:solidFill>
                  <a:srgbClr val="06B6D4"/>
                </a:solidFill>
                <a:latin typeface="Calibri"/>
              </a:rPr>
              <a:t>INTENSITY</a:t>
            </a:r>
          </a:p>
          <a:p>
            <a:r>
              <a:rPr sz="1100">
                <a:solidFill>
                  <a:srgbClr val="E2E8F0"/>
                </a:solidFill>
                <a:latin typeface="Calibri"/>
              </a:rPr>
              <a:t/>
            </a:r>
          </a:p>
          <a:p>
            <a:r>
              <a:rPr sz="1100">
                <a:solidFill>
                  <a:srgbClr val="E2E8F0"/>
                </a:solidFill>
                <a:latin typeface="Calibri"/>
              </a:rPr>
              <a:t>SIZE         → Bigger = more (bubble charts)</a:t>
            </a:r>
          </a:p>
          <a:p>
            <a:r>
              <a:rPr sz="1100">
                <a:solidFill>
                  <a:srgbClr val="E2E8F0"/>
                </a:solidFill>
                <a:latin typeface="Calibri"/>
              </a:rPr>
              <a:t/>
            </a:r>
          </a:p>
          <a:p>
            <a:r>
              <a:rPr sz="1100">
                <a:solidFill>
                  <a:srgbClr val="E2E8F0"/>
                </a:solidFill>
                <a:latin typeface="Calibri"/>
              </a:rPr>
              <a:t>POSITION     → Higher = better (bar chart, Y-axis)</a:t>
            </a:r>
          </a:p>
          <a:p>
            <a:r>
              <a:rPr sz="1100">
                <a:solidFill>
                  <a:srgbClr val="E2E8F0"/>
                </a:solidFill>
                <a:latin typeface="Calibri"/>
              </a:rPr>
              <a:t/>
            </a:r>
          </a:p>
          <a:p>
            <a:r>
              <a:rPr sz="1100">
                <a:solidFill>
                  <a:srgbClr val="E2E8F0"/>
                </a:solidFill>
                <a:latin typeface="Calibri"/>
              </a:rPr>
              <a:t>LENGTH       → Core of bar charts — longer = more</a:t>
            </a:r>
          </a:p>
          <a:p>
            <a:r>
              <a:rPr sz="1100">
                <a:solidFill>
                  <a:srgbClr val="E2E8F0"/>
                </a:solidFill>
                <a:latin typeface="Calibri"/>
              </a:rPr>
              <a:t/>
            </a:r>
          </a:p>
          <a:p>
            <a:r>
              <a:rPr sz="1100">
                <a:solidFill>
                  <a:srgbClr val="E2E8F0"/>
                </a:solidFill>
                <a:latin typeface="Calibri"/>
              </a:rPr>
              <a:t>SHAPE        → Distinguish categories (scatter plots)</a:t>
            </a:r>
          </a:p>
          <a:p>
            <a:r>
              <a:rPr sz="1100">
                <a:solidFill>
                  <a:srgbClr val="E2E8F0"/>
                </a:solidFill>
                <a:latin typeface="Calibri"/>
              </a:rPr>
              <a:t/>
            </a:r>
          </a:p>
          <a:p>
            <a:r>
              <a:rPr sz="1300" b="1">
                <a:solidFill>
                  <a:srgbClr val="06B6D4"/>
                </a:solidFill>
                <a:latin typeface="Calibri"/>
              </a:rPr>
              <a:t>HOW TO USE THIS:</a:t>
            </a:r>
          </a:p>
          <a:p>
            <a:r>
              <a:rPr sz="1100">
                <a:solidFill>
                  <a:srgbClr val="E2E8F0"/>
                </a:solidFill>
                <a:latin typeface="Calibri"/>
              </a:rPr>
              <a:t>  • Want viewers to notice one bar? Make it RED. Rest GREY.</a:t>
            </a:r>
          </a:p>
          <a:p>
            <a:r>
              <a:rPr sz="1100">
                <a:solidFill>
                  <a:srgbClr val="E2E8F0"/>
                </a:solidFill>
                <a:latin typeface="Calibri"/>
              </a:rPr>
              <a:t>  • Don't decorate with colour. DIRECT attention with it.</a:t>
            </a:r>
          </a:p>
          <a:p>
            <a:r>
              <a:rPr sz="1100">
                <a:solidFill>
                  <a:srgbClr val="E2E8F0"/>
                </a:solidFill>
                <a:latin typeface="Calibri"/>
              </a:rPr>
              <a:t>  • One pre-attentive attribute per chart. More = confusion.</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THE DATA STORY STRUCTURE</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THE DATA STORY STRUCTURE</a:t>
            </a:r>
          </a:p>
          <a:p>
            <a:r>
              <a:rPr sz="1100">
                <a:solidFill>
                  <a:srgbClr val="E2E8F0"/>
                </a:solidFill>
                <a:latin typeface="Calibri"/>
              </a:rPr>
              <a:t/>
            </a:r>
          </a:p>
          <a:p>
            <a:r>
              <a:rPr sz="1300" b="1">
                <a:solidFill>
                  <a:srgbClr val="06B6D4"/>
                </a:solidFill>
                <a:latin typeface="Calibri"/>
              </a:rPr>
              <a:t>SETUP          CONTEXT        EVIDENCE       SO WHAT        ACTION</a:t>
            </a:r>
          </a:p>
          <a:p>
            <a:r>
              <a:rPr sz="1100">
                <a:solidFill>
                  <a:srgbClr val="E2E8F0"/>
                </a:solidFill>
                <a:latin typeface="Calibri"/>
              </a:rPr>
              <a:t>"Northern         "Target is     [Line chart:   "At current    "Launch Q4</a:t>
            </a:r>
          </a:p>
          <a:p>
            <a:r>
              <a:rPr sz="1100">
                <a:solidFill>
                  <a:srgbClr val="E2E8F0"/>
                </a:solidFill>
                <a:latin typeface="Calibri"/>
              </a:rPr>
              <a:t>region churn      &lt;5% churn.    Northern       rate: ₦4.2B    retention</a:t>
            </a:r>
          </a:p>
          <a:p>
            <a:r>
              <a:rPr sz="1100">
                <a:solidFill>
                  <a:srgbClr val="E2E8F0"/>
                </a:solidFill>
                <a:latin typeface="Calibri"/>
              </a:rPr>
              <a:t>up 23%"           We're at       churn at       revenue        campaign.</a:t>
            </a:r>
          </a:p>
          <a:p>
            <a:r>
              <a:rPr sz="1100">
                <a:solidFill>
                  <a:srgbClr val="E2E8F0"/>
                </a:solidFill>
                <a:latin typeface="Calibri"/>
              </a:rPr>
              <a:t>10.4%"         10.4% since    at risk"       Network audit.</a:t>
            </a:r>
          </a:p>
          <a:p>
            <a:r>
              <a:rPr sz="1100">
                <a:solidFill>
                  <a:srgbClr val="E2E8F0"/>
                </a:solidFill>
                <a:latin typeface="Calibri"/>
              </a:rPr>
              <a:t>August"                       Price review."</a:t>
            </a:r>
          </a:p>
          <a:p>
            <a:r>
              <a:rPr sz="1100">
                <a:solidFill>
                  <a:srgbClr val="E2E8F0"/>
                </a:solidFill>
                <a:latin typeface="Calibri"/>
              </a:rPr>
              <a:t>↑                  ↑              ↑              ↑              ↑</a:t>
            </a:r>
          </a:p>
          <a:p>
            <a:r>
              <a:rPr sz="1100">
                <a:solidFill>
                  <a:srgbClr val="E2E8F0"/>
                </a:solidFill>
                <a:latin typeface="Calibri"/>
              </a:rPr>
              <a:t>Hook           Baseline       Proof          Impact         Decision</a:t>
            </a:r>
          </a:p>
          <a:p>
            <a:r>
              <a:rPr sz="1100">
                <a:solidFill>
                  <a:srgbClr val="E2E8F0"/>
                </a:solidFill>
                <a:latin typeface="Calibri"/>
              </a:rPr>
              <a:t/>
            </a:r>
          </a:p>
          <a:p>
            <a:r>
              <a:rPr sz="1100">
                <a:solidFill>
                  <a:srgbClr val="E2E8F0"/>
                </a:solidFill>
                <a:latin typeface="Calibri"/>
              </a:rPr>
              <a:t>PYRAMID PRINCIPLE (McKinsey):</a:t>
            </a:r>
          </a:p>
          <a:p>
            <a:r>
              <a:rPr sz="1100">
                <a:solidFill>
                  <a:srgbClr val="E2E8F0"/>
                </a:solidFill>
                <a:latin typeface="Calibri"/>
              </a:rPr>
              <a:t>Answer first → Support with evidence → Don't make them wait</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06B6D4"/>
                </a:solidFill>
                <a:latin typeface="Calibri"/>
              </a:rPr>
              <a:t>LEVEL: ADVANCED</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9 OPENER: POWER BI PART I</a:t>
            </a:r>
          </a:p>
        </p:txBody>
      </p:sp>
      <p:sp>
        <p:nvSpPr>
          <p:cNvPr id="5" name="Rectangle 4"/>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THE POWER BI ARCHITECTURE</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POWER BI ECOSYSTEM</a:t>
            </a:r>
          </a:p>
          <a:p>
            <a:r>
              <a:rPr sz="1100">
                <a:solidFill>
                  <a:srgbClr val="E2E8F0"/>
                </a:solidFill>
                <a:latin typeface="Calibri"/>
              </a:rPr>
              <a:t/>
            </a:r>
          </a:p>
          <a:p>
            <a:r>
              <a:rPr sz="1100">
                <a:solidFill>
                  <a:srgbClr val="E2E8F0"/>
                </a:solidFill>
                <a:latin typeface="Calibri"/>
              </a:rPr>
              <a:t>┌──────────────────────────────────────────┐</a:t>
            </a:r>
          </a:p>
          <a:p>
            <a:r>
              <a:rPr sz="1100">
                <a:solidFill>
                  <a:srgbClr val="E2E8F0"/>
                </a:solidFill>
                <a:latin typeface="Calibri"/>
              </a:rPr>
              <a:t>│          POWER BI SERVICE (Cloud)         │</a:t>
            </a:r>
          </a:p>
          <a:p>
            <a:r>
              <a:rPr sz="1100">
                <a:solidFill>
                  <a:srgbClr val="E2E8F0"/>
                </a:solidFill>
                <a:latin typeface="Calibri"/>
              </a:rPr>
              <a:t>│      Share · Collaborate · Schedule       │</a:t>
            </a:r>
          </a:p>
          <a:p>
            <a:r>
              <a:rPr sz="1100">
                <a:solidFill>
                  <a:srgbClr val="E2E8F0"/>
                </a:solidFill>
                <a:latin typeface="Calibri"/>
              </a:rPr>
              <a:t>│       Dashboards · Mobile access          │</a:t>
            </a:r>
          </a:p>
          <a:p>
            <a:r>
              <a:rPr sz="1100">
                <a:solidFill>
                  <a:srgbClr val="E2E8F0"/>
                </a:solidFill>
                <a:latin typeface="Calibri"/>
              </a:rPr>
              <a:t>└───────────────────┬──────────────────────┘</a:t>
            </a:r>
          </a:p>
          <a:p>
            <a:r>
              <a:rPr sz="1100">
                <a:solidFill>
                  <a:srgbClr val="E2E8F0"/>
                </a:solidFill>
                <a:latin typeface="Calibri"/>
              </a:rPr>
              <a:t>│ Publish</a:t>
            </a:r>
          </a:p>
          <a:p>
            <a:r>
              <a:rPr sz="1100">
                <a:solidFill>
                  <a:srgbClr val="E2E8F0"/>
                </a:solidFill>
                <a:latin typeface="Calibri"/>
              </a:rPr>
              <a:t>┌───────────────────▼──────────────────────┐</a:t>
            </a:r>
          </a:p>
          <a:p>
            <a:r>
              <a:rPr sz="1100">
                <a:solidFill>
                  <a:srgbClr val="E2E8F0"/>
                </a:solidFill>
                <a:latin typeface="Calibri"/>
              </a:rPr>
              <a:t>│          POWER BI DESKTOP                 │</a:t>
            </a:r>
          </a:p>
          <a:p>
            <a:r>
              <a:rPr sz="1100">
                <a:solidFill>
                  <a:srgbClr val="E2E8F0"/>
                </a:solidFill>
                <a:latin typeface="Calibri"/>
              </a:rPr>
              <a:t>│    Build reports · Write DAX              │</a:t>
            </a:r>
          </a:p>
          <a:p>
            <a:r>
              <a:rPr sz="1100">
                <a:solidFill>
                  <a:srgbClr val="E2E8F0"/>
                </a:solidFill>
                <a:latin typeface="Calibri"/>
              </a:rPr>
              <a:t>│    Model data · Create visuals            │</a:t>
            </a:r>
          </a:p>
          <a:p>
            <a:r>
              <a:rPr sz="1100">
                <a:solidFill>
                  <a:srgbClr val="E2E8F0"/>
                </a:solidFill>
                <a:latin typeface="Calibri"/>
              </a:rPr>
              <a:t>└───────────────────┬──────────────────────┘</a:t>
            </a:r>
          </a:p>
          <a:p>
            <a:r>
              <a:rPr sz="1100">
                <a:solidFill>
                  <a:srgbClr val="E2E8F0"/>
                </a:solidFill>
                <a:latin typeface="Calibri"/>
              </a:rPr>
              <a:t>│ Connect</a:t>
            </a:r>
          </a:p>
          <a:p>
            <a:r>
              <a:rPr sz="1100">
                <a:solidFill>
                  <a:srgbClr val="E2E8F0"/>
                </a:solidFill>
                <a:latin typeface="Calibri"/>
              </a:rPr>
              <a:t>┌───────────────────▼──────────────────────┐</a:t>
            </a:r>
          </a:p>
          <a:p>
            <a:r>
              <a:rPr sz="1100">
                <a:solidFill>
                  <a:srgbClr val="E2E8F0"/>
                </a:solidFill>
                <a:latin typeface="Calibri"/>
              </a:rPr>
              <a:t>│             DATA SOURCES                  │</a:t>
            </a:r>
          </a:p>
          <a:p>
            <a:r>
              <a:rPr sz="1100">
                <a:solidFill>
                  <a:srgbClr val="E2E8F0"/>
                </a:solidFill>
                <a:latin typeface="Calibri"/>
              </a:rPr>
              <a:t>│  Excel · SQL DB · CSV · Web · SharePoint  │</a:t>
            </a:r>
          </a:p>
          <a:p>
            <a:r>
              <a:rPr sz="1100">
                <a:solidFill>
                  <a:srgbClr val="E2E8F0"/>
                </a:solidFill>
                <a:latin typeface="Calibri"/>
              </a:rPr>
              <a:t>│  Google Analytics · Salesforce · APIs     │</a:t>
            </a:r>
          </a:p>
          <a:p>
            <a:r>
              <a:rPr sz="1100">
                <a:solidFill>
                  <a:srgbClr val="E2E8F0"/>
                </a:solidFill>
                <a:latin typeface="Calibri"/>
              </a:rPr>
              <a:t>└──────────────────────────────────────────┘</a:t>
            </a:r>
          </a:p>
          <a:p>
            <a:r>
              <a:rPr sz="1100">
                <a:solidFill>
                  <a:srgbClr val="E2E8F0"/>
                </a:solidFill>
                <a:latin typeface="Calibri"/>
              </a:rPr>
              <a:t/>
            </a:r>
          </a:p>
          <a:p>
            <a:r>
              <a:rPr sz="1100">
                <a:solidFill>
                  <a:srgbClr val="E2E8F0"/>
                </a:solidFill>
                <a:latin typeface="Calibri"/>
              </a:rPr>
              <a:t>Free: Power BI Desktop (full analytics)</a:t>
            </a:r>
          </a:p>
          <a:p>
            <a:r>
              <a:rPr sz="1100">
                <a:solidFill>
                  <a:srgbClr val="E2E8F0"/>
                </a:solidFill>
                <a:latin typeface="Calibri"/>
              </a:rPr>
              <a:t>Paid: Power BI Service Pro (sharing + collaboration)</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THE STAR SCHEMA</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THE STAR SCHEMA — DATA MODELLING STANDARD</a:t>
            </a:r>
          </a:p>
          <a:p>
            <a:r>
              <a:rPr sz="1100">
                <a:solidFill>
                  <a:srgbClr val="E2E8F0"/>
                </a:solidFill>
                <a:latin typeface="Calibri"/>
              </a:rPr>
              <a:t/>
            </a:r>
          </a:p>
          <a:p>
            <a:r>
              <a:rPr sz="1100">
                <a:solidFill>
                  <a:srgbClr val="E2E8F0"/>
                </a:solidFill>
                <a:latin typeface="Calibri"/>
              </a:rPr>
              <a:t>DimDate             DimProduct</a:t>
            </a:r>
          </a:p>
          <a:p>
            <a:r>
              <a:rPr sz="1100">
                <a:solidFill>
                  <a:srgbClr val="E2E8F0"/>
                </a:solidFill>
                <a:latin typeface="Calibri"/>
              </a:rPr>
              <a:t>(Date, Month,        (Product, Category,</a:t>
            </a:r>
          </a:p>
          <a:p>
            <a:r>
              <a:rPr sz="1100">
                <a:solidFill>
                  <a:srgbClr val="E2E8F0"/>
                </a:solidFill>
                <a:latin typeface="Calibri"/>
              </a:rPr>
              <a:t>Year, Quarter)       Brand, Cost Price)</a:t>
            </a:r>
          </a:p>
          <a:p>
            <a:r>
              <a:rPr sz="1100">
                <a:solidFill>
                  <a:srgbClr val="E2E8F0"/>
                </a:solidFill>
                <a:latin typeface="Calibri"/>
              </a:rPr>
              <a:t>\                   /</a:t>
            </a:r>
          </a:p>
          <a:p>
            <a:r>
              <a:rPr sz="1100">
                <a:solidFill>
                  <a:srgbClr val="E2E8F0"/>
                </a:solidFill>
                <a:latin typeface="Calibri"/>
              </a:rPr>
              <a:t>\                 /</a:t>
            </a:r>
          </a:p>
          <a:p>
            <a:r>
              <a:rPr sz="1100">
                <a:solidFill>
                  <a:srgbClr val="E2E8F0"/>
                </a:solidFill>
                <a:latin typeface="Calibri"/>
              </a:rPr>
              <a:t>DimCustomer ──── FactSales ──── DimStore</a:t>
            </a:r>
          </a:p>
          <a:p>
            <a:r>
              <a:rPr sz="1100">
                <a:solidFill>
                  <a:srgbClr val="E2E8F0"/>
                </a:solidFill>
                <a:latin typeface="Calibri"/>
              </a:rPr>
              <a:t>(Name, State,   (date_key,     (Store, City,</a:t>
            </a:r>
          </a:p>
          <a:p>
            <a:r>
              <a:rPr sz="1100">
                <a:solidFill>
                  <a:srgbClr val="E2E8F0"/>
                </a:solidFill>
                <a:latin typeface="Calibri"/>
              </a:rPr>
              <a:t>Tier, Source)   product_key,   Region)</a:t>
            </a:r>
          </a:p>
          <a:p>
            <a:r>
              <a:rPr sz="1100">
                <a:solidFill>
                  <a:srgbClr val="E2E8F0"/>
                </a:solidFill>
                <a:latin typeface="Calibri"/>
              </a:rPr>
              <a:t>customer_key,</a:t>
            </a:r>
          </a:p>
          <a:p>
            <a:r>
              <a:rPr sz="1100">
                <a:solidFill>
                  <a:srgbClr val="E2E8F0"/>
                </a:solidFill>
                <a:latin typeface="Calibri"/>
              </a:rPr>
              <a:t>revenue,        \</a:t>
            </a:r>
          </a:p>
          <a:p>
            <a:r>
              <a:rPr sz="1100">
                <a:solidFill>
                  <a:srgbClr val="E2E8F0"/>
                </a:solidFill>
                <a:latin typeface="Calibri"/>
              </a:rPr>
              <a:t>quantity)   DimPromotion</a:t>
            </a:r>
          </a:p>
          <a:p>
            <a:r>
              <a:rPr sz="1100">
                <a:solidFill>
                  <a:srgbClr val="E2E8F0"/>
                </a:solidFill>
                <a:latin typeface="Calibri"/>
              </a:rPr>
              <a:t>(Campaign, Type)</a:t>
            </a:r>
          </a:p>
          <a:p>
            <a:r>
              <a:rPr sz="1100">
                <a:solidFill>
                  <a:srgbClr val="E2E8F0"/>
                </a:solidFill>
                <a:latin typeface="Calibri"/>
              </a:rPr>
              <a:t/>
            </a:r>
          </a:p>
          <a:p>
            <a:r>
              <a:rPr sz="1300" b="1">
                <a:solidFill>
                  <a:srgbClr val="06B6D4"/>
                </a:solidFill>
                <a:latin typeface="Calibri"/>
              </a:rPr>
              <a:t>WHY THIS MATTERS:</a:t>
            </a:r>
          </a:p>
          <a:p>
            <a:r>
              <a:rPr sz="1100">
                <a:solidFill>
                  <a:srgbClr val="E2E8F0"/>
                </a:solidFill>
                <a:latin typeface="Calibri"/>
              </a:rPr>
              <a:t>  • Power BI is optimised for star schema</a:t>
            </a:r>
          </a:p>
          <a:p>
            <a:r>
              <a:rPr sz="1100">
                <a:solidFill>
                  <a:srgbClr val="E2E8F0"/>
                </a:solidFill>
                <a:latin typeface="Calibri"/>
              </a:rPr>
              <a:t>  • Cleaner DAX formulas</a:t>
            </a:r>
          </a:p>
          <a:p>
            <a:r>
              <a:rPr sz="1100">
                <a:solidFill>
                  <a:srgbClr val="E2E8F0"/>
                </a:solidFill>
                <a:latin typeface="Calibri"/>
              </a:rPr>
              <a:t>  • Faster queries on large data</a:t>
            </a:r>
          </a:p>
          <a:p>
            <a:r>
              <a:rPr sz="1100">
                <a:solidFill>
                  <a:srgbClr val="E2E8F0"/>
                </a:solidFill>
                <a:latin typeface="Calibri"/>
              </a:rPr>
              <a:t>  • Every professional BI report uses this structure</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THE 8 ESSENTIAL POWER BI VISUALS</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8 VISUALS EVERY ANALYST MUST KNOW</a:t>
            </a:r>
          </a:p>
          <a:p>
            <a:r>
              <a:rPr sz="1100">
                <a:solidFill>
                  <a:srgbClr val="E2E8F0"/>
                </a:solidFill>
                <a:latin typeface="Calibri"/>
              </a:rPr>
              <a:t/>
            </a:r>
          </a:p>
          <a:p>
            <a:r>
              <a:rPr sz="1100">
                <a:solidFill>
                  <a:srgbClr val="E2E8F0"/>
                </a:solidFill>
                <a:latin typeface="Calibri"/>
              </a:rPr>
              <a:t>[BAR/COLUMN]     [LINE CHART]     [CARD]          [TABLE]</a:t>
            </a:r>
          </a:p>
          <a:p>
            <a:r>
              <a:rPr sz="1100">
                <a:solidFill>
                  <a:srgbClr val="E2E8F0"/>
                </a:solidFill>
                <a:latin typeface="Calibri"/>
              </a:rPr>
              <a:t>Compare          Trend over       Single KPI      Detailed rows</a:t>
            </a:r>
          </a:p>
          <a:p>
            <a:r>
              <a:rPr sz="1100">
                <a:solidFill>
                  <a:srgbClr val="E2E8F0"/>
                </a:solidFill>
                <a:latin typeface="Calibri"/>
              </a:rPr>
              <a:t>categories       time             "₦4.2B"         with multiple</a:t>
            </a:r>
          </a:p>
          <a:p>
            <a:r>
              <a:rPr sz="1100">
                <a:solidFill>
                  <a:srgbClr val="E2E8F0"/>
                </a:solidFill>
                <a:latin typeface="Calibri"/>
              </a:rPr>
              <a:t>Ranking          Revenue          Total Revenue   columns</a:t>
            </a:r>
          </a:p>
          <a:p>
            <a:r>
              <a:rPr sz="1100">
                <a:solidFill>
                  <a:srgbClr val="E2E8F0"/>
                </a:solidFill>
                <a:latin typeface="Calibri"/>
              </a:rPr>
              <a:t>growth</a:t>
            </a:r>
          </a:p>
          <a:p>
            <a:r>
              <a:rPr sz="1100">
                <a:solidFill>
                  <a:srgbClr val="E2E8F0"/>
                </a:solidFill>
                <a:latin typeface="Calibri"/>
              </a:rPr>
              <a:t/>
            </a:r>
          </a:p>
          <a:p>
            <a:r>
              <a:rPr sz="1100">
                <a:solidFill>
                  <a:srgbClr val="E2E8F0"/>
                </a:solidFill>
                <a:latin typeface="Calibri"/>
              </a:rPr>
              <a:t>[MATRIX]         [SLICER]         [MAP]           [KPI]</a:t>
            </a:r>
          </a:p>
          <a:p>
            <a:r>
              <a:rPr sz="1100">
                <a:solidFill>
                  <a:srgbClr val="E2E8F0"/>
                </a:solidFill>
                <a:latin typeface="Calibri"/>
              </a:rPr>
              <a:t>Cross-tab        Filter control   Geographic      Actual vs</a:t>
            </a:r>
          </a:p>
          <a:p>
            <a:r>
              <a:rPr sz="1100">
                <a:solidFill>
                  <a:srgbClr val="E2E8F0"/>
                </a:solidFill>
                <a:latin typeface="Calibri"/>
              </a:rPr>
              <a:t>Product×Region   Users click      data by state   Target</a:t>
            </a:r>
          </a:p>
          <a:p>
            <a:r>
              <a:rPr sz="1100">
                <a:solidFill>
                  <a:srgbClr val="E2E8F0"/>
                </a:solidFill>
                <a:latin typeface="Calibri"/>
              </a:rPr>
              <a:t>Revenue          to filter                        ↑ Above goal</a:t>
            </a:r>
          </a:p>
          <a:p>
            <a:r>
              <a:rPr sz="1100">
                <a:solidFill>
                  <a:srgbClr val="E2E8F0"/>
                </a:solidFill>
                <a:latin typeface="Calibri"/>
              </a:rPr>
              <a:t>the page                         ↓ Below goal</a:t>
            </a:r>
          </a:p>
          <a:p>
            <a:r>
              <a:rPr sz="1100">
                <a:solidFill>
                  <a:srgbClr val="E2E8F0"/>
                </a:solidFill>
                <a:latin typeface="Calibri"/>
              </a:rPr>
              <a:t/>
            </a:r>
          </a:p>
          <a:p>
            <a:r>
              <a:rPr sz="1100">
                <a:solidFill>
                  <a:srgbClr val="E2E8F0"/>
                </a:solidFill>
                <a:latin typeface="Calibri"/>
              </a:rPr>
              <a:t>DESIGN RULE: One question per dashboard page.</a:t>
            </a:r>
          </a:p>
          <a:p>
            <a:r>
              <a:rPr sz="1100">
                <a:solidFill>
                  <a:srgbClr val="E2E8F0"/>
                </a:solidFill>
                <a:latin typeface="Calibri"/>
              </a:rPr>
              <a:t>Not twelve. One. What is the page answering?</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06B6D4"/>
                </a:solidFill>
                <a:latin typeface="Calibri"/>
              </a:rPr>
              <a:t>LEVEL: PROFESSIONAL</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10 OPENER: POWER BI PART II</a:t>
            </a:r>
          </a:p>
        </p:txBody>
      </p:sp>
      <p:sp>
        <p:nvSpPr>
          <p:cNvPr id="5" name="Rectangle 4"/>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CALCULATED COLUMNS VS MEASURES</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CALCULATED COLUMN vs MEASURE</a:t>
            </a:r>
          </a:p>
          <a:p>
            <a:r>
              <a:rPr sz="1100">
                <a:solidFill>
                  <a:srgbClr val="E2E8F0"/>
                </a:solidFill>
                <a:latin typeface="Calibri"/>
              </a:rPr>
              <a:t/>
            </a:r>
          </a:p>
          <a:p>
            <a:r>
              <a:rPr sz="1300" b="1">
                <a:solidFill>
                  <a:srgbClr val="06B6D4"/>
                </a:solidFill>
                <a:latin typeface="Calibri"/>
              </a:rPr>
              <a:t>CALCULATED COLUMN              MEASURE</a:t>
            </a:r>
          </a:p>
          <a:p>
            <a:r>
              <a:rPr sz="1100">
                <a:solidFill>
                  <a:srgbClr val="E2E8F0"/>
                </a:solidFill>
                <a:latin typeface="Calibri"/>
              </a:rPr>
              <a:t>──────────────────────         ──────────────────────</a:t>
            </a:r>
          </a:p>
          <a:p>
            <a:r>
              <a:rPr sz="1100">
                <a:solidFill>
                  <a:srgbClr val="E2E8F0"/>
                </a:solidFill>
                <a:latin typeface="Calibri"/>
              </a:rPr>
              <a:t>Computed row-by-row            Computed in context</a:t>
            </a:r>
          </a:p>
          <a:p>
            <a:r>
              <a:rPr sz="1100">
                <a:solidFill>
                  <a:srgbClr val="E2E8F0"/>
                </a:solidFill>
                <a:latin typeface="Calibri"/>
              </a:rPr>
              <a:t/>
            </a:r>
          </a:p>
          <a:p>
            <a:r>
              <a:rPr sz="1100">
                <a:solidFill>
                  <a:srgbClr val="E2E8F0"/>
                </a:solidFill>
                <a:latin typeface="Calibri"/>
              </a:rPr>
              <a:t>Stored in table (uses RAM)     NOT stored — on-the-fly</a:t>
            </a:r>
          </a:p>
          <a:p>
            <a:r>
              <a:rPr sz="1100">
                <a:solidFill>
                  <a:srgbClr val="E2E8F0"/>
                </a:solidFill>
                <a:latin typeface="Calibri"/>
              </a:rPr>
              <a:t/>
            </a:r>
          </a:p>
          <a:p>
            <a:r>
              <a:rPr sz="1100">
                <a:solidFill>
                  <a:srgbClr val="E2E8F0"/>
                </a:solidFill>
                <a:latin typeface="Calibri"/>
              </a:rPr>
              <a:t>Available as filter/axis       Changes with every slicer</a:t>
            </a:r>
          </a:p>
          <a:p>
            <a:r>
              <a:rPr sz="1100">
                <a:solidFill>
                  <a:srgbClr val="E2E8F0"/>
                </a:solidFill>
                <a:latin typeface="Calibri"/>
              </a:rPr>
              <a:t/>
            </a:r>
          </a:p>
          <a:p>
            <a:r>
              <a:rPr sz="1100">
                <a:solidFill>
                  <a:srgbClr val="E2E8F0"/>
                </a:solidFill>
                <a:latin typeface="Calibri"/>
              </a:rPr>
              <a:t>Runs at data refresh           Runs when report loads</a:t>
            </a:r>
          </a:p>
          <a:p>
            <a:r>
              <a:rPr sz="1100">
                <a:solidFill>
                  <a:srgbClr val="E2E8F0"/>
                </a:solidFill>
                <a:latin typeface="Calibri"/>
              </a:rPr>
              <a:t/>
            </a:r>
          </a:p>
          <a:p>
            <a:r>
              <a:rPr sz="1300" b="1">
                <a:solidFill>
                  <a:srgbClr val="06B6D4"/>
                </a:solidFill>
                <a:latin typeface="Calibri"/>
              </a:rPr>
              <a:t>EXAMPLE:                       EXAMPLE:</a:t>
            </a:r>
          </a:p>
          <a:p>
            <a:r>
              <a:rPr sz="1100">
                <a:solidFill>
                  <a:srgbClr val="E2E8F0"/>
                </a:solidFill>
                <a:latin typeface="Calibri"/>
              </a:rPr>
              <a:t>Customer Tier =                Total Revenue =</a:t>
            </a:r>
          </a:p>
          <a:p>
            <a:r>
              <a:rPr sz="1000">
                <a:solidFill>
                  <a:srgbClr val="4ADE80"/>
                </a:solidFill>
                <a:latin typeface="Courier New"/>
              </a:rPr>
              <a:t>SWITCH(TRUE(),                 SUM(FactSales[Revenue])</a:t>
            </a:r>
          </a:p>
          <a:p>
            <a:r>
              <a:rPr sz="1100">
                <a:solidFill>
                  <a:srgbClr val="E2E8F0"/>
                </a:solidFill>
                <a:latin typeface="Calibri"/>
              </a:rPr>
              <a:t>Revenue &gt;= 5M, "Premium",</a:t>
            </a:r>
          </a:p>
          <a:p>
            <a:r>
              <a:rPr sz="1100">
                <a:solidFill>
                  <a:srgbClr val="E2E8F0"/>
                </a:solidFill>
                <a:latin typeface="Calibri"/>
              </a:rPr>
              <a:t>Revenue &gt;= 500K, "Gold",     Average Order Value =</a:t>
            </a:r>
          </a:p>
          <a:p>
            <a:r>
              <a:rPr sz="1100">
                <a:solidFill>
                  <a:srgbClr val="E2E8F0"/>
                </a:solidFill>
                <a:latin typeface="Calibri"/>
              </a:rPr>
              <a:t>Revenue &gt;= 50K, "Silver",    DIVIDE([Revenue],[Orders])</a:t>
            </a:r>
          </a:p>
          <a:p>
            <a:r>
              <a:rPr sz="1100">
                <a:solidFill>
                  <a:srgbClr val="E2E8F0"/>
                </a:solidFill>
                <a:latin typeface="Calibri"/>
              </a:rPr>
              <a:t>"Basic")</a:t>
            </a:r>
          </a:p>
          <a:p>
            <a:r>
              <a:rPr sz="1100">
                <a:solidFill>
                  <a:srgbClr val="E2E8F0"/>
                </a:solidFill>
                <a:latin typeface="Calibri"/>
              </a:rPr>
              <a:t/>
            </a:r>
          </a:p>
          <a:p>
            <a:r>
              <a:rPr sz="1300" b="1">
                <a:solidFill>
                  <a:srgbClr val="06B6D4"/>
                </a:solidFill>
                <a:latin typeface="Calibri"/>
              </a:rPr>
              <a:t>USE WHEN:                      USE WHEN:</a:t>
            </a:r>
          </a:p>
          <a:p>
            <a:r>
              <a:rPr sz="1100">
                <a:solidFill>
                  <a:srgbClr val="E2E8F0"/>
                </a:solidFill>
                <a:latin typeface="Calibri"/>
              </a:rPr>
              <a:t>It's a property of a row       It's a summary or aggregation</a:t>
            </a:r>
          </a:p>
          <a:p>
            <a:r>
              <a:rPr sz="1100">
                <a:solidFill>
                  <a:srgbClr val="E2E8F0"/>
                </a:solidFill>
                <a:latin typeface="Calibri"/>
              </a:rPr>
              <a:t>Classification, date parts     Almost everything else</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THE DAX MEASURE LIBRARY</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ESSENTIAL DAX MEASURES</a:t>
            </a:r>
          </a:p>
          <a:p>
            <a:r>
              <a:rPr sz="1100">
                <a:solidFill>
                  <a:srgbClr val="E2E8F0"/>
                </a:solidFill>
                <a:latin typeface="Calibri"/>
              </a:rPr>
              <a:t/>
            </a:r>
          </a:p>
          <a:p>
            <a:r>
              <a:rPr sz="1100">
                <a:solidFill>
                  <a:srgbClr val="E2E8F0"/>
                </a:solidFill>
                <a:latin typeface="Calibri"/>
              </a:rPr>
              <a:t>┌──────────────────────┐  ┌──────────────────────┐</a:t>
            </a:r>
          </a:p>
          <a:p>
            <a:r>
              <a:rPr sz="1100">
                <a:solidFill>
                  <a:srgbClr val="E2E8F0"/>
                </a:solidFill>
                <a:latin typeface="Calibri"/>
              </a:rPr>
              <a:t>│ TOTAL REVENUE        │  │ ACTIVE CUSTOMERS      │</a:t>
            </a:r>
          </a:p>
          <a:p>
            <a:r>
              <a:rPr sz="1100">
                <a:solidFill>
                  <a:srgbClr val="E2E8F0"/>
                </a:solidFill>
                <a:latin typeface="Calibri"/>
              </a:rPr>
              <a:t>│ SUM(FactSales        │  │ DISTINCTCOUNT(        │</a:t>
            </a:r>
          </a:p>
          <a:p>
            <a:r>
              <a:rPr sz="1100">
                <a:solidFill>
                  <a:srgbClr val="E2E8F0"/>
                </a:solidFill>
                <a:latin typeface="Calibri"/>
              </a:rPr>
              <a:t>│  [Revenue])          │  │  FactSales[cust_id])  │</a:t>
            </a:r>
          </a:p>
          <a:p>
            <a:r>
              <a:rPr sz="1100">
                <a:solidFill>
                  <a:srgbClr val="E2E8F0"/>
                </a:solidFill>
                <a:latin typeface="Calibri"/>
              </a:rPr>
              <a:t>└──────────────────────┘  └──────────────────────┘</a:t>
            </a:r>
          </a:p>
          <a:p>
            <a:r>
              <a:rPr sz="1100">
                <a:solidFill>
                  <a:srgbClr val="E2E8F0"/>
                </a:solidFill>
                <a:latin typeface="Calibri"/>
              </a:rPr>
              <a:t/>
            </a:r>
          </a:p>
          <a:p>
            <a:r>
              <a:rPr sz="1100">
                <a:solidFill>
                  <a:srgbClr val="E2E8F0"/>
                </a:solidFill>
                <a:latin typeface="Calibri"/>
              </a:rPr>
              <a:t>┌──────────────────────┐  ┌──────────────────────┐</a:t>
            </a:r>
          </a:p>
          <a:p>
            <a:r>
              <a:rPr sz="1100">
                <a:solidFill>
                  <a:srgbClr val="E2E8F0"/>
                </a:solidFill>
                <a:latin typeface="Calibri"/>
              </a:rPr>
              <a:t>│ AVG ORDER VALUE      │  │ REVENUE SPLY          │</a:t>
            </a:r>
          </a:p>
          <a:p>
            <a:r>
              <a:rPr sz="1100">
                <a:solidFill>
                  <a:srgbClr val="E2E8F0"/>
                </a:solidFill>
                <a:latin typeface="Calibri"/>
              </a:rPr>
              <a:t>│ DIVIDE([Revenue],    │  │ CALCULATE([Revenue],  │</a:t>
            </a:r>
          </a:p>
          <a:p>
            <a:r>
              <a:rPr sz="1100">
                <a:solidFill>
                  <a:srgbClr val="E2E8F0"/>
                </a:solidFill>
                <a:latin typeface="Calibri"/>
              </a:rPr>
              <a:t>│  [Total Orders])     │  │  SAMEPERIODLASTYEAR   │</a:t>
            </a:r>
          </a:p>
          <a:p>
            <a:r>
              <a:rPr sz="1100">
                <a:solidFill>
                  <a:srgbClr val="E2E8F0"/>
                </a:solidFill>
                <a:latin typeface="Calibri"/>
              </a:rPr>
              <a:t>│                      │  │   (DimDate[Date]))    │</a:t>
            </a:r>
          </a:p>
          <a:p>
            <a:r>
              <a:rPr sz="1100">
                <a:solidFill>
                  <a:srgbClr val="E2E8F0"/>
                </a:solidFill>
                <a:latin typeface="Calibri"/>
              </a:rPr>
              <a:t>└──────────────────────┘  └──────────────────────┘</a:t>
            </a:r>
          </a:p>
          <a:p>
            <a:r>
              <a:rPr sz="1100">
                <a:solidFill>
                  <a:srgbClr val="E2E8F0"/>
                </a:solidFill>
                <a:latin typeface="Calibri"/>
              </a:rPr>
              <a:t/>
            </a:r>
          </a:p>
          <a:p>
            <a:r>
              <a:rPr sz="1100">
                <a:solidFill>
                  <a:srgbClr val="E2E8F0"/>
                </a:solidFill>
                <a:latin typeface="Calibri"/>
              </a:rPr>
              <a:t>┌──────────────────────┐  ┌──────────────────────┐</a:t>
            </a:r>
          </a:p>
          <a:p>
            <a:r>
              <a:rPr sz="1100">
                <a:solidFill>
                  <a:srgbClr val="E2E8F0"/>
                </a:solidFill>
                <a:latin typeface="Calibri"/>
              </a:rPr>
              <a:t>│ YoY GROWTH %         │  │ REVENUE YTD           │</a:t>
            </a:r>
          </a:p>
          <a:p>
            <a:r>
              <a:rPr sz="1100">
                <a:solidFill>
                  <a:srgbClr val="E2E8F0"/>
                </a:solidFill>
                <a:latin typeface="Calibri"/>
              </a:rPr>
              <a:t>│ DIVIDE(              │  │ TOTALYTD(             │</a:t>
            </a:r>
          </a:p>
          <a:p>
            <a:r>
              <a:rPr sz="1100">
                <a:solidFill>
                  <a:srgbClr val="E2E8F0"/>
                </a:solidFill>
                <a:latin typeface="Calibri"/>
              </a:rPr>
              <a:t>│  [Rev]-[SPLY],[SPLY])│  │  [Revenue],           │</a:t>
            </a:r>
          </a:p>
          <a:p>
            <a:r>
              <a:rPr sz="1100">
                <a:solidFill>
                  <a:srgbClr val="E2E8F0"/>
                </a:solidFill>
                <a:latin typeface="Calibri"/>
              </a:rPr>
              <a:t>│                      │  │  DimDate[Date])       │</a:t>
            </a:r>
          </a:p>
          <a:p>
            <a:r>
              <a:rPr sz="1100">
                <a:solidFill>
                  <a:srgbClr val="E2E8F0"/>
                </a:solidFill>
                <a:latin typeface="Calibri"/>
              </a:rPr>
              <a:t>└──────────────────────┘  └──────────────────────┘</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TIME INTELLIGENCE VISUALISED</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TIME INTELLIGENCE IN PRACTICE</a:t>
            </a:r>
          </a:p>
          <a:p>
            <a:r>
              <a:rPr sz="1100">
                <a:solidFill>
                  <a:srgbClr val="E2E8F0"/>
                </a:solidFill>
                <a:latin typeface="Calibri"/>
              </a:rPr>
              <a:t/>
            </a:r>
          </a:p>
          <a:p>
            <a:r>
              <a:rPr sz="1100">
                <a:solidFill>
                  <a:srgbClr val="E2E8F0"/>
                </a:solidFill>
                <a:latin typeface="Calibri"/>
              </a:rPr>
              <a:t>The most common executive question:</a:t>
            </a:r>
          </a:p>
          <a:p>
            <a:r>
              <a:rPr sz="1100">
                <a:solidFill>
                  <a:srgbClr val="E2E8F0"/>
                </a:solidFill>
                <a:latin typeface="Calibri"/>
              </a:rPr>
              <a:t>"How are we tracking vs last year?"</a:t>
            </a:r>
          </a:p>
          <a:p>
            <a:r>
              <a:rPr sz="1100">
                <a:solidFill>
                  <a:srgbClr val="E2E8F0"/>
                </a:solidFill>
                <a:latin typeface="Calibri"/>
              </a:rPr>
              <a:t/>
            </a:r>
          </a:p>
          <a:p>
            <a:r>
              <a:rPr sz="1100">
                <a:solidFill>
                  <a:srgbClr val="E2E8F0"/>
                </a:solidFill>
                <a:latin typeface="Calibri"/>
              </a:rPr>
              <a:t>TOTALYTD     → Revenue from Jan 1 to today (cumulative)</a:t>
            </a:r>
          </a:p>
          <a:p>
            <a:r>
              <a:rPr sz="1100">
                <a:solidFill>
                  <a:srgbClr val="E2E8F0"/>
                </a:solidFill>
                <a:latin typeface="Calibri"/>
              </a:rPr>
              <a:t>SPLY         → Same period last year (comparison line)</a:t>
            </a:r>
          </a:p>
          <a:p>
            <a:r>
              <a:rPr sz="1100">
                <a:solidFill>
                  <a:srgbClr val="E2E8F0"/>
                </a:solidFill>
                <a:latin typeface="Calibri"/>
              </a:rPr>
              <a:t>YoY Growth % → The gap between them as a percentage</a:t>
            </a:r>
          </a:p>
          <a:p>
            <a:r>
              <a:rPr sz="1100">
                <a:solidFill>
                  <a:srgbClr val="E2E8F0"/>
                </a:solidFill>
                <a:latin typeface="Calibri"/>
              </a:rPr>
              <a:t/>
            </a:r>
          </a:p>
          <a:p>
            <a:r>
              <a:rPr sz="1100">
                <a:solidFill>
                  <a:srgbClr val="E2E8F0"/>
                </a:solidFill>
                <a:latin typeface="Calibri"/>
              </a:rPr>
              <a:t>DATEADD      → Flexible period shifting</a:t>
            </a:r>
          </a:p>
          <a:p>
            <a:r>
              <a:rPr sz="1100">
                <a:solidFill>
                  <a:srgbClr val="E2E8F0"/>
                </a:solidFill>
                <a:latin typeface="Calibri"/>
              </a:rPr>
              <a:t>DATEADD(Date, -1, MONTH) = Last month</a:t>
            </a:r>
          </a:p>
          <a:p>
            <a:r>
              <a:rPr sz="1100">
                <a:solidFill>
                  <a:srgbClr val="E2E8F0"/>
                </a:solidFill>
                <a:latin typeface="Calibri"/>
              </a:rPr>
              <a:t>DATEADD(Date, -1, YEAR) = Last year same day</a:t>
            </a:r>
          </a:p>
          <a:p>
            <a:r>
              <a:rPr sz="1100">
                <a:solidFill>
                  <a:srgbClr val="E2E8F0"/>
                </a:solidFill>
                <a:latin typeface="Calibri"/>
              </a:rPr>
              <a:t/>
            </a:r>
          </a:p>
          <a:p>
            <a:r>
              <a:rPr sz="1100">
                <a:solidFill>
                  <a:srgbClr val="E2E8F0"/>
                </a:solidFill>
                <a:latin typeface="Calibri"/>
              </a:rPr>
              <a:t>Rolling 3M   → 3-month average smooths out seasonal spikes</a:t>
            </a:r>
          </a:p>
          <a:p>
            <a:r>
              <a:rPr sz="1100">
                <a:solidFill>
                  <a:srgbClr val="E2E8F0"/>
                </a:solidFill>
                <a:latin typeface="Calibri"/>
              </a:rPr>
              <a:t>DATESINPERIOD(Date, LASTDATE(Date), -3, MONTH)</a:t>
            </a:r>
          </a:p>
          <a:p>
            <a:r>
              <a:rPr sz="1100">
                <a:solidFill>
                  <a:srgbClr val="E2E8F0"/>
                </a:solidFill>
                <a:latin typeface="Calibri"/>
              </a:rPr>
              <a:t/>
            </a:r>
          </a:p>
          <a:p>
            <a:r>
              <a:rPr sz="1100">
                <a:solidFill>
                  <a:srgbClr val="E2E8F0"/>
                </a:solidFill>
                <a:latin typeface="Calibri"/>
              </a:rPr>
              <a:t>Every board-level dashboard has at least one of these.</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06B6D4"/>
                </a:solidFill>
                <a:latin typeface="Calibri"/>
              </a:rPr>
              <a:t>LEVEL: PROFESSIONAL</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11 OPENER: STATISTICS &amp; PREDICTION</a:t>
            </a:r>
          </a:p>
        </p:txBody>
      </p:sp>
      <p:sp>
        <p:nvSpPr>
          <p:cNvPr id="5" name="Rectangle 4"/>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CORRELATION IS NOT CAUSATION</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THE MOST IMPORTANT STATISTICAL PRINCIPLE</a:t>
            </a:r>
          </a:p>
          <a:p>
            <a:r>
              <a:rPr sz="1100">
                <a:solidFill>
                  <a:srgbClr val="E2E8F0"/>
                </a:solidFill>
                <a:latin typeface="Calibri"/>
              </a:rPr>
              <a:t/>
            </a:r>
          </a:p>
          <a:p>
            <a:r>
              <a:rPr sz="1300" b="1">
                <a:solidFill>
                  <a:srgbClr val="06B6D4"/>
                </a:solidFill>
                <a:latin typeface="Calibri"/>
              </a:rPr>
              <a:t>ICE CREAM SALES       DROWNING INCIDENTS</a:t>
            </a:r>
          </a:p>
          <a:p>
            <a:r>
              <a:rPr sz="1100">
                <a:solidFill>
                  <a:srgbClr val="E2E8F0"/>
                </a:solidFill>
                <a:latin typeface="Calibri"/>
              </a:rPr>
              <a:t>correlate with → in Nigerian coastal states</a:t>
            </a:r>
          </a:p>
          <a:p>
            <a:r>
              <a:rPr sz="1100">
                <a:solidFill>
                  <a:srgbClr val="E2E8F0"/>
                </a:solidFill>
                <a:latin typeface="Calibri"/>
              </a:rPr>
              <a:t>R² = 0.74 (strong correlation!)</a:t>
            </a:r>
          </a:p>
          <a:p>
            <a:r>
              <a:rPr sz="1100">
                <a:solidFill>
                  <a:srgbClr val="E2E8F0"/>
                </a:solidFill>
                <a:latin typeface="Calibri"/>
              </a:rPr>
              <a:t/>
            </a:r>
          </a:p>
          <a:p>
            <a:r>
              <a:rPr sz="1100">
                <a:solidFill>
                  <a:srgbClr val="E2E8F0"/>
                </a:solidFill>
                <a:latin typeface="Calibri"/>
              </a:rPr>
              <a:t>Does ice cream cause drowning? NO.</a:t>
            </a:r>
          </a:p>
          <a:p>
            <a:r>
              <a:rPr sz="1100">
                <a:solidFill>
                  <a:srgbClr val="E2E8F0"/>
                </a:solidFill>
                <a:latin typeface="Calibri"/>
              </a:rPr>
              <a:t>Hot weather causes BOTH.</a:t>
            </a:r>
          </a:p>
          <a:p>
            <a:r>
              <a:rPr sz="1100">
                <a:solidFill>
                  <a:srgbClr val="E2E8F0"/>
                </a:solidFill>
                <a:latin typeface="Calibri"/>
              </a:rPr>
              <a:t/>
            </a:r>
          </a:p>
          <a:p>
            <a:r>
              <a:rPr sz="1300" b="1">
                <a:solidFill>
                  <a:srgbClr val="06B6D4"/>
                </a:solidFill>
                <a:latin typeface="Calibri"/>
              </a:rPr>
              <a:t>TO ESTABLISH CAUSATION YOU NEED:</a:t>
            </a:r>
          </a:p>
          <a:p>
            <a:r>
              <a:rPr sz="1100">
                <a:solidFill>
                  <a:srgbClr val="E2E8F0"/>
                </a:solidFill>
                <a:latin typeface="Calibri"/>
              </a:rPr>
              <a:t>1. Correlation (the numbers move together)</a:t>
            </a:r>
          </a:p>
          <a:p>
            <a:r>
              <a:rPr sz="1100">
                <a:solidFill>
                  <a:srgbClr val="E2E8F0"/>
                </a:solidFill>
                <a:latin typeface="Calibri"/>
              </a:rPr>
              <a:t>2. Time order (cause must come before effect)</a:t>
            </a:r>
          </a:p>
          <a:p>
            <a:r>
              <a:rPr sz="1100">
                <a:solidFill>
                  <a:srgbClr val="E2E8F0"/>
                </a:solidFill>
                <a:latin typeface="Calibri"/>
              </a:rPr>
              <a:t>3. Elimination of alternatives (rule out confounds)</a:t>
            </a:r>
          </a:p>
          <a:p>
            <a:r>
              <a:rPr sz="1100">
                <a:solidFill>
                  <a:srgbClr val="E2E8F0"/>
                </a:solidFill>
                <a:latin typeface="Calibri"/>
              </a:rPr>
              <a:t/>
            </a:r>
          </a:p>
          <a:p>
            <a:r>
              <a:rPr sz="1100">
                <a:solidFill>
                  <a:srgbClr val="E2E8F0"/>
                </a:solidFill>
                <a:latin typeface="Calibri"/>
              </a:rPr>
              <a:t>FOR BUSINESS: Correlation + actionable insight is usually enough.</a:t>
            </a:r>
          </a:p>
          <a:p>
            <a:r>
              <a:rPr sz="1100">
                <a:solidFill>
                  <a:srgbClr val="E2E8F0"/>
                </a:solidFill>
                <a:latin typeface="Calibri"/>
              </a:rPr>
              <a:t>"Customers who log in 5+ times/month have 80% lower churn"</a:t>
            </a:r>
          </a:p>
          <a:p>
            <a:r>
              <a:rPr sz="1100">
                <a:solidFill>
                  <a:srgbClr val="E2E8F0"/>
                </a:solidFill>
                <a:latin typeface="Calibri"/>
              </a:rPr>
              <a:t>→ You don't need causal proof to target those customers.</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HYPOTHESIS TESTING — SIMPLIFIED</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HYPOTHESIS TESTING — IS IT REAL OR RANDOM?</a:t>
            </a:r>
          </a:p>
          <a:p>
            <a:r>
              <a:rPr sz="1100">
                <a:solidFill>
                  <a:srgbClr val="E2E8F0"/>
                </a:solidFill>
                <a:latin typeface="Calibri"/>
              </a:rPr>
              <a:t/>
            </a:r>
          </a:p>
          <a:p>
            <a:r>
              <a:rPr sz="1100">
                <a:solidFill>
                  <a:srgbClr val="E2E8F0"/>
                </a:solidFill>
                <a:latin typeface="Calibri"/>
              </a:rPr>
              <a:t>Scenario: We changed the app button from grey to green.</a:t>
            </a:r>
          </a:p>
          <a:p>
            <a:r>
              <a:rPr sz="1100">
                <a:solidFill>
                  <a:srgbClr val="E2E8F0"/>
                </a:solidFill>
                <a:latin typeface="Calibri"/>
              </a:rPr>
              <a:t>Conversion went from 3.2% → 3.8%.</a:t>
            </a:r>
          </a:p>
          <a:p>
            <a:r>
              <a:rPr sz="1100">
                <a:solidFill>
                  <a:srgbClr val="E2E8F0"/>
                </a:solidFill>
                <a:latin typeface="Calibri"/>
              </a:rPr>
              <a:t>Is this real? Or just luck?</a:t>
            </a:r>
          </a:p>
          <a:p>
            <a:r>
              <a:rPr sz="1100">
                <a:solidFill>
                  <a:srgbClr val="E2E8F0"/>
                </a:solidFill>
                <a:latin typeface="Calibri"/>
              </a:rPr>
              <a:t/>
            </a:r>
          </a:p>
          <a:p>
            <a:r>
              <a:rPr sz="1100">
                <a:solidFill>
                  <a:srgbClr val="E2E8F0"/>
                </a:solidFill>
                <a:latin typeface="Calibri"/>
              </a:rPr>
              <a:t>H₀ (Null): Button colour has no effect. Difference is random.</a:t>
            </a:r>
          </a:p>
          <a:p>
            <a:r>
              <a:rPr sz="1100">
                <a:solidFill>
                  <a:srgbClr val="E2E8F0"/>
                </a:solidFill>
                <a:latin typeface="Calibri"/>
              </a:rPr>
              <a:t>H₁ (Alternative): Green button genuinely converts better.</a:t>
            </a:r>
          </a:p>
          <a:p>
            <a:r>
              <a:rPr sz="1100">
                <a:solidFill>
                  <a:srgbClr val="E2E8F0"/>
                </a:solidFill>
                <a:latin typeface="Calibri"/>
              </a:rPr>
              <a:t/>
            </a:r>
          </a:p>
          <a:p>
            <a:r>
              <a:rPr sz="1100">
                <a:solidFill>
                  <a:srgbClr val="E2E8F0"/>
                </a:solidFill>
                <a:latin typeface="Calibri"/>
              </a:rPr>
              <a:t>Run a t-test. Result: p = 0.02</a:t>
            </a:r>
          </a:p>
          <a:p>
            <a:r>
              <a:rPr sz="1100">
                <a:solidFill>
                  <a:srgbClr val="E2E8F0"/>
                </a:solidFill>
                <a:latin typeface="Calibri"/>
              </a:rPr>
              <a:t/>
            </a:r>
          </a:p>
          <a:p>
            <a:r>
              <a:rPr sz="1100">
                <a:solidFill>
                  <a:srgbClr val="E2E8F0"/>
                </a:solidFill>
                <a:latin typeface="Calibri"/>
              </a:rPr>
              <a:t>p &lt; 0.05 = Less than 5% chance this is random</a:t>
            </a:r>
          </a:p>
          <a:p>
            <a:r>
              <a:rPr sz="1100">
                <a:solidFill>
                  <a:srgbClr val="E2E8F0"/>
                </a:solidFill>
                <a:latin typeface="Calibri"/>
              </a:rPr>
              <a:t>→ REJECT H₀ → The green button really works → Launch it</a:t>
            </a:r>
          </a:p>
          <a:p>
            <a:r>
              <a:rPr sz="1100">
                <a:solidFill>
                  <a:srgbClr val="E2E8F0"/>
                </a:solidFill>
                <a:latin typeface="Calibri"/>
              </a:rPr>
              <a:t/>
            </a:r>
          </a:p>
          <a:p>
            <a:r>
              <a:rPr sz="1100">
                <a:solidFill>
                  <a:srgbClr val="E2E8F0"/>
                </a:solidFill>
                <a:latin typeface="Calibri"/>
              </a:rPr>
              <a:t>p &gt; 0.05 = Could be random → Don't launch yet → Get more data</a:t>
            </a:r>
          </a:p>
          <a:p>
            <a:r>
              <a:rPr sz="1100">
                <a:solidFill>
                  <a:srgbClr val="E2E8F0"/>
                </a:solidFill>
                <a:latin typeface="Calibri"/>
              </a:rPr>
              <a:t/>
            </a:r>
          </a:p>
          <a:p>
            <a:r>
              <a:rPr sz="1100">
                <a:solidFill>
                  <a:srgbClr val="E2E8F0"/>
                </a:solidFill>
                <a:latin typeface="Calibri"/>
              </a:rPr>
              <a:t>⚠  STATISTICAL SIGNIFICANCE ≠ PRACTICAL SIGNIFICANCE</a:t>
            </a:r>
          </a:p>
          <a:p>
            <a:r>
              <a:rPr sz="1100">
                <a:solidFill>
                  <a:srgbClr val="E2E8F0"/>
                </a:solidFill>
                <a:latin typeface="Calibri"/>
              </a:rPr>
              <a:t>p = 0.001 and a 0.01% improvement = significant but useless</a:t>
            </a:r>
          </a:p>
          <a:p>
            <a:r>
              <a:rPr sz="1100">
                <a:solidFill>
                  <a:srgbClr val="E2E8F0"/>
                </a:solidFill>
                <a:latin typeface="Calibri"/>
              </a:rPr>
              <a:t>Business case matters as much as the p-value.</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06B6D4"/>
                </a:solidFill>
                <a:latin typeface="Calibri"/>
              </a:rPr>
              <a:t>LEVEL: PROFESSIONAL</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12 OPENER: ANALYTICS IN PRACTICE</a:t>
            </a:r>
          </a:p>
        </p:txBody>
      </p:sp>
      <p:sp>
        <p:nvSpPr>
          <p:cNvPr id="5" name="Rectangle 4"/>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THE PYRAMID PRINCIPLE</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THE PYRAMID PRINCIPLE (McKinsey, Barbara Minto)</a:t>
            </a:r>
          </a:p>
          <a:p>
            <a:r>
              <a:rPr sz="1100">
                <a:solidFill>
                  <a:srgbClr val="E2E8F0"/>
                </a:solidFill>
                <a:latin typeface="Calibri"/>
              </a:rPr>
              <a:t/>
            </a:r>
          </a:p>
          <a:p>
            <a:r>
              <a:rPr sz="1100">
                <a:solidFill>
                  <a:srgbClr val="E2E8F0"/>
                </a:solidFill>
                <a:latin typeface="Calibri"/>
              </a:rPr>
              <a:t>✗ WRONG ORDER:          ✓ RIGHT ORDER:</a:t>
            </a:r>
          </a:p>
          <a:p>
            <a:r>
              <a:rPr sz="1100">
                <a:solidFill>
                  <a:srgbClr val="E2E8F0"/>
                </a:solidFill>
                <a:latin typeface="Calibri"/>
              </a:rPr>
              <a:t>"We analysed data...    "Our churn problem is concentrated</a:t>
            </a:r>
          </a:p>
          <a:p>
            <a:r>
              <a:rPr sz="1100">
                <a:solidFill>
                  <a:srgbClr val="E2E8F0"/>
                </a:solidFill>
                <a:latin typeface="Calibri"/>
              </a:rPr>
              <a:t>We also looked at...    in 2022 promotion customers (15%</a:t>
            </a:r>
          </a:p>
          <a:p>
            <a:r>
              <a:rPr sz="1100">
                <a:solidFill>
                  <a:srgbClr val="E2E8F0"/>
                </a:solidFill>
                <a:latin typeface="Calibri"/>
              </a:rPr>
              <a:t>And then we found...    of base, 40% of churn)."</a:t>
            </a:r>
          </a:p>
          <a:p>
            <a:r>
              <a:rPr sz="1100">
                <a:solidFill>
                  <a:srgbClr val="E2E8F0"/>
                </a:solidFill>
                <a:latin typeface="Calibri"/>
              </a:rPr>
              <a:t>The insight is..."</a:t>
            </a:r>
          </a:p>
          <a:p>
            <a:r>
              <a:rPr sz="1100">
                <a:solidFill>
                  <a:srgbClr val="E2E8F0"/>
                </a:solidFill>
                <a:latin typeface="Calibri"/>
              </a:rPr>
              <a:t>THEN: evidence, then: methodology</a:t>
            </a:r>
          </a:p>
          <a:p>
            <a:r>
              <a:rPr sz="1100">
                <a:solidFill>
                  <a:srgbClr val="E2E8F0"/>
                </a:solidFill>
                <a:latin typeface="Calibri"/>
              </a:rPr>
              <a:t>Build-up → insight       Insight → evidence → method</a:t>
            </a:r>
          </a:p>
          <a:p>
            <a:r>
              <a:rPr sz="1100">
                <a:solidFill>
                  <a:srgbClr val="E2E8F0"/>
                </a:solidFill>
                <a:latin typeface="Calibri"/>
              </a:rPr>
              <a:t/>
            </a:r>
          </a:p>
          <a:p>
            <a:r>
              <a:rPr sz="1300" b="1">
                <a:solidFill>
                  <a:srgbClr val="06B6D4"/>
                </a:solidFill>
                <a:latin typeface="Calibri"/>
              </a:rPr>
              <a:t>STRUCTURE YOUR PRESENTATION:</a:t>
            </a:r>
          </a:p>
          <a:p>
            <a:r>
              <a:rPr sz="1100">
                <a:solidFill>
                  <a:srgbClr val="E2E8F0"/>
                </a:solidFill>
                <a:latin typeface="Calibri"/>
              </a:rPr>
              <a:t>① ANSWER: What is the finding? (one sentence)</a:t>
            </a:r>
          </a:p>
          <a:p>
            <a:r>
              <a:rPr sz="1100">
                <a:solidFill>
                  <a:srgbClr val="E2E8F0"/>
                </a:solidFill>
                <a:latin typeface="Calibri"/>
              </a:rPr>
              <a:t>② SO WHAT: Why does this matter? (business impact)</a:t>
            </a:r>
          </a:p>
          <a:p>
            <a:r>
              <a:rPr sz="1100">
                <a:solidFill>
                  <a:srgbClr val="E2E8F0"/>
                </a:solidFill>
                <a:latin typeface="Calibri"/>
              </a:rPr>
              <a:t>③ EVIDENCE: What does the data show? (charts + numbers)</a:t>
            </a:r>
          </a:p>
          <a:p>
            <a:r>
              <a:rPr sz="1100">
                <a:solidFill>
                  <a:srgbClr val="E2E8F0"/>
                </a:solidFill>
                <a:latin typeface="Calibri"/>
              </a:rPr>
              <a:t>④ RECOMMENDATION: What should we do? (actionable)</a:t>
            </a:r>
          </a:p>
          <a:p>
            <a:r>
              <a:rPr sz="1100">
                <a:solidFill>
                  <a:srgbClr val="E2E8F0"/>
                </a:solidFill>
                <a:latin typeface="Calibri"/>
              </a:rPr>
              <a:t/>
            </a:r>
          </a:p>
          <a:p>
            <a:r>
              <a:rPr sz="1100">
                <a:solidFill>
                  <a:srgbClr val="E2E8F0"/>
                </a:solidFill>
                <a:latin typeface="Calibri"/>
              </a:rPr>
              <a:t>Executives don't have time for the journey. Give them the destination.</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DATA ETHICS</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THE ETHICAL ANALYST</a:t>
            </a:r>
          </a:p>
          <a:p>
            <a:r>
              <a:rPr sz="1100">
                <a:solidFill>
                  <a:srgbClr val="E2E8F0"/>
                </a:solidFill>
                <a:latin typeface="Calibri"/>
              </a:rPr>
              <a:t/>
            </a:r>
          </a:p>
          <a:p>
            <a:r>
              <a:rPr sz="1300" b="1">
                <a:solidFill>
                  <a:srgbClr val="06B6D4"/>
                </a:solidFill>
                <a:latin typeface="Calibri"/>
              </a:rPr>
              <a:t>ALGORITHMIC FAIRNESS</a:t>
            </a:r>
          </a:p>
          <a:p>
            <a:r>
              <a:rPr sz="1100">
                <a:solidFill>
                  <a:srgbClr val="E2E8F0"/>
                </a:solidFill>
                <a:latin typeface="Calibri"/>
              </a:rPr>
              <a:t>If your model uses postcode/neighbourhood as a variable,</a:t>
            </a:r>
          </a:p>
          <a:p>
            <a:r>
              <a:rPr sz="1100">
                <a:solidFill>
                  <a:srgbClr val="E2E8F0"/>
                </a:solidFill>
                <a:latin typeface="Calibri"/>
              </a:rPr>
              <a:t>it may discriminate by ethnicity indirectly.</a:t>
            </a:r>
          </a:p>
          <a:p>
            <a:r>
              <a:rPr sz="1100">
                <a:solidFill>
                  <a:srgbClr val="E2E8F0"/>
                </a:solidFill>
                <a:latin typeface="Calibri"/>
              </a:rPr>
              <a:t>→ Always ask: what is this model actually selecting for?</a:t>
            </a:r>
          </a:p>
          <a:p>
            <a:r>
              <a:rPr sz="1100">
                <a:solidFill>
                  <a:srgbClr val="E2E8F0"/>
                </a:solidFill>
                <a:latin typeface="Calibri"/>
              </a:rPr>
              <a:t/>
            </a:r>
          </a:p>
          <a:p>
            <a:r>
              <a:rPr sz="1300" b="1">
                <a:solidFill>
                  <a:srgbClr val="06B6D4"/>
                </a:solidFill>
                <a:latin typeface="Calibri"/>
              </a:rPr>
              <a:t>CONFIRMATION BIAS</a:t>
            </a:r>
          </a:p>
          <a:p>
            <a:r>
              <a:rPr sz="1100">
                <a:solidFill>
                  <a:srgbClr val="E2E8F0"/>
                </a:solidFill>
                <a:latin typeface="Calibri"/>
              </a:rPr>
              <a:t>You expect to find X. You find data that supports X. You present X.</a:t>
            </a:r>
          </a:p>
          <a:p>
            <a:r>
              <a:rPr sz="1100">
                <a:solidFill>
                  <a:srgbClr val="E2E8F0"/>
                </a:solidFill>
                <a:latin typeface="Calibri"/>
              </a:rPr>
              <a:t>You didn't look for evidence against X.</a:t>
            </a:r>
          </a:p>
          <a:p>
            <a:r>
              <a:rPr sz="1100">
                <a:solidFill>
                  <a:srgbClr val="E2E8F0"/>
                </a:solidFill>
                <a:latin typeface="Calibri"/>
              </a:rPr>
              <a:t>→ Actively try to disprove your hypothesis before confirming it.</a:t>
            </a:r>
          </a:p>
          <a:p>
            <a:r>
              <a:rPr sz="1100">
                <a:solidFill>
                  <a:srgbClr val="E2E8F0"/>
                </a:solidFill>
                <a:latin typeface="Calibri"/>
              </a:rPr>
              <a:t/>
            </a:r>
          </a:p>
          <a:p>
            <a:r>
              <a:rPr sz="1300" b="1">
                <a:solidFill>
                  <a:srgbClr val="06B6D4"/>
                </a:solidFill>
                <a:latin typeface="Calibri"/>
              </a:rPr>
              <a:t>FRAMING</a:t>
            </a:r>
          </a:p>
          <a:p>
            <a:r>
              <a:rPr sz="1100">
                <a:solidFill>
                  <a:srgbClr val="E2E8F0"/>
                </a:solidFill>
                <a:latin typeface="Calibri"/>
              </a:rPr>
              <a:t>Same revenue data:</a:t>
            </a:r>
          </a:p>
          <a:p>
            <a:r>
              <a:rPr sz="1100">
                <a:solidFill>
                  <a:srgbClr val="E2E8F0"/>
                </a:solidFill>
                <a:latin typeface="Calibri"/>
              </a:rPr>
              <a:t>"Record growth of ₦4.2B this quarter"</a:t>
            </a:r>
          </a:p>
          <a:p>
            <a:r>
              <a:rPr sz="1100">
                <a:solidFill>
                  <a:srgbClr val="E2E8F0"/>
                </a:solidFill>
                <a:latin typeface="Calibri"/>
              </a:rPr>
              <a:t>"Growth fell 18% below our ₦5.1B quarterly target"</a:t>
            </a:r>
          </a:p>
          <a:p>
            <a:r>
              <a:rPr sz="1100">
                <a:solidFill>
                  <a:srgbClr val="E2E8F0"/>
                </a:solidFill>
                <a:latin typeface="Calibri"/>
              </a:rPr>
              <a:t>→ Always show the complete, honest picture.</a:t>
            </a:r>
          </a:p>
          <a:p>
            <a:r>
              <a:rPr sz="1100">
                <a:solidFill>
                  <a:srgbClr val="E2E8F0"/>
                </a:solidFill>
                <a:latin typeface="Calibri"/>
              </a:rPr>
              <a:t/>
            </a:r>
          </a:p>
          <a:p>
            <a:r>
              <a:rPr sz="1100">
                <a:solidFill>
                  <a:srgbClr val="E2E8F0"/>
                </a:solidFill>
                <a:latin typeface="Calibri"/>
              </a:rPr>
              <a:t>NDPA 2023: Personal data is not yours. Protect it. Report breaches.</a:t>
            </a:r>
          </a:p>
          <a:p>
            <a:r>
              <a:rPr sz="1100">
                <a:solidFill>
                  <a:srgbClr val="E2E8F0"/>
                </a:solidFill>
                <a:latin typeface="Calibri"/>
              </a:rPr>
              <a:t/>
            </a:r>
          </a:p>
          <a:p>
            <a:r>
              <a:rPr sz="1100">
                <a:solidFill>
                  <a:srgbClr val="E2E8F0"/>
                </a:solidFill>
                <a:latin typeface="Calibri"/>
              </a:rPr>
              <a:t>Your analysis is only as trustworthy as your integrity.</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CAPSTONE PROJECT OPTIONS</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CAPSTONE PROJECT — CHOOSE YOUR PATH</a:t>
            </a:r>
          </a:p>
          <a:p>
            <a:r>
              <a:rPr sz="1100">
                <a:solidFill>
                  <a:srgbClr val="E2E8F0"/>
                </a:solidFill>
                <a:latin typeface="Calibri"/>
              </a:rPr>
              <a:t/>
            </a:r>
          </a:p>
          <a:p>
            <a:r>
              <a:rPr sz="1100">
                <a:solidFill>
                  <a:srgbClr val="E2E8F0"/>
                </a:solidFill>
                <a:latin typeface="Calibri"/>
              </a:rPr>
              <a:t>A. BI DASHBOARD          B. END-TO-END ANALYSIS</a:t>
            </a:r>
          </a:p>
          <a:p>
            <a:r>
              <a:rPr sz="1100">
                <a:solidFill>
                  <a:srgbClr val="E2E8F0"/>
                </a:solidFill>
                <a:latin typeface="Calibri"/>
              </a:rPr>
              <a:t>Power BI dashboard       Full pipeline:</a:t>
            </a:r>
          </a:p>
          <a:p>
            <a:r>
              <a:rPr sz="1100">
                <a:solidFill>
                  <a:srgbClr val="E2E8F0"/>
                </a:solidFill>
                <a:latin typeface="Calibri"/>
              </a:rPr>
              <a:t>with live data,          collect → clean → analyse</a:t>
            </a:r>
          </a:p>
          <a:p>
            <a:r>
              <a:rPr sz="1100">
                <a:solidFill>
                  <a:srgbClr val="E2E8F0"/>
                </a:solidFill>
                <a:latin typeface="Calibri"/>
              </a:rPr>
              <a:t>DAX, time intelligence   → visualise → present</a:t>
            </a:r>
          </a:p>
          <a:p>
            <a:r>
              <a:rPr sz="1100">
                <a:solidFill>
                  <a:srgbClr val="E2E8F0"/>
                </a:solidFill>
                <a:latin typeface="Calibri"/>
              </a:rPr>
              <a:t>(Most popular)</a:t>
            </a:r>
          </a:p>
          <a:p>
            <a:r>
              <a:rPr sz="1100">
                <a:solidFill>
                  <a:srgbClr val="E2E8F0"/>
                </a:solidFill>
                <a:latin typeface="Calibri"/>
              </a:rPr>
              <a:t/>
            </a:r>
          </a:p>
          <a:p>
            <a:r>
              <a:rPr sz="1100">
                <a:solidFill>
                  <a:srgbClr val="E2E8F0"/>
                </a:solidFill>
                <a:latin typeface="Calibri"/>
              </a:rPr>
              <a:t>C. PREDICTIVE MODEL      D. DATA JOURNALISM</a:t>
            </a:r>
          </a:p>
          <a:p>
            <a:r>
              <a:rPr sz="1100">
                <a:solidFill>
                  <a:srgbClr val="E2E8F0"/>
                </a:solidFill>
                <a:latin typeface="Calibri"/>
              </a:rPr>
              <a:t>Regression analysis      Story using public data</a:t>
            </a:r>
          </a:p>
          <a:p>
            <a:r>
              <a:rPr sz="1100">
                <a:solidFill>
                  <a:srgbClr val="E2E8F0"/>
                </a:solidFill>
                <a:latin typeface="Calibri"/>
              </a:rPr>
              <a:t>Hypothesis testing       Publish a data-driven article</a:t>
            </a:r>
          </a:p>
          <a:p>
            <a:r>
              <a:rPr sz="1100">
                <a:solidFill>
                  <a:srgbClr val="E2E8F0"/>
                </a:solidFill>
                <a:latin typeface="Calibri"/>
              </a:rPr>
              <a:t>AI-assisted analysis     Datawrapper/Flourish charts</a:t>
            </a:r>
          </a:p>
          <a:p>
            <a:r>
              <a:rPr sz="1100">
                <a:solidFill>
                  <a:srgbClr val="E2E8F0"/>
                </a:solidFill>
                <a:latin typeface="Calibri"/>
              </a:rPr>
              <a:t/>
            </a:r>
          </a:p>
          <a:p>
            <a:r>
              <a:rPr sz="1100">
                <a:solidFill>
                  <a:srgbClr val="E2E8F0"/>
                </a:solidFill>
                <a:latin typeface="Calibri"/>
              </a:rPr>
              <a:t>E. ORGANISATIONAL</a:t>
            </a:r>
          </a:p>
          <a:p>
            <a:r>
              <a:rPr sz="1300" b="1">
                <a:solidFill>
                  <a:srgbClr val="06B6D4"/>
                </a:solidFill>
                <a:latin typeface="Calibri"/>
              </a:rPr>
              <a:t>STRATEGY</a:t>
            </a:r>
          </a:p>
          <a:p>
            <a:r>
              <a:rPr sz="1100">
                <a:solidFill>
                  <a:srgbClr val="E2E8F0"/>
                </a:solidFill>
                <a:latin typeface="Calibri"/>
              </a:rPr>
              <a:t>Data maturity audit</a:t>
            </a:r>
          </a:p>
          <a:p>
            <a:r>
              <a:rPr sz="1100">
                <a:solidFill>
                  <a:srgbClr val="E2E8F0"/>
                </a:solidFill>
                <a:latin typeface="Calibri"/>
              </a:rPr>
              <a:t>Roadmap for a</a:t>
            </a:r>
          </a:p>
          <a:p>
            <a:r>
              <a:rPr sz="1100">
                <a:solidFill>
                  <a:srgbClr val="E2E8F0"/>
                </a:solidFill>
                <a:latin typeface="Calibri"/>
              </a:rPr>
              <a:t>Nigerian SME</a:t>
            </a:r>
          </a:p>
          <a:p>
            <a:r>
              <a:rPr sz="1100">
                <a:solidFill>
                  <a:srgbClr val="E2E8F0"/>
                </a:solidFill>
                <a:latin typeface="Calibri"/>
              </a:rPr>
              <a:t/>
            </a:r>
          </a:p>
          <a:p>
            <a:r>
              <a:rPr sz="1100">
                <a:solidFill>
                  <a:srgbClr val="E2E8F0"/>
                </a:solidFill>
                <a:latin typeface="Calibri"/>
              </a:rPr>
              <a:t>ALL CAPSTONES: Public portfolio piece + presentation</a:t>
            </a:r>
          </a:p>
          <a:p>
            <a:r>
              <a:rPr sz="1100">
                <a:solidFill>
                  <a:srgbClr val="E2E8F0"/>
                </a:solidFill>
                <a:latin typeface="Calibri"/>
              </a:rPr>
              <a:t>Blockchain-verified on your certificate</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THE CERTIFICATION EXAM</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CERTIFICATION EXAM — STRUCTURE</a:t>
            </a:r>
          </a:p>
          <a:p>
            <a:r>
              <a:rPr sz="1100">
                <a:solidFill>
                  <a:srgbClr val="E2E8F0"/>
                </a:solidFill>
                <a:latin typeface="Calibri"/>
              </a:rPr>
              <a:t/>
            </a:r>
          </a:p>
          <a:p>
            <a:r>
              <a:rPr sz="1100">
                <a:solidFill>
                  <a:srgbClr val="E2E8F0"/>
                </a:solidFill>
                <a:latin typeface="Calibri"/>
              </a:rPr>
              <a:t>SECTION A: Multiple Choice (40 questions)        40 marks</a:t>
            </a:r>
          </a:p>
          <a:p>
            <a:r>
              <a:rPr sz="1100">
                <a:solidFill>
                  <a:srgbClr val="E2E8F0"/>
                </a:solidFill>
                <a:latin typeface="Calibri"/>
              </a:rPr>
              <a:t>Covers all 12 modules proportionally</a:t>
            </a:r>
          </a:p>
          <a:p>
            <a:r>
              <a:rPr sz="1100">
                <a:solidFill>
                  <a:srgbClr val="E2E8F0"/>
                </a:solidFill>
                <a:latin typeface="Calibri"/>
              </a:rPr>
              <a:t/>
            </a:r>
          </a:p>
          <a:p>
            <a:r>
              <a:rPr sz="1100">
                <a:solidFill>
                  <a:srgbClr val="E2E8F0"/>
                </a:solidFill>
                <a:latin typeface="Calibri"/>
              </a:rPr>
              <a:t>SECTION B: Practical Tasks                       30 marks</a:t>
            </a:r>
          </a:p>
          <a:p>
            <a:r>
              <a:rPr sz="1100">
                <a:solidFill>
                  <a:srgbClr val="E2E8F0"/>
                </a:solidFill>
                <a:latin typeface="Calibri"/>
              </a:rPr>
              <a:t>Task 1: Clean a provided messy dataset</a:t>
            </a:r>
          </a:p>
          <a:p>
            <a:r>
              <a:rPr sz="1100">
                <a:solidFill>
                  <a:srgbClr val="E2E8F0"/>
                </a:solidFill>
                <a:latin typeface="Calibri"/>
              </a:rPr>
              <a:t>Task 2: Write 5 SQL queries from specifications</a:t>
            </a:r>
          </a:p>
          <a:p>
            <a:r>
              <a:rPr sz="1100">
                <a:solidFill>
                  <a:srgbClr val="E2E8F0"/>
                </a:solidFill>
                <a:latin typeface="Calibri"/>
              </a:rPr>
              <a:t>Task 3: Answer 3 questions from a Power BI file</a:t>
            </a:r>
          </a:p>
          <a:p>
            <a:r>
              <a:rPr sz="1100">
                <a:solidFill>
                  <a:srgbClr val="E2E8F0"/>
                </a:solidFill>
                <a:latin typeface="Calibri"/>
              </a:rPr>
              <a:t/>
            </a:r>
          </a:p>
          <a:p>
            <a:r>
              <a:rPr sz="1100">
                <a:solidFill>
                  <a:srgbClr val="E2E8F0"/>
                </a:solidFill>
                <a:latin typeface="Calibri"/>
              </a:rPr>
              <a:t>SECTION C: Case Studies                          20 marks</a:t>
            </a:r>
          </a:p>
          <a:p>
            <a:r>
              <a:rPr sz="1100">
                <a:solidFill>
                  <a:srgbClr val="E2E8F0"/>
                </a:solidFill>
                <a:latin typeface="Calibri"/>
              </a:rPr>
              <a:t>Case 1: Agricultural lending data analysis</a:t>
            </a:r>
          </a:p>
          <a:p>
            <a:r>
              <a:rPr sz="1100">
                <a:solidFill>
                  <a:srgbClr val="E2E8F0"/>
                </a:solidFill>
                <a:latin typeface="Calibri"/>
              </a:rPr>
              <a:t>Case 2: E-commerce performance dashboard</a:t>
            </a:r>
          </a:p>
          <a:p>
            <a:r>
              <a:rPr sz="1100">
                <a:solidFill>
                  <a:srgbClr val="E2E8F0"/>
                </a:solidFill>
                <a:latin typeface="Calibri"/>
              </a:rPr>
              <a:t/>
            </a:r>
          </a:p>
          <a:p>
            <a:r>
              <a:rPr sz="1100">
                <a:solidFill>
                  <a:srgbClr val="E2E8F0"/>
                </a:solidFill>
                <a:latin typeface="Calibri"/>
              </a:rPr>
              <a:t>SECTION D: Essay (Choose 1 of 2)                10 marks</a:t>
            </a:r>
          </a:p>
          <a:p>
            <a:r>
              <a:rPr sz="1100">
                <a:solidFill>
                  <a:srgbClr val="E2E8F0"/>
                </a:solidFill>
                <a:latin typeface="Calibri"/>
              </a:rPr>
              <a:t>Ethics of data-driven decision making OR</a:t>
            </a:r>
          </a:p>
          <a:p>
            <a:r>
              <a:rPr sz="1100">
                <a:solidFill>
                  <a:srgbClr val="E2E8F0"/>
                </a:solidFill>
                <a:latin typeface="Calibri"/>
              </a:rPr>
              <a:t>Data strategy for a Nigerian SME</a:t>
            </a:r>
          </a:p>
          <a:p>
            <a:r>
              <a:rPr sz="1100">
                <a:solidFill>
                  <a:srgbClr val="E2E8F0"/>
                </a:solidFill>
                <a:latin typeface="Calibri"/>
              </a:rPr>
              <a:t/>
            </a:r>
          </a:p>
          <a:p>
            <a:r>
              <a:rPr sz="1100">
                <a:solidFill>
                  <a:srgbClr val="E2E8F0"/>
                </a:solidFill>
                <a:latin typeface="Calibri"/>
              </a:rPr>
              <a:t>━━━━━━━━━━━━━━━━━━━━━━━━━━━━━━━━━━━━━━━━━━━━━━</a:t>
            </a:r>
          </a:p>
          <a:p>
            <a:r>
              <a:rPr sz="1100">
                <a:solidFill>
                  <a:srgbClr val="E2E8F0"/>
                </a:solidFill>
                <a:latin typeface="Calibri"/>
              </a:rPr>
              <a:t>PASS: 75% (75+ marks)   DISTINCTION: 85%+ marks</a:t>
            </a:r>
          </a:p>
          <a:p>
            <a:r>
              <a:rPr sz="1100">
                <a:solidFill>
                  <a:srgbClr val="E2E8F0"/>
                </a:solidFill>
                <a:latin typeface="Calibri"/>
              </a:rPr>
              <a:t>CAPSTONE: Mandatory for certification</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YOUR LEARNING TOOLKIT</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YOUR PROFESSIONAL TOOLKIT</a:t>
            </a:r>
          </a:p>
          <a:p>
            <a:r>
              <a:rPr sz="1100">
                <a:solidFill>
                  <a:srgbClr val="E2E8F0"/>
                </a:solidFill>
                <a:latin typeface="Calibri"/>
              </a:rPr>
              <a:t/>
            </a:r>
          </a:p>
          <a:p>
            <a:r>
              <a:rPr sz="1300" b="1">
                <a:solidFill>
                  <a:srgbClr val="06B6D4"/>
                </a:solidFill>
                <a:latin typeface="Calibri"/>
              </a:rPr>
              <a:t>SPREADSHEETS &amp; BI          SQL ENVIRONMENTS</a:t>
            </a:r>
          </a:p>
          <a:p>
            <a:r>
              <a:rPr sz="1100">
                <a:solidFill>
                  <a:srgbClr val="E2E8F0"/>
                </a:solidFill>
                <a:latin typeface="Calibri"/>
              </a:rPr>
              <a:t>Excel (Advanced)           MySQL Workbench</a:t>
            </a:r>
          </a:p>
          <a:p>
            <a:r>
              <a:rPr sz="1100">
                <a:solidFill>
                  <a:srgbClr val="E2E8F0"/>
                </a:solidFill>
                <a:latin typeface="Calibri"/>
              </a:rPr>
              <a:t>Power BI Desktop           DB Browser for SQLite</a:t>
            </a:r>
          </a:p>
          <a:p>
            <a:r>
              <a:rPr sz="1100">
                <a:solidFill>
                  <a:srgbClr val="E2E8F0"/>
                </a:solidFill>
                <a:latin typeface="Calibri"/>
              </a:rPr>
              <a:t>Power Query                SQL Server Management Studio</a:t>
            </a:r>
          </a:p>
          <a:p>
            <a:r>
              <a:rPr sz="1100">
                <a:solidFill>
                  <a:srgbClr val="E2E8F0"/>
                </a:solidFill>
                <a:latin typeface="Calibri"/>
              </a:rPr>
              <a:t>DAX Studio</a:t>
            </a:r>
          </a:p>
          <a:p>
            <a:r>
              <a:rPr sz="1100">
                <a:solidFill>
                  <a:srgbClr val="E2E8F0"/>
                </a:solidFill>
                <a:latin typeface="Calibri"/>
              </a:rPr>
              <a:t/>
            </a:r>
          </a:p>
          <a:p>
            <a:r>
              <a:rPr sz="1300" b="1">
                <a:solidFill>
                  <a:srgbClr val="06B6D4"/>
                </a:solidFill>
                <a:latin typeface="Calibri"/>
              </a:rPr>
              <a:t>DATA VISUALISATION         SUPPORTING PLATFORMS</a:t>
            </a:r>
          </a:p>
          <a:p>
            <a:r>
              <a:rPr sz="1100">
                <a:solidFill>
                  <a:srgbClr val="E2E8F0"/>
                </a:solidFill>
                <a:latin typeface="Calibri"/>
              </a:rPr>
              <a:t>Datawrapper (free)         NBS Data Portal</a:t>
            </a:r>
          </a:p>
          <a:p>
            <a:r>
              <a:rPr sz="1100">
                <a:solidFill>
                  <a:srgbClr val="E2E8F0"/>
                </a:solidFill>
                <a:latin typeface="Calibri"/>
              </a:rPr>
              <a:t>Flourish (free)            CBN Statistics</a:t>
            </a:r>
          </a:p>
          <a:p>
            <a:r>
              <a:rPr sz="1100">
                <a:solidFill>
                  <a:srgbClr val="E2E8F0"/>
                </a:solidFill>
                <a:latin typeface="Calibri"/>
              </a:rPr>
              <a:t>Google Data Studio         World Bank Open Data</a:t>
            </a:r>
          </a:p>
          <a:p>
            <a:r>
              <a:rPr sz="1100">
                <a:solidFill>
                  <a:srgbClr val="E2E8F0"/>
                </a:solidFill>
                <a:latin typeface="Calibri"/>
              </a:rPr>
              <a:t>Canva (presentations)      Kaggle (datasets for practice)</a:t>
            </a:r>
          </a:p>
          <a:p>
            <a:r>
              <a:rPr sz="1100">
                <a:solidFill>
                  <a:srgbClr val="E2E8F0"/>
                </a:solidFill>
                <a:latin typeface="Calibri"/>
              </a:rPr>
              <a:t/>
            </a:r>
          </a:p>
          <a:p>
            <a:r>
              <a:rPr sz="1300" b="1">
                <a:solidFill>
                  <a:srgbClr val="06B6D4"/>
                </a:solidFill>
                <a:latin typeface="Calibri"/>
              </a:rPr>
              <a:t>REFERENCE TEXTBOOK:</a:t>
            </a:r>
          </a:p>
          <a:p>
            <a:r>
              <a:rPr sz="1100">
                <a:solidFill>
                  <a:srgbClr val="E2E8F0"/>
                </a:solidFill>
                <a:latin typeface="Calibri"/>
              </a:rPr>
              <a:t>Mastering Data Analytics</a:t>
            </a:r>
          </a:p>
          <a:p>
            <a:r>
              <a:rPr sz="1100">
                <a:solidFill>
                  <a:srgbClr val="E2E8F0"/>
                </a:solidFill>
                <a:latin typeface="Calibri"/>
              </a:rPr>
              <a:t>Available at metabridgeacademy.com</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WHAT EMPLOYERS ACTUALLY TEST</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DATA ANALYST INTERVIEWS — WHAT THEY ACTUALLY TEST</a:t>
            </a:r>
          </a:p>
          <a:p>
            <a:r>
              <a:rPr sz="1100">
                <a:solidFill>
                  <a:srgbClr val="E2E8F0"/>
                </a:solidFill>
                <a:latin typeface="Calibri"/>
              </a:rPr>
              <a:t/>
            </a:r>
          </a:p>
          <a:p>
            <a:r>
              <a:rPr sz="1300" b="1">
                <a:solidFill>
                  <a:srgbClr val="06B6D4"/>
                </a:solidFill>
                <a:latin typeface="Calibri"/>
              </a:rPr>
              <a:t>TECHNICAL ROUND:</a:t>
            </a:r>
          </a:p>
          <a:p>
            <a:r>
              <a:rPr sz="1100">
                <a:solidFill>
                  <a:srgbClr val="E2E8F0"/>
                </a:solidFill>
                <a:latin typeface="Calibri"/>
              </a:rPr>
              <a:t>□ Write a SQL query to find the top 5 customers by revenue per state</a:t>
            </a:r>
          </a:p>
          <a:p>
            <a:r>
              <a:rPr sz="1100">
                <a:solidFill>
                  <a:srgbClr val="E2E8F0"/>
                </a:solidFill>
                <a:latin typeface="Calibri"/>
              </a:rPr>
              <a:t>□ How would you handle missing data in this dataset?</a:t>
            </a:r>
          </a:p>
          <a:p>
            <a:r>
              <a:rPr sz="1100">
                <a:solidFill>
                  <a:srgbClr val="E2E8F0"/>
                </a:solidFill>
                <a:latin typeface="Calibri"/>
              </a:rPr>
              <a:t>□ Explain the difference between INNER and LEFT JOIN</a:t>
            </a:r>
          </a:p>
          <a:p>
            <a:r>
              <a:rPr sz="1100">
                <a:solidFill>
                  <a:srgbClr val="E2E8F0"/>
                </a:solidFill>
                <a:latin typeface="Calibri"/>
              </a:rPr>
              <a:t>□ Build a calculated measure in Power BI</a:t>
            </a:r>
          </a:p>
          <a:p>
            <a:r>
              <a:rPr sz="1100">
                <a:solidFill>
                  <a:srgbClr val="E2E8F0"/>
                </a:solidFill>
                <a:latin typeface="Calibri"/>
              </a:rPr>
              <a:t/>
            </a:r>
          </a:p>
          <a:p>
            <a:r>
              <a:rPr sz="1300" b="1">
                <a:solidFill>
                  <a:srgbClr val="06B6D4"/>
                </a:solidFill>
                <a:latin typeface="Calibri"/>
              </a:rPr>
              <a:t>CASE STUDY ROUND:</a:t>
            </a:r>
          </a:p>
          <a:p>
            <a:r>
              <a:rPr sz="1100">
                <a:solidFill>
                  <a:srgbClr val="E2E8F0"/>
                </a:solidFill>
                <a:latin typeface="Calibri"/>
              </a:rPr>
              <a:t>□ Here's a dataset. Tell us what's interesting in 30 minutes.</a:t>
            </a:r>
          </a:p>
          <a:p>
            <a:r>
              <a:rPr sz="1100">
                <a:solidFill>
                  <a:srgbClr val="E2E8F0"/>
                </a:solidFill>
                <a:latin typeface="Calibri"/>
              </a:rPr>
              <a:t>□ Sales dropped 15% in March — investigate using this data.</a:t>
            </a:r>
          </a:p>
          <a:p>
            <a:r>
              <a:rPr sz="1100">
                <a:solidFill>
                  <a:srgbClr val="E2E8F0"/>
                </a:solidFill>
                <a:latin typeface="Calibri"/>
              </a:rPr>
              <a:t/>
            </a:r>
          </a:p>
          <a:p>
            <a:r>
              <a:rPr sz="1300" b="1">
                <a:solidFill>
                  <a:srgbClr val="06B6D4"/>
                </a:solidFill>
                <a:latin typeface="Calibri"/>
              </a:rPr>
              <a:t>STAKEHOLDER ROUND:</a:t>
            </a:r>
          </a:p>
          <a:p>
            <a:r>
              <a:rPr sz="1100">
                <a:solidFill>
                  <a:srgbClr val="E2E8F0"/>
                </a:solidFill>
                <a:latin typeface="Calibri"/>
              </a:rPr>
              <a:t>□ Explain what a p-value means to a non-technical manager</a:t>
            </a:r>
          </a:p>
          <a:p>
            <a:r>
              <a:rPr sz="1100">
                <a:solidFill>
                  <a:srgbClr val="E2E8F0"/>
                </a:solidFill>
                <a:latin typeface="Calibri"/>
              </a:rPr>
              <a:t>□ How would you present bad news (missed targets) to leadership?</a:t>
            </a:r>
          </a:p>
          <a:p>
            <a:r>
              <a:rPr sz="1100">
                <a:solidFill>
                  <a:srgbClr val="E2E8F0"/>
                </a:solidFill>
                <a:latin typeface="Calibri"/>
              </a:rPr>
              <a:t/>
            </a:r>
          </a:p>
          <a:p>
            <a:r>
              <a:rPr sz="1300" b="1">
                <a:solidFill>
                  <a:srgbClr val="06B6D4"/>
                </a:solidFill>
                <a:latin typeface="Calibri"/>
              </a:rPr>
              <a:t>PORTFOLIO REVIEW:</a:t>
            </a:r>
          </a:p>
          <a:p>
            <a:r>
              <a:rPr sz="1100">
                <a:solidFill>
                  <a:srgbClr val="E2E8F0"/>
                </a:solidFill>
                <a:latin typeface="Calibri"/>
              </a:rPr>
              <a:t>□ Show me something you built. Walk me through your methodology.</a:t>
            </a:r>
          </a:p>
          <a:p>
            <a:r>
              <a:rPr sz="1100">
                <a:solidFill>
                  <a:srgbClr val="E2E8F0"/>
                </a:solidFill>
                <a:latin typeface="Calibri"/>
              </a:rPr>
              <a:t/>
            </a:r>
          </a:p>
          <a:p>
            <a:r>
              <a:rPr sz="1100">
                <a:solidFill>
                  <a:srgbClr val="E2E8F0"/>
                </a:solidFill>
                <a:latin typeface="Calibri"/>
              </a:rPr>
              <a:t>This course prepares you for ALL FOUR.</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THE METABRIDGE DIFFERENCE</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WHY METABRIDGE ANALYTICS?</a:t>
            </a:r>
          </a:p>
          <a:p>
            <a:r>
              <a:rPr sz="1100">
                <a:solidFill>
                  <a:srgbClr val="E2E8F0"/>
                </a:solidFill>
                <a:latin typeface="Calibri"/>
              </a:rPr>
              <a:t/>
            </a:r>
          </a:p>
          <a:p>
            <a:r>
              <a:rPr sz="1300" b="1">
                <a:solidFill>
                  <a:srgbClr val="06B6D4"/>
                </a:solidFill>
                <a:latin typeface="Calibri"/>
              </a:rPr>
              <a:t>GENERIC COURSE              METABRIDGE ACADEMY</a:t>
            </a:r>
          </a:p>
          <a:p>
            <a:r>
              <a:rPr sz="1100">
                <a:solidFill>
                  <a:srgbClr val="E2E8F0"/>
                </a:solidFill>
                <a:latin typeface="Calibri"/>
              </a:rPr>
              <a:t>────────────────           ──────────────────────────</a:t>
            </a:r>
          </a:p>
          <a:p>
            <a:r>
              <a:rPr sz="1100">
                <a:solidFill>
                  <a:srgbClr val="E2E8F0"/>
                </a:solidFill>
                <a:latin typeface="Calibri"/>
              </a:rPr>
              <a:t>Global examples            Nigerian datasets (NBS, CBN, NIBSS)</a:t>
            </a:r>
          </a:p>
          <a:p>
            <a:r>
              <a:rPr sz="1100">
                <a:solidFill>
                  <a:srgbClr val="E2E8F0"/>
                </a:solidFill>
                <a:latin typeface="Calibri"/>
              </a:rPr>
              <a:t>PDF certificate            Blockchain-verified credential</a:t>
            </a:r>
          </a:p>
          <a:p>
            <a:r>
              <a:rPr sz="1100">
                <a:solidFill>
                  <a:srgbClr val="E2E8F0"/>
                </a:solidFill>
                <a:latin typeface="Calibri"/>
              </a:rPr>
              <a:t>English examples only      Naira, Balogun Market, Flutterwave</a:t>
            </a:r>
          </a:p>
          <a:p>
            <a:r>
              <a:rPr sz="1100">
                <a:solidFill>
                  <a:srgbClr val="E2E8F0"/>
                </a:solidFill>
                <a:latin typeface="Calibri"/>
              </a:rPr>
              <a:t>No legal context           NDPA 2023 compliance built in</a:t>
            </a:r>
          </a:p>
          <a:p>
            <a:r>
              <a:rPr sz="1100">
                <a:solidFill>
                  <a:srgbClr val="E2E8F0"/>
                </a:solidFill>
                <a:latin typeface="Calibri"/>
              </a:rPr>
              <a:t>Theoretical datasets       Real company data scenarios</a:t>
            </a:r>
          </a:p>
          <a:p>
            <a:r>
              <a:rPr sz="1100">
                <a:solidFill>
                  <a:srgbClr val="E2E8F0"/>
                </a:solidFill>
                <a:latin typeface="Calibri"/>
              </a:rPr>
              <a:t>Email support              WhatsApp mentor support</a:t>
            </a:r>
          </a:p>
          <a:p>
            <a:r>
              <a:rPr sz="1100">
                <a:solidFill>
                  <a:srgbClr val="E2E8F0"/>
                </a:solidFill>
                <a:latin typeface="Calibri"/>
              </a:rPr>
              <a:t>Community of Nigerian analysts</a:t>
            </a:r>
          </a:p>
          <a:p>
            <a:r>
              <a:rPr sz="1100">
                <a:solidFill>
                  <a:srgbClr val="E2E8F0"/>
                </a:solidFill>
                <a:latin typeface="Calibri"/>
              </a:rPr>
              <a:t/>
            </a:r>
          </a:p>
          <a:p>
            <a:r>
              <a:rPr sz="1300" b="1">
                <a:solidFill>
                  <a:srgbClr val="06B6D4"/>
                </a:solidFill>
                <a:latin typeface="Calibri"/>
              </a:rPr>
              <a:t>REFERENCE TEXTBOOK INTEGRATION:</a:t>
            </a:r>
          </a:p>
          <a:p>
            <a:r>
              <a:rPr sz="1100">
                <a:solidFill>
                  <a:srgbClr val="E2E8F0"/>
                </a:solidFill>
                <a:latin typeface="Calibri"/>
              </a:rPr>
              <a:t>Mastering Data Analytics — metabridgeacademy.com</a:t>
            </a:r>
          </a:p>
          <a:p>
            <a:r>
              <a:rPr sz="1100">
                <a:solidFill>
                  <a:srgbClr val="E2E8F0"/>
                </a:solidFill>
                <a:latin typeface="Calibri"/>
              </a:rPr>
              <a:t>The theoretical foundation for this programme.</a:t>
            </a:r>
          </a:p>
          <a:p>
            <a:r>
              <a:rPr sz="1100">
                <a:solidFill>
                  <a:srgbClr val="E2E8F0"/>
                </a:solidFill>
                <a:latin typeface="Calibri"/>
              </a:rPr>
              <a:t/>
            </a:r>
          </a:p>
          <a:p>
            <a:r>
              <a:rPr sz="1100">
                <a:solidFill>
                  <a:srgbClr val="E2E8F0"/>
                </a:solidFill>
                <a:latin typeface="Calibri"/>
              </a:rPr>
              <a:t>Your certificate is verifiable by any employer globally.</a:t>
            </a:r>
          </a:p>
          <a:p>
            <a:r>
              <a:rPr sz="1100">
                <a:solidFill>
                  <a:srgbClr val="E2E8F0"/>
                </a:solidFill>
                <a:latin typeface="Calibri"/>
              </a:rPr>
              <a:t>Instantly. On the blockchain.</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NIGERIAN DATA CASE STUDY: FINTECH CHURN</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REAL CASE STUDY: KUDA BANK STYLE CHURN ANALYSIS</a:t>
            </a:r>
          </a:p>
          <a:p>
            <a:r>
              <a:rPr sz="1100">
                <a:solidFill>
                  <a:srgbClr val="E2E8F0"/>
                </a:solidFill>
                <a:latin typeface="Calibri"/>
              </a:rPr>
              <a:t/>
            </a:r>
          </a:p>
          <a:p>
            <a:r>
              <a:rPr sz="1100">
                <a:solidFill>
                  <a:srgbClr val="E2E8F0"/>
                </a:solidFill>
                <a:latin typeface="Calibri"/>
              </a:rPr>
              <a:t>QUESTION: Why is our churn rate increasing?</a:t>
            </a:r>
          </a:p>
          <a:p>
            <a:r>
              <a:rPr sz="1100">
                <a:solidFill>
                  <a:srgbClr val="E2E8F0"/>
                </a:solidFill>
                <a:latin typeface="Calibri"/>
              </a:rPr>
              <a:t/>
            </a:r>
          </a:p>
          <a:p>
            <a:r>
              <a:rPr sz="1100">
                <a:solidFill>
                  <a:srgbClr val="E2E8F0"/>
                </a:solidFill>
                <a:latin typeface="Calibri"/>
              </a:rPr>
              <a:t>FINDING (after full pipeline):</a:t>
            </a:r>
          </a:p>
          <a:p>
            <a:r>
              <a:rPr sz="1100">
                <a:solidFill>
                  <a:srgbClr val="E2E8F0"/>
                </a:solidFill>
                <a:latin typeface="Calibri"/>
              </a:rPr>
              <a:t>  • 2022 promotion customers: 15% of base → 40% of churn</a:t>
            </a:r>
          </a:p>
          <a:p>
            <a:r>
              <a:rPr sz="1100">
                <a:solidFill>
                  <a:srgbClr val="E2E8F0"/>
                </a:solidFill>
                <a:latin typeface="Calibri"/>
              </a:rPr>
              <a:t>  • Organic customers: 85% of base → 60% of churn</a:t>
            </a:r>
          </a:p>
          <a:p>
            <a:r>
              <a:rPr sz="1100">
                <a:solidFill>
                  <a:srgbClr val="E2E8F0"/>
                </a:solidFill>
                <a:latin typeface="Calibri"/>
              </a:rPr>
              <a:t/>
            </a:r>
          </a:p>
          <a:p>
            <a:r>
              <a:rPr sz="1100">
                <a:solidFill>
                  <a:srgbClr val="E2E8F0"/>
                </a:solidFill>
                <a:latin typeface="Calibri"/>
              </a:rPr>
              <a:t>ROOT CAUSE (after diagnostic):</a:t>
            </a:r>
          </a:p>
          <a:p>
            <a:r>
              <a:rPr sz="1100">
                <a:solidFill>
                  <a:srgbClr val="E2E8F0"/>
                </a:solidFill>
                <a:latin typeface="Calibri"/>
              </a:rPr>
              <a:t>  • 2022 promo offered 6-month fee waiver</a:t>
            </a:r>
          </a:p>
          <a:p>
            <a:r>
              <a:rPr sz="1100">
                <a:solidFill>
                  <a:srgbClr val="E2E8F0"/>
                </a:solidFill>
                <a:latin typeface="Calibri"/>
              </a:rPr>
              <a:t>  • Customers churned at month 7 (when fees started)</a:t>
            </a:r>
          </a:p>
          <a:p>
            <a:r>
              <a:rPr sz="1100">
                <a:solidFill>
                  <a:srgbClr val="E2E8F0"/>
                </a:solidFill>
                <a:latin typeface="Calibri"/>
              </a:rPr>
              <a:t>  • Zero product engagement during free period</a:t>
            </a:r>
          </a:p>
          <a:p>
            <a:r>
              <a:rPr sz="1100">
                <a:solidFill>
                  <a:srgbClr val="E2E8F0"/>
                </a:solidFill>
                <a:latin typeface="Calibri"/>
              </a:rPr>
              <a:t/>
            </a:r>
          </a:p>
          <a:p>
            <a:r>
              <a:rPr sz="1300" b="1">
                <a:solidFill>
                  <a:srgbClr val="06B6D4"/>
                </a:solidFill>
                <a:latin typeface="Calibri"/>
              </a:rPr>
              <a:t>PRESCRIPTION:</a:t>
            </a:r>
          </a:p>
          <a:p>
            <a:r>
              <a:rPr sz="1100">
                <a:solidFill>
                  <a:srgbClr val="E2E8F0"/>
                </a:solidFill>
                <a:latin typeface="Calibri"/>
              </a:rPr>
              <a:t>  • Sunset the promo acquisition strategy (immediate)</a:t>
            </a:r>
          </a:p>
          <a:p>
            <a:r>
              <a:rPr sz="1100">
                <a:solidFill>
                  <a:srgbClr val="E2E8F0"/>
                </a:solidFill>
                <a:latin typeface="Calibri"/>
              </a:rPr>
              <a:t>  • Create 90-day onboarding journey with engagement milestones</a:t>
            </a:r>
          </a:p>
          <a:p>
            <a:r>
              <a:rPr sz="1100">
                <a:solidFill>
                  <a:srgbClr val="E2E8F0"/>
                </a:solidFill>
                <a:latin typeface="Calibri"/>
              </a:rPr>
              <a:t>  • Build retention offer triggered at month 5 of free period</a:t>
            </a:r>
          </a:p>
          <a:p>
            <a:r>
              <a:rPr sz="1100">
                <a:solidFill>
                  <a:srgbClr val="E2E8F0"/>
                </a:solidFill>
                <a:latin typeface="Calibri"/>
              </a:rPr>
              <a:t>  • Target at-risk customers with personalised value message</a:t>
            </a:r>
          </a:p>
          <a:p>
            <a:r>
              <a:rPr sz="1100">
                <a:solidFill>
                  <a:srgbClr val="E2E8F0"/>
                </a:solidFill>
                <a:latin typeface="Calibri"/>
              </a:rPr>
              <a:t/>
            </a:r>
          </a:p>
          <a:p>
            <a:r>
              <a:rPr sz="1100">
                <a:solidFill>
                  <a:srgbClr val="E2E8F0"/>
                </a:solidFill>
                <a:latin typeface="Calibri"/>
              </a:rPr>
              <a:t>RESULT MODELLED: If churn reduced 40% → ₦1.8B additional ARR</a:t>
            </a:r>
          </a:p>
          <a:p>
            <a:r>
              <a:rPr sz="1100">
                <a:solidFill>
                  <a:srgbClr val="E2E8F0"/>
                </a:solidFill>
                <a:latin typeface="Calibri"/>
              </a:rPr>
              <a:t/>
            </a:r>
          </a:p>
          <a:p>
            <a:r>
              <a:rPr sz="1100">
                <a:solidFill>
                  <a:srgbClr val="E2E8F0"/>
                </a:solidFill>
                <a:latin typeface="Calibri"/>
              </a:rPr>
              <a:t>This is the analysis you'll build in the capstone.</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KEY TAKEAWAYS: THE 12-MODULE SUMMARY</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12 MODULES. ONE CAREER.</a:t>
            </a:r>
          </a:p>
          <a:p>
            <a:r>
              <a:rPr sz="1100">
                <a:solidFill>
                  <a:srgbClr val="E2E8F0"/>
                </a:solidFill>
                <a:latin typeface="Calibri"/>
              </a:rPr>
              <a:t/>
            </a:r>
          </a:p>
          <a:p>
            <a:r>
              <a:rPr sz="1100">
                <a:solidFill>
                  <a:srgbClr val="E2E8F0"/>
                </a:solidFill>
                <a:latin typeface="Calibri"/>
              </a:rPr>
              <a:t>1.  Analytics exists to support decisions, not produce reports.</a:t>
            </a:r>
          </a:p>
          <a:p>
            <a:r>
              <a:rPr sz="1100">
                <a:solidFill>
                  <a:srgbClr val="E2E8F0"/>
                </a:solidFill>
                <a:latin typeface="Calibri"/>
              </a:rPr>
              <a:t>2.  Data quality and NDPA 2023 are non-negotiable.</a:t>
            </a:r>
          </a:p>
          <a:p>
            <a:r>
              <a:rPr sz="1100">
                <a:solidFill>
                  <a:srgbClr val="E2E8F0"/>
                </a:solidFill>
                <a:latin typeface="Calibri"/>
              </a:rPr>
              <a:t>3.  80% cleaning. It's the job. Embrace it.</a:t>
            </a:r>
          </a:p>
          <a:p>
            <a:r>
              <a:rPr sz="1100">
                <a:solidFill>
                  <a:srgbClr val="E2E8F0"/>
                </a:solidFill>
                <a:latin typeface="Calibri"/>
              </a:rPr>
              <a:t>4.  INDEX-MATCH &gt; VLOOKUP. XLOOKUP when available.</a:t>
            </a:r>
          </a:p>
          <a:p>
            <a:r>
              <a:rPr sz="1100">
                <a:solidFill>
                  <a:srgbClr val="E2E8F0"/>
                </a:solidFill>
                <a:latin typeface="Calibri"/>
              </a:rPr>
              <a:t>5.  Power Query: set up once, refresh forever.</a:t>
            </a:r>
          </a:p>
          <a:p>
            <a:r>
              <a:rPr sz="1100">
                <a:solidFill>
                  <a:srgbClr val="E2E8F0"/>
                </a:solidFill>
                <a:latin typeface="Calibri"/>
              </a:rPr>
              <a:t>6.  SQL reads like English. GROUP BY is your best friend.</a:t>
            </a:r>
          </a:p>
          <a:p>
            <a:r>
              <a:rPr sz="1100">
                <a:solidFill>
                  <a:srgbClr val="E2E8F0"/>
                </a:solidFill>
                <a:latin typeface="Calibri"/>
              </a:rPr>
              <a:t>7.  JOINs connect tables. CTEs make queries readable.</a:t>
            </a:r>
          </a:p>
          <a:p>
            <a:r>
              <a:rPr sz="1100">
                <a:solidFill>
                  <a:srgbClr val="E2E8F0"/>
                </a:solidFill>
                <a:latin typeface="Calibri"/>
              </a:rPr>
              <a:t>8.  Right chart for the right purpose. Use colour to direct.</a:t>
            </a:r>
          </a:p>
          <a:p>
            <a:r>
              <a:rPr sz="1100">
                <a:solidFill>
                  <a:srgbClr val="E2E8F0"/>
                </a:solidFill>
                <a:latin typeface="Calibri"/>
              </a:rPr>
              <a:t>9.  Star schema is the foundation. Build it right.</a:t>
            </a:r>
          </a:p>
          <a:p>
            <a:r>
              <a:rPr sz="1100">
                <a:solidFill>
                  <a:srgbClr val="E2E8F0"/>
                </a:solidFill>
                <a:latin typeface="Calibri"/>
              </a:rPr>
              <a:t>10. CALCULATE changes everything. Master it.</a:t>
            </a:r>
          </a:p>
          <a:p>
            <a:r>
              <a:rPr sz="1100">
                <a:solidFill>
                  <a:srgbClr val="E2E8F0"/>
                </a:solidFill>
                <a:latin typeface="Calibri"/>
              </a:rPr>
              <a:t>11. Correlation ≠ causation. Significance ≠ importance.</a:t>
            </a:r>
          </a:p>
          <a:p>
            <a:r>
              <a:rPr sz="1100">
                <a:solidFill>
                  <a:srgbClr val="E2E8F0"/>
                </a:solidFill>
                <a:latin typeface="Calibri"/>
              </a:rPr>
              <a:t>12. Lead with the answer. Pyramid Principle. Always.</a:t>
            </a:r>
          </a:p>
          <a:p>
            <a:r>
              <a:rPr sz="1100">
                <a:solidFill>
                  <a:srgbClr val="E2E8F0"/>
                </a:solidFill>
                <a:latin typeface="Calibri"/>
              </a:rPr>
              <a:t/>
            </a:r>
          </a:p>
          <a:p>
            <a:r>
              <a:rPr sz="1100">
                <a:solidFill>
                  <a:srgbClr val="E2E8F0"/>
                </a:solidFill>
                <a:latin typeface="Calibri"/>
              </a:rPr>
              <a:t>SKILLS CHECKLIST: ✅ Excel  ✅ SQL  ✅ Power BI  ✅ Stats  ✅ Communication</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PORTFOLIO + NEXT STEPS</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06B6D4"/>
                </a:solidFill>
                <a:latin typeface="Calibri"/>
              </a:rPr>
              <a:t>YOUR ROADMAP FROM HERE</a:t>
            </a:r>
          </a:p>
          <a:p>
            <a:r>
              <a:rPr sz="1100">
                <a:solidFill>
                  <a:srgbClr val="E2E8F0"/>
                </a:solidFill>
                <a:latin typeface="Calibri"/>
              </a:rPr>
              <a:t/>
            </a:r>
          </a:p>
          <a:p>
            <a:r>
              <a:rPr sz="1300" b="1">
                <a:solidFill>
                  <a:srgbClr val="06B6D4"/>
                </a:solidFill>
                <a:latin typeface="Calibri"/>
              </a:rPr>
              <a:t>NOW:</a:t>
            </a:r>
          </a:p>
          <a:p>
            <a:r>
              <a:rPr sz="1100">
                <a:solidFill>
                  <a:srgbClr val="E2E8F0"/>
                </a:solidFill>
                <a:latin typeface="Calibri"/>
              </a:rPr>
              <a:t>□ Complete your capstone project (choose Option A–E)</a:t>
            </a:r>
          </a:p>
          <a:p>
            <a:r>
              <a:rPr sz="1100">
                <a:solidFill>
                  <a:srgbClr val="E2E8F0"/>
                </a:solidFill>
                <a:latin typeface="Calibri"/>
              </a:rPr>
              <a:t>□ Get your blockchain-verified MetaBridge certificate</a:t>
            </a:r>
          </a:p>
          <a:p>
            <a:r>
              <a:rPr sz="1100">
                <a:solidFill>
                  <a:srgbClr val="E2E8F0"/>
                </a:solidFill>
                <a:latin typeface="Calibri"/>
              </a:rPr>
              <a:t>□ Document everything — methodology, choices, findings</a:t>
            </a:r>
          </a:p>
          <a:p>
            <a:r>
              <a:rPr sz="1100">
                <a:solidFill>
                  <a:srgbClr val="E2E8F0"/>
                </a:solidFill>
                <a:latin typeface="Calibri"/>
              </a:rPr>
              <a:t/>
            </a:r>
          </a:p>
          <a:p>
            <a:r>
              <a:rPr sz="1100">
                <a:solidFill>
                  <a:srgbClr val="E2E8F0"/>
                </a:solidFill>
                <a:latin typeface="Calibri"/>
              </a:rPr>
              <a:t>IN THE NEXT 30 DAYS:</a:t>
            </a:r>
          </a:p>
          <a:p>
            <a:r>
              <a:rPr sz="1100">
                <a:solidFill>
                  <a:srgbClr val="E2E8F0"/>
                </a:solidFill>
                <a:latin typeface="Calibri"/>
              </a:rPr>
              <a:t>□ Build 1–2 additional portfolio projects using Kaggle data</a:t>
            </a:r>
          </a:p>
          <a:p>
            <a:r>
              <a:rPr sz="1100">
                <a:solidFill>
                  <a:srgbClr val="E2E8F0"/>
                </a:solidFill>
                <a:latin typeface="Calibri"/>
              </a:rPr>
              <a:t>□ Update LinkedIn: "Data Analyst | Excel · SQL · Power BI"</a:t>
            </a:r>
          </a:p>
          <a:p>
            <a:r>
              <a:rPr sz="1100">
                <a:solidFill>
                  <a:srgbClr val="E2E8F0"/>
                </a:solidFill>
                <a:latin typeface="Calibri"/>
              </a:rPr>
              <a:t>□ Start applying — Jobberman, LinkedIn, MyJobMag</a:t>
            </a:r>
          </a:p>
          <a:p>
            <a:r>
              <a:rPr sz="1100">
                <a:solidFill>
                  <a:srgbClr val="E2E8F0"/>
                </a:solidFill>
                <a:latin typeface="Calibri"/>
              </a:rPr>
              <a:t/>
            </a:r>
          </a:p>
          <a:p>
            <a:r>
              <a:rPr sz="1100">
                <a:solidFill>
                  <a:srgbClr val="E2E8F0"/>
                </a:solidFill>
                <a:latin typeface="Calibri"/>
              </a:rPr>
              <a:t>IN 3–6 MONTHS:</a:t>
            </a:r>
          </a:p>
          <a:p>
            <a:r>
              <a:rPr sz="1100">
                <a:solidFill>
                  <a:srgbClr val="E2E8F0"/>
                </a:solidFill>
                <a:latin typeface="Calibri"/>
              </a:rPr>
              <a:t>□ Your first analyst role (or promotion)</a:t>
            </a:r>
          </a:p>
          <a:p>
            <a:r>
              <a:rPr sz="1100">
                <a:solidFill>
                  <a:srgbClr val="E2E8F0"/>
                </a:solidFill>
                <a:latin typeface="Calibri"/>
              </a:rPr>
              <a:t>□ Deepen Power BI skills: custom visuals, Power Automate integration, Azure integration</a:t>
            </a:r>
          </a:p>
          <a:p>
            <a:r>
              <a:rPr sz="1100">
                <a:solidFill>
                  <a:srgbClr val="E2E8F0"/>
                </a:solidFill>
                <a:latin typeface="Calibri"/>
              </a:rPr>
              <a:t>□ Mentor someone newer than you — it cements your knowledge</a:t>
            </a:r>
          </a:p>
          <a:p>
            <a:r>
              <a:rPr sz="1100">
                <a:solidFill>
                  <a:srgbClr val="E2E8F0"/>
                </a:solidFill>
                <a:latin typeface="Calibri"/>
              </a:rPr>
              <a:t/>
            </a:r>
          </a:p>
          <a:p>
            <a:r>
              <a:rPr sz="1300" b="1">
                <a:solidFill>
                  <a:srgbClr val="06B6D4"/>
                </a:solidFill>
                <a:latin typeface="Calibri"/>
              </a:rPr>
              <a:t>WHERE TO FIND DATA TO PRACTICE:</a:t>
            </a:r>
          </a:p>
          <a:p>
            <a:r>
              <a:rPr sz="1100">
                <a:solidFill>
                  <a:srgbClr val="E2E8F0"/>
                </a:solidFill>
                <a:latin typeface="Calibri"/>
              </a:rPr>
              <a:t>  • Kaggle.com (Nigerian datasets available)</a:t>
            </a:r>
          </a:p>
          <a:p>
            <a:r>
              <a:rPr sz="1100">
                <a:solidFill>
                  <a:srgbClr val="E2E8F0"/>
                </a:solidFill>
                <a:latin typeface="Calibri"/>
              </a:rPr>
              <a:t>  • NBS nigerianstat.gov.ng</a:t>
            </a:r>
          </a:p>
          <a:p>
            <a:r>
              <a:rPr sz="1100">
                <a:solidFill>
                  <a:srgbClr val="E2E8F0"/>
                </a:solidFill>
                <a:latin typeface="Calibri"/>
              </a:rPr>
              <a:t>  • data.worldbank.org (country=Nigeria)</a:t>
            </a:r>
          </a:p>
          <a:p>
            <a:r>
              <a:rPr sz="1100">
                <a:solidFill>
                  <a:srgbClr val="E2E8F0"/>
                </a:solidFill>
                <a:latin typeface="Calibri"/>
              </a:rPr>
              <a:t>  • github.com/rfordatascience/tidytuesday</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ENROL / NEXT COHORT</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READY TO BECOME A DATA ANALYST?</a:t>
            </a:r>
          </a:p>
          <a:p>
            <a:r>
              <a:rPr sz="1100">
                <a:solidFill>
                  <a:srgbClr val="E2E8F0"/>
                </a:solidFill>
                <a:latin typeface="Calibri"/>
              </a:rPr>
              <a:t/>
            </a:r>
          </a:p>
          <a:p>
            <a:r>
              <a:rPr sz="1100">
                <a:solidFill>
                  <a:srgbClr val="E2E8F0"/>
                </a:solidFill>
                <a:latin typeface="Calibri"/>
              </a:rPr>
              <a:t>Join MetaBridge Academy's next cohort.</a:t>
            </a:r>
          </a:p>
          <a:p>
            <a:r>
              <a:rPr sz="1100">
                <a:solidFill>
                  <a:srgbClr val="E2E8F0"/>
                </a:solidFill>
                <a:latin typeface="Calibri"/>
              </a:rPr>
              <a:t/>
            </a:r>
          </a:p>
          <a:p>
            <a:r>
              <a:rPr sz="1100">
                <a:solidFill>
                  <a:srgbClr val="E2E8F0"/>
                </a:solidFill>
                <a:latin typeface="Calibri"/>
              </a:rPr>
              <a:t>✓ 12 Modules · 45+ Contact Hours</a:t>
            </a:r>
          </a:p>
          <a:p>
            <a:r>
              <a:rPr sz="1100">
                <a:solidFill>
                  <a:srgbClr val="E2E8F0"/>
                </a:solidFill>
                <a:latin typeface="Calibri"/>
              </a:rPr>
              <a:t>✓ Hands-on labs with real Nigerian datasets</a:t>
            </a:r>
          </a:p>
          <a:p>
            <a:r>
              <a:rPr sz="1100">
                <a:solidFill>
                  <a:srgbClr val="E2E8F0"/>
                </a:solidFill>
                <a:latin typeface="Calibri"/>
              </a:rPr>
              <a:t>✓ 1-on-1 WhatsApp mentor support</a:t>
            </a:r>
          </a:p>
          <a:p>
            <a:r>
              <a:rPr sz="1100">
                <a:solidFill>
                  <a:srgbClr val="E2E8F0"/>
                </a:solidFill>
                <a:latin typeface="Calibri"/>
              </a:rPr>
              <a:t>✓ Capstone project for your portfolio</a:t>
            </a:r>
          </a:p>
          <a:p>
            <a:r>
              <a:rPr sz="1100">
                <a:solidFill>
                  <a:srgbClr val="E2E8F0"/>
                </a:solidFill>
                <a:latin typeface="Calibri"/>
              </a:rPr>
              <a:t>✓ Blockchain-verified professional certificate</a:t>
            </a:r>
          </a:p>
          <a:p>
            <a:r>
              <a:rPr sz="1100">
                <a:solidFill>
                  <a:srgbClr val="E2E8F0"/>
                </a:solidFill>
                <a:latin typeface="Calibri"/>
              </a:rPr>
              <a:t/>
            </a:r>
          </a:p>
          <a:p>
            <a:r>
              <a:rPr sz="1100">
                <a:solidFill>
                  <a:srgbClr val="E2E8F0"/>
                </a:solidFill>
                <a:latin typeface="Calibri"/>
              </a:rPr>
              <a:t>━━━━━━━━━━━━━━━━━━━━━━━━━━━━━━━━━━━━</a:t>
            </a:r>
          </a:p>
          <a:p>
            <a:r>
              <a:rPr sz="1100">
                <a:solidFill>
                  <a:srgbClr val="E2E8F0"/>
                </a:solidFill>
                <a:latin typeface="Calibri"/>
              </a:rPr>
              <a:t/>
            </a:r>
          </a:p>
          <a:p>
            <a:r>
              <a:rPr sz="1100">
                <a:solidFill>
                  <a:srgbClr val="E2E8F0"/>
                </a:solidFill>
                <a:latin typeface="Calibri"/>
              </a:rPr>
              <a:t>ENROL NOW → wa.me/2347034357206</a:t>
            </a:r>
          </a:p>
          <a:p>
            <a:r>
              <a:rPr sz="1100">
                <a:solidFill>
                  <a:srgbClr val="E2E8F0"/>
                </a:solidFill>
                <a:latin typeface="Calibri"/>
              </a:rPr>
              <a:t/>
            </a:r>
          </a:p>
          <a:p>
            <a:r>
              <a:rPr sz="1100">
                <a:solidFill>
                  <a:srgbClr val="E2E8F0"/>
                </a:solidFill>
                <a:latin typeface="Calibri"/>
              </a:rPr>
              <a:t>━━━━━━━━━━━━━━━━━━━━━━━━━━━━━━━━━━━━</a:t>
            </a:r>
          </a:p>
          <a:p>
            <a:r>
              <a:rPr sz="1100">
                <a:solidFill>
                  <a:srgbClr val="E2E8F0"/>
                </a:solidFill>
                <a:latin typeface="Calibri"/>
              </a:rPr>
              <a:t/>
            </a:r>
          </a:p>
          <a:p>
            <a:r>
              <a:rPr sz="1100">
                <a:solidFill>
                  <a:srgbClr val="E2E8F0"/>
                </a:solidFill>
                <a:latin typeface="Calibri"/>
              </a:rPr>
              <a:t>metabridgeacademy.com</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06B6D4"/>
                </a:solidFill>
                <a:latin typeface="Calibri"/>
              </a:rPr>
              <a:t>THANK YOU / CLOSE</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"In God we trust.</a:t>
            </a:r>
          </a:p>
          <a:p>
            <a:r>
              <a:rPr sz="1100">
                <a:solidFill>
                  <a:srgbClr val="E2E8F0"/>
                </a:solidFill>
                <a:latin typeface="Calibri"/>
              </a:rPr>
              <a:t>All others must bring data."</a:t>
            </a:r>
          </a:p>
          <a:p>
            <a:r>
              <a:rPr sz="1100">
                <a:solidFill>
                  <a:srgbClr val="E2E8F0"/>
                </a:solidFill>
                <a:latin typeface="Calibri"/>
              </a:rPr>
              <a:t/>
            </a:r>
          </a:p>
          <a:p>
            <a:r>
              <a:rPr sz="1100">
                <a:solidFill>
                  <a:srgbClr val="E2E8F0"/>
                </a:solidFill>
                <a:latin typeface="Calibri"/>
              </a:rPr>
              <a:t>— W. Edwards Deming</a:t>
            </a:r>
          </a:p>
          <a:p>
            <a:r>
              <a:rPr sz="1100">
                <a:solidFill>
                  <a:srgbClr val="E2E8F0"/>
                </a:solidFill>
                <a:latin typeface="Calibri"/>
              </a:rPr>
              <a:t/>
            </a:r>
          </a:p>
          <a:p>
            <a:r>
              <a:rPr sz="1100">
                <a:solidFill>
                  <a:srgbClr val="E2E8F0"/>
                </a:solidFill>
                <a:latin typeface="Calibri"/>
              </a:rPr>
              <a:t>━━━━━━━━━━━━━━━━━━━━━━━━━━━━━━━━━━━━</a:t>
            </a:r>
          </a:p>
          <a:p>
            <a:r>
              <a:rPr sz="1100">
                <a:solidFill>
                  <a:srgbClr val="E2E8F0"/>
                </a:solidFill>
                <a:latin typeface="Calibri"/>
              </a:rPr>
              <a:t/>
            </a:r>
          </a:p>
          <a:p>
            <a:r>
              <a:rPr sz="1100">
                <a:solidFill>
                  <a:srgbClr val="E2E8F0"/>
                </a:solidFill>
                <a:latin typeface="Calibri"/>
              </a:rPr>
              <a:t>Thank you for learning with MetaBridge Academy.</a:t>
            </a:r>
          </a:p>
          <a:p>
            <a:r>
              <a:rPr sz="1100">
                <a:solidFill>
                  <a:srgbClr val="E2E8F0"/>
                </a:solidFill>
                <a:latin typeface="Calibri"/>
              </a:rPr>
              <a:t/>
            </a:r>
          </a:p>
          <a:p>
            <a:r>
              <a:rPr sz="1100">
                <a:solidFill>
                  <a:srgbClr val="E2E8F0"/>
                </a:solidFill>
                <a:latin typeface="Calibri"/>
              </a:rPr>
              <a:t>Your data career starts now.</a:t>
            </a:r>
          </a:p>
          <a:p>
            <a:r>
              <a:rPr sz="1100">
                <a:solidFill>
                  <a:srgbClr val="E2E8F0"/>
                </a:solidFill>
                <a:latin typeface="Calibri"/>
              </a:rPr>
              <a:t/>
            </a:r>
          </a:p>
          <a:p>
            <a:r>
              <a:rPr sz="1100">
                <a:solidFill>
                  <a:srgbClr val="E2E8F0"/>
                </a:solidFill>
                <a:latin typeface="Calibri"/>
              </a:rPr>
              <a:t>metabridgeacademy.com  ·  wa.me/2347034357206</a:t>
            </a:r>
          </a:p>
        </p:txBody>
      </p:sp>
      <p:sp>
        <p:nvSpPr>
          <p:cNvPr id="6" name="Rectangle 5"/>
          <p:cNvSpPr/>
          <p:nvPr/>
        </p:nvSpPr>
        <p:spPr>
          <a:xfrm>
            <a:off x="0" y="6675120"/>
            <a:ext cx="12188952" cy="1828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